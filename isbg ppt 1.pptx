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C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el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94360"/>
            <a:ext cx="1965960" cy="14744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182880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0395C"/>
                </a:solidFill>
                <a:latin typeface="Aptos Display"/>
              </a:defRPr>
            </a:pPr>
            <a:r>
              <a:t>Introduction to ISBG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1C67AA"/>
                </a:solidFill>
                <a:latin typeface="Aptos"/>
              </a:defRPr>
            </a:pPr>
            <a:r>
              <a:t>Department Functions &amp; PC Maintenance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703320"/>
            <a:ext cx="1828800" cy="45720"/>
          </a:xfrm>
          <a:prstGeom prst="rect">
            <a:avLst/>
          </a:prstGeom>
          <a:solidFill>
            <a:srgbClr val="1C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06908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  <a:latin typeface="Aptos"/>
              </a:defRPr>
            </a:pPr>
            <a:r>
              <a:t>Presented by</a:t>
            </a:r>
          </a:p>
          <a:p>
            <a:pPr>
              <a:defRPr sz="1700" b="1">
                <a:solidFill>
                  <a:srgbClr val="2D3741"/>
                </a:solidFill>
                <a:latin typeface="Aptos"/>
              </a:defRPr>
            </a:pPr>
            <a:r>
              <a:t>Shakthi Raj</a:t>
            </a:r>
          </a:p>
          <a:p>
            <a:pPr>
              <a:defRPr sz="1100">
                <a:solidFill>
                  <a:srgbClr val="646E78"/>
                </a:solidFill>
                <a:latin typeface="Aptos"/>
              </a:defRPr>
            </a:pPr>
            <a:r>
              <a:t>ISBG • BG Complex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C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el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64592"/>
            <a:ext cx="1234440" cy="9258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384048"/>
            <a:ext cx="9509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C67AA"/>
                </a:solidFill>
                <a:latin typeface="Aptos"/>
              </a:defRPr>
            </a:pPr>
            <a:r>
              <a:t>01 • DEPARTMENT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395C"/>
                </a:solidFill>
                <a:latin typeface="Aptos Display"/>
              </a:defRPr>
            </a:pPr>
            <a:r>
              <a:t>Functions of ISBG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  <a:latin typeface="Aptos"/>
              </a:defRPr>
            </a:pPr>
            <a:r>
              <a:t>BHARAT ELECTRONICS LIMITED  •  INFORMATION SYSTEMS DIVISION (ISBG)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10744200" cy="914400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500" b="1">
                <a:solidFill>
                  <a:srgbClr val="10395C"/>
                </a:solidFill>
                <a:latin typeface="Aptos"/>
              </a:defRPr>
            </a:pPr>
            <a:r>
              <a:t>Role of ISBG</a:t>
            </a: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ISBG supports internal IT operations through end-user support, network-related support and business/application systems.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651760"/>
            <a:ext cx="3383280" cy="1280160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500" b="1">
                <a:solidFill>
                  <a:srgbClr val="10395C"/>
                </a:solidFill>
                <a:latin typeface="Aptos"/>
              </a:defRPr>
            </a:pPr>
            <a:r>
              <a:t>PC Maintenance</a:t>
            </a: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Support for PC, software and hardware-related issues.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651760"/>
            <a:ext cx="33832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500" b="1">
                <a:solidFill>
                  <a:srgbClr val="10395C"/>
                </a:solidFill>
                <a:latin typeface="Aptos"/>
              </a:defRPr>
            </a:pPr>
            <a:r>
              <a:t>Network Maintenance</a:t>
            </a: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Support for connectivity and network-related issues.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651760"/>
            <a:ext cx="3383280" cy="1280160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500" b="1">
                <a:solidFill>
                  <a:srgbClr val="10395C"/>
                </a:solidFill>
                <a:latin typeface="Aptos"/>
              </a:defRPr>
            </a:pPr>
            <a:r>
              <a:t>Attendance &amp; Biometrics</a:t>
            </a: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Support for attendance, face-recognition and related access systems.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251960"/>
            <a:ext cx="33832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500" b="1">
                <a:solidFill>
                  <a:srgbClr val="10395C"/>
                </a:solidFill>
                <a:latin typeface="Aptos"/>
              </a:defRPr>
            </a:pPr>
            <a:r>
              <a:t>Payroll &amp; Employee Systems</a:t>
            </a: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Support around employee-facing systems and related workflows.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251960"/>
            <a:ext cx="3383280" cy="1280160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500" b="1">
                <a:solidFill>
                  <a:srgbClr val="10395C"/>
                </a:solidFill>
                <a:latin typeface="Aptos"/>
              </a:defRPr>
            </a:pPr>
            <a:r>
              <a:t>Web / Intranet Support</a:t>
            </a: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Support for internal web applications and intranet services.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4251960"/>
            <a:ext cx="33832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500" b="1">
                <a:solidFill>
                  <a:srgbClr val="10395C"/>
                </a:solidFill>
                <a:latin typeface="Aptos"/>
              </a:defRPr>
            </a:pPr>
            <a:r>
              <a:t>SAP / ERP Support</a:t>
            </a: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Assigned end-user support for enterprise applications.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C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el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64592"/>
            <a:ext cx="1234440" cy="9258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384048"/>
            <a:ext cx="9509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C67AA"/>
                </a:solidFill>
                <a:latin typeface="Aptos"/>
              </a:defRPr>
            </a:pPr>
            <a:r>
              <a:t>02 • PC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395C"/>
                </a:solidFill>
                <a:latin typeface="Aptos Display"/>
              </a:defRPr>
            </a:pPr>
            <a:r>
              <a:t>PC Maintenance support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  <a:latin typeface="Aptos"/>
              </a:defRPr>
            </a:pPr>
            <a:r>
              <a:t>BHARAT ELECTRONICS LIMITED  •  INFORMATION SYSTEMS DIVISION (ISBG)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10744200" cy="868680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500" b="1">
                <a:solidFill>
                  <a:srgbClr val="10395C"/>
                </a:solidFill>
                <a:latin typeface="Aptos"/>
              </a:defRPr>
            </a:pPr>
            <a:r>
              <a:t>Objective</a:t>
            </a: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Handle user complaints systematically, troubleshoot the issue, escalate when required, and ensure resolution before closure.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606040"/>
            <a:ext cx="3383280" cy="1417320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500" b="1">
                <a:solidFill>
                  <a:srgbClr val="10395C"/>
                </a:solidFill>
                <a:latin typeface="Aptos"/>
              </a:defRPr>
            </a:pPr>
            <a:r>
              <a:t>01  User complaint</a:t>
            </a: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Issue is reported to the Help Desk.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60604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500" b="1">
                <a:solidFill>
                  <a:srgbClr val="10395C"/>
                </a:solidFill>
                <a:latin typeface="Aptos"/>
              </a:defRPr>
            </a:pPr>
            <a:r>
              <a:t>02  Ticket creation</a:t>
            </a: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Complaint details are recorded in the ticket.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606040"/>
            <a:ext cx="3383280" cy="1417320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500" b="1">
                <a:solidFill>
                  <a:srgbClr val="10395C"/>
                </a:solidFill>
                <a:latin typeface="Aptos"/>
              </a:defRPr>
            </a:pPr>
            <a:r>
              <a:t>03  Initial support</a:t>
            </a: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Help Desk attempts basic / remote troubleshooting.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43484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500" b="1">
                <a:solidFill>
                  <a:srgbClr val="10395C"/>
                </a:solidFill>
                <a:latin typeface="Aptos"/>
              </a:defRPr>
            </a:pPr>
            <a:r>
              <a:t>04  Escalation</a:t>
            </a: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Unresolved issues move to technical experts.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434840"/>
            <a:ext cx="3383280" cy="1417320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500" b="1">
                <a:solidFill>
                  <a:srgbClr val="10395C"/>
                </a:solidFill>
                <a:latin typeface="Aptos"/>
              </a:defRPr>
            </a:pPr>
            <a:r>
              <a:t>05  On-site support</a:t>
            </a: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Physical issues are handled through the Zone Engineer.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443484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500" b="1">
                <a:solidFill>
                  <a:srgbClr val="10395C"/>
                </a:solidFill>
                <a:latin typeface="Aptos"/>
              </a:defRPr>
            </a:pPr>
            <a:r>
              <a:t>06  Closure</a:t>
            </a: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Resolution is verified and the ticket is closed.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C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el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64592"/>
            <a:ext cx="1234440" cy="9258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384048"/>
            <a:ext cx="9509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C67AA"/>
                </a:solidFill>
                <a:latin typeface="Aptos"/>
              </a:defRPr>
            </a:pPr>
            <a:r>
              <a:t>02 • PC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395C"/>
                </a:solidFill>
                <a:latin typeface="Aptos Display"/>
              </a:defRPr>
            </a:pPr>
            <a:r>
              <a:t>Help Desk &amp; ticketing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  <a:latin typeface="Aptos"/>
              </a:defRPr>
            </a:pPr>
            <a:r>
              <a:t>BHARAT ELECTRONICS LIMITED  •  INFORMATION SYSTEMS DIVISION (ISBG)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5120640" cy="4389120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46304"/>
          <a:lstStyle/>
          <a:p>
            <a:pPr algn="ctr">
              <a:defRPr sz="1500" b="1">
                <a:solidFill>
                  <a:srgbClr val="10395C"/>
                </a:solidFill>
                <a:latin typeface="Aptos"/>
              </a:defRPr>
            </a:pPr>
            <a:r>
              <a:t>Details captured in a ticket</a:t>
            </a:r>
          </a:p>
          <a:p>
            <a:pPr>
              <a:spcAft>
                <a:spcPts val="6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• Staff number</a:t>
            </a:r>
          </a:p>
          <a:p>
            <a:pPr>
              <a:spcAft>
                <a:spcPts val="6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• Employee / user name</a:t>
            </a:r>
          </a:p>
          <a:p>
            <a:pPr>
              <a:spcAft>
                <a:spcPts val="6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• Department</a:t>
            </a:r>
          </a:p>
          <a:p>
            <a:pPr>
              <a:spcAft>
                <a:spcPts val="6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• Complaint / issue description</a:t>
            </a:r>
          </a:p>
          <a:p>
            <a:pPr>
              <a:spcAft>
                <a:spcPts val="6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• Support action and escalation details</a:t>
            </a:r>
          </a:p>
          <a:p>
            <a:pPr>
              <a:spcAft>
                <a:spcPts val="6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• Resolution and closure 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417320"/>
            <a:ext cx="5394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46304"/>
          <a:lstStyle/>
          <a:p>
            <a:pPr algn="ctr">
              <a:defRPr sz="1500" b="1">
                <a:solidFill>
                  <a:srgbClr val="10395C"/>
                </a:solidFill>
                <a:latin typeface="Aptos"/>
              </a:defRPr>
            </a:pPr>
            <a:r>
              <a:t>Purpose of ticketing</a:t>
            </a:r>
          </a:p>
          <a:p>
            <a:pPr>
              <a:spcAft>
                <a:spcPts val="6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• Creates a traceable record of the complaint</a:t>
            </a:r>
          </a:p>
          <a:p>
            <a:pPr>
              <a:spcAft>
                <a:spcPts val="6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• Helps route the issue to the correct support level</a:t>
            </a:r>
          </a:p>
          <a:p>
            <a:pPr>
              <a:spcAft>
                <a:spcPts val="6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• Provides context during escalation</a:t>
            </a:r>
          </a:p>
          <a:p>
            <a:pPr>
              <a:spcAft>
                <a:spcPts val="6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• Tracks the issue until resolution</a:t>
            </a:r>
          </a:p>
          <a:p>
            <a:pPr>
              <a:spcAft>
                <a:spcPts val="6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• Maintains continuity from complaint to closure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C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el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64592"/>
            <a:ext cx="1234440" cy="9258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384048"/>
            <a:ext cx="9509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C67AA"/>
                </a:solidFill>
                <a:latin typeface="Aptos"/>
              </a:defRPr>
            </a:pPr>
            <a:r>
              <a:t>02 • PC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395C"/>
                </a:solidFill>
                <a:latin typeface="Aptos Display"/>
              </a:defRPr>
            </a:pPr>
            <a:r>
              <a:t>Software &amp; hardware issue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  <a:latin typeface="Aptos"/>
              </a:defRPr>
            </a:pPr>
            <a:r>
              <a:t>BHARAT ELECTRONICS LIMITED  •  INFORMATION SYSTEMS DIVISION (ISBG)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5212080" cy="4434840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500" b="1">
                <a:solidFill>
                  <a:srgbClr val="10395C"/>
                </a:solidFill>
                <a:latin typeface="Aptos"/>
              </a:defRPr>
            </a:pPr>
            <a:r>
              <a:t>Software issues</a:t>
            </a: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Complaint received</a:t>
            </a: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→ Ticket created</a:t>
            </a: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→ Remote access / troubleshooting</a:t>
            </a: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→ If unresolved, forward to technical experts</a:t>
            </a: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→ If physical intervention is required, Zone Engineer support</a:t>
            </a: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→ Verify resolution and close ticket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578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500" b="1">
                <a:solidFill>
                  <a:srgbClr val="10395C"/>
                </a:solidFill>
                <a:latin typeface="Aptos"/>
              </a:defRPr>
            </a:pPr>
            <a:r>
              <a:t>Hardware issues</a:t>
            </a: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Complaint received</a:t>
            </a: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→ Ticket created</a:t>
            </a: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→ Identify hardware-related symptoms</a:t>
            </a: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→ Zone Engineer performs on-site diagnosis</a:t>
            </a: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→ Resolve / escalate as required</a:t>
            </a: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→ Verify resolution and close ticket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C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el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64592"/>
            <a:ext cx="1234440" cy="9258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384048"/>
            <a:ext cx="9509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C67AA"/>
                </a:solidFill>
                <a:latin typeface="Aptos"/>
              </a:defRPr>
            </a:pPr>
            <a:r>
              <a:t>03 • ZONE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395C"/>
                </a:solidFill>
                <a:latin typeface="Aptos Display"/>
              </a:defRPr>
            </a:pPr>
            <a:r>
              <a:t>Zone Engineer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  <a:latin typeface="Aptos"/>
              </a:defRPr>
            </a:pPr>
            <a:r>
              <a:t>BHARAT ELECTRONICS LIMITED  •  INFORMATION SYSTEMS DIVISION (ISBG)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10744200" cy="960120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500" b="1">
                <a:solidFill>
                  <a:srgbClr val="10395C"/>
                </a:solidFill>
                <a:latin typeface="Aptos"/>
              </a:defRPr>
            </a:pPr>
            <a:r>
              <a:t>Why zones are used</a:t>
            </a: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Zone-based support helps provide on-site assistance to the departments assigned to each Zone Engineer.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788920"/>
            <a:ext cx="51206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46304"/>
          <a:lstStyle/>
          <a:p>
            <a:pPr algn="ctr">
              <a:defRPr sz="1500" b="1">
                <a:solidFill>
                  <a:srgbClr val="10395C"/>
                </a:solidFill>
                <a:latin typeface="Aptos"/>
              </a:defRPr>
            </a:pPr>
            <a:r>
              <a:t>Zone Engineer role</a:t>
            </a:r>
          </a:p>
          <a:p>
            <a:pPr>
              <a:spcAft>
                <a:spcPts val="6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• Receives issues requiring physical / on-site support</a:t>
            </a:r>
          </a:p>
          <a:p>
            <a:pPr>
              <a:spcAft>
                <a:spcPts val="6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• Visits the concerned department or location</a:t>
            </a:r>
          </a:p>
          <a:p>
            <a:pPr>
              <a:spcAft>
                <a:spcPts val="6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• Diagnoses and resolves hardware / local issues</a:t>
            </a:r>
          </a:p>
          <a:p>
            <a:pPr>
              <a:spcAft>
                <a:spcPts val="6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• Escalates further when required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788920"/>
            <a:ext cx="53949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46304"/>
          <a:lstStyle/>
          <a:p>
            <a:pPr algn="ctr">
              <a:defRPr sz="1500" b="1">
                <a:solidFill>
                  <a:srgbClr val="10395C"/>
                </a:solidFill>
                <a:latin typeface="Aptos"/>
              </a:defRPr>
            </a:pPr>
            <a:r>
              <a:t>Support structure</a:t>
            </a:r>
          </a:p>
          <a:p>
            <a:pPr>
              <a:spcAft>
                <a:spcPts val="6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• Departments are grouped into zones</a:t>
            </a:r>
          </a:p>
          <a:p>
            <a:pPr>
              <a:spcAft>
                <a:spcPts val="6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• Each zone has an assigned Zone Engineer</a:t>
            </a:r>
          </a:p>
          <a:p>
            <a:pPr>
              <a:spcAft>
                <a:spcPts val="6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• The ticket provides the issue history and context</a:t>
            </a:r>
          </a:p>
          <a:p>
            <a:pPr>
              <a:spcAft>
                <a:spcPts val="6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• Support continues until resolution and closure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897880"/>
            <a:ext cx="1074420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200" b="1">
                <a:solidFill>
                  <a:srgbClr val="10395C"/>
                </a:solidFill>
                <a:latin typeface="Aptos"/>
              </a:defRPr>
            </a:pPr>
            <a:r>
              <a:t>Reference point</a:t>
            </a:r>
          </a:p>
          <a:p>
            <a:pPr>
              <a:spcAft>
                <a:spcPts val="400"/>
              </a:spcAft>
              <a:defRPr sz="900">
                <a:solidFill>
                  <a:srgbClr val="2D3741"/>
                </a:solidFill>
                <a:latin typeface="Aptos"/>
              </a:defRPr>
            </a:pPr>
            <a:r>
              <a:t>The department reference describes approximately 12 Zone Engineers, with each handling around 5–10 departments.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C6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el_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64592"/>
            <a:ext cx="1234440" cy="9258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384048"/>
            <a:ext cx="9509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C67AA"/>
                </a:solidFill>
                <a:latin typeface="Aptos"/>
              </a:defRPr>
            </a:pPr>
            <a:r>
              <a:t>04 • KEY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49808"/>
            <a:ext cx="10058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0395C"/>
                </a:solidFill>
                <a:latin typeface="Aptos Display"/>
              </a:defRPr>
            </a:pPr>
            <a:r>
              <a:t>What I understood from PC Maintenance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92240"/>
            <a:ext cx="7772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  <a:latin typeface="Aptos"/>
              </a:defRPr>
            </a:pPr>
            <a:r>
              <a:t>BHARAT ELECTRONICS LIMITED  •  INFORMATION SYSTEMS DIVISION (ISBG)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3383280" cy="4206240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500" b="1">
                <a:solidFill>
                  <a:srgbClr val="10395C"/>
                </a:solidFill>
                <a:latin typeface="Aptos"/>
              </a:defRPr>
            </a:pPr>
            <a:r>
              <a:t>Technical learning</a:t>
            </a: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Step-by-step troubleshooting</a:t>
            </a: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Understanding software vs hardware issues</a:t>
            </a: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Knowing when remote support is sufficient</a:t>
            </a: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Recognising when on-site support is required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500" b="1">
                <a:solidFill>
                  <a:srgbClr val="10395C"/>
                </a:solidFill>
                <a:latin typeface="Aptos"/>
              </a:defRPr>
            </a:pPr>
            <a:r>
              <a:t>Process learning</a:t>
            </a: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Ticket-based support</a:t>
            </a: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Structured escalation</a:t>
            </a: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Department / zone-based assignment</a:t>
            </a: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Resolution verification and closure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1463040"/>
            <a:ext cx="3337560" cy="4206240"/>
          </a:xfrm>
          <a:prstGeom prst="roundRect">
            <a:avLst/>
          </a:prstGeom>
          <a:solidFill>
            <a:srgbClr val="E8F2FA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18872" bIns="91440"/>
          <a:lstStyle/>
          <a:p>
            <a:pPr algn="ctr">
              <a:defRPr sz="1500" b="1">
                <a:solidFill>
                  <a:srgbClr val="10395C"/>
                </a:solidFill>
                <a:latin typeface="Aptos"/>
              </a:defRPr>
            </a:pPr>
            <a:r>
              <a:t>Overall understanding</a:t>
            </a: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Effective PC support is not only about fixing the issue.</a:t>
            </a: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2D3741"/>
                </a:solidFill>
                <a:latin typeface="Aptos"/>
              </a:defRPr>
            </a:pPr>
            <a:r>
              <a:t>It also involves proper ticketing, coordination, escalation and follow-up until the user is supported.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
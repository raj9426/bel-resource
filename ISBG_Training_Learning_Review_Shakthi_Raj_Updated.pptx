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95360" y="0"/>
            <a:ext cx="3596335" cy="6858000"/>
          </a:xfrm>
          <a:prstGeom prst="rect">
            <a:avLst/>
          </a:prstGeom>
          <a:solidFill>
            <a:srgbClr val="266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281160" y="640080"/>
            <a:ext cx="2240280" cy="960120"/>
          </a:xfrm>
          <a:prstGeom prst="roundRect">
            <a:avLst>
              <a:gd name="adj" fmla="val 12000"/>
            </a:avLst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61120" y="1874519"/>
            <a:ext cx="2651760" cy="2651760"/>
          </a:xfrm>
          <a:prstGeom prst="roundRect">
            <a:avLst>
              <a:gd name="adj" fmla="val 12000"/>
            </a:avLst>
          </a:prstGeom>
          <a:solidFill>
            <a:srgbClr val="1F48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464040" y="4800600"/>
            <a:ext cx="2148840" cy="731520"/>
          </a:xfrm>
          <a:prstGeom prst="roundRect">
            <a:avLst>
              <a:gd name="adj" fmla="val 12000"/>
            </a:avLst>
          </a:prstGeom>
          <a:solidFill>
            <a:srgbClr val="E1A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2468880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52760" y="2331720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875520" y="3520440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972800" y="3794760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9564624" y="2432304"/>
            <a:ext cx="1179576" cy="137160"/>
          </a:xfrm>
          <a:prstGeom prst="line">
            <a:avLst/>
          </a:prstGeom>
          <a:ln w="25400">
            <a:solidFill>
              <a:srgbClr val="AD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564624" y="2569464"/>
            <a:ext cx="411480" cy="1051560"/>
          </a:xfrm>
          <a:prstGeom prst="line">
            <a:avLst/>
          </a:prstGeom>
          <a:ln w="25400">
            <a:solidFill>
              <a:srgbClr val="AD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0744200" y="2432304"/>
            <a:ext cx="329184" cy="1463040"/>
          </a:xfrm>
          <a:prstGeom prst="line">
            <a:avLst/>
          </a:prstGeom>
          <a:ln w="25400">
            <a:solidFill>
              <a:srgbClr val="AD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976104" y="3621024"/>
            <a:ext cx="1097280" cy="274320"/>
          </a:xfrm>
          <a:prstGeom prst="line">
            <a:avLst/>
          </a:prstGeom>
          <a:ln w="25400">
            <a:solidFill>
              <a:srgbClr val="ADCE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1097280"/>
            <a:ext cx="7132320" cy="1508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 i="0">
                <a:solidFill>
                  <a:srgbClr val="FFFFFF"/>
                </a:solidFill>
                <a:latin typeface="Aptos"/>
              </a:rPr>
              <a:t>TRAINING &amp;
LEARNING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2880360"/>
            <a:ext cx="1051560" cy="73152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246120"/>
            <a:ext cx="6858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Aptos"/>
              </a:rPr>
              <a:t>Information Systems Division (ISBG)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" y="3794760"/>
            <a:ext cx="69494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D0DEEE"/>
                </a:solidFill>
                <a:latin typeface="Aptos"/>
              </a:rPr>
              <a:t>BG Complex  |  Bharat Electronics Limited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5074920"/>
            <a:ext cx="53035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Presented by  Shakthi Raj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5468112"/>
            <a:ext cx="53035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D0DEEE"/>
                </a:solidFill>
                <a:latin typeface="Aptos"/>
              </a:rPr>
              <a:t>Assigned area: PC Maintenance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6172200"/>
            <a:ext cx="41148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DC4DB"/>
                </a:solidFill>
                <a:latin typeface="Aptos"/>
              </a:rPr>
              <a:t>Departmental Training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9509760" y="219456"/>
            <a:ext cx="56692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arallelogram 21"/>
          <p:cNvSpPr/>
          <p:nvPr/>
        </p:nvSpPr>
        <p:spPr>
          <a:xfrm>
            <a:off x="9509760" y="365760"/>
            <a:ext cx="47548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arallelogram 22"/>
          <p:cNvSpPr/>
          <p:nvPr/>
        </p:nvSpPr>
        <p:spPr>
          <a:xfrm>
            <a:off x="9509760" y="512064"/>
            <a:ext cx="38404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219456"/>
            <a:ext cx="1783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BHARAT
ELECTRONICS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2" y="704088"/>
            <a:ext cx="2331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550">
                <a:solidFill>
                  <a:srgbClr val="FFCDCD"/>
                </a:solidFill>
                <a:latin typeface="Arial"/>
              </a:rPr>
              <a:t>QUALITY • TECHNOLOGY •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8991"/>
                </a:solidFill>
                <a:latin typeface="Aptos"/>
              </a:rPr>
              <a:t>01  |  DEPARTMENT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8686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3053"/>
                </a:solidFill>
                <a:latin typeface="Aptos"/>
              </a:rPr>
              <a:t>Understanding ISBG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0700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D6B7B"/>
                </a:solidFill>
                <a:latin typeface="Aptos"/>
              </a:rPr>
              <a:t>Internal IT support that helps employees and business operations run reliably.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046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D6B7B"/>
                </a:solidFill>
                <a:latin typeface="Aptos"/>
              </a:rPr>
              <a:t>ISBG  |  BG Complex  |  Training &amp; Learning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D6B7B"/>
                </a:solidFill>
                <a:latin typeface="Aptos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3657600" cy="4160520"/>
          </a:xfrm>
          <a:prstGeom prst="roundRect">
            <a:avLst>
              <a:gd name="adj" fmla="val 12000"/>
            </a:avLst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301752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ISBG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816352"/>
            <a:ext cx="292608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Aptos"/>
              </a:rPr>
              <a:t>Information Systems Division
BG Complex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822191"/>
            <a:ext cx="24688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9CDADA"/>
                </a:solidFill>
                <a:latin typeface="Aptos"/>
              </a:rPr>
              <a:t>Core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187952"/>
            <a:ext cx="283464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Aptos"/>
              </a:rPr>
              <a:t>Reliable IT infrastructure, user support and maintenance.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783080"/>
            <a:ext cx="3154680" cy="169164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17720" y="1783080"/>
            <a:ext cx="73152" cy="169164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1947672"/>
            <a:ext cx="2788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053"/>
                </a:solidFill>
                <a:latin typeface="Aptos"/>
              </a:rPr>
              <a:t>IT hardware &amp; software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2350008"/>
            <a:ext cx="2788920" cy="9966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A3441"/>
                </a:solidFill>
                <a:latin typeface="Aptos"/>
              </a:rPr>
              <a:t>Support and maintenance of internal computer systems.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783080"/>
            <a:ext cx="3520440" cy="169164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783080"/>
            <a:ext cx="73152" cy="1691640"/>
          </a:xfrm>
          <a:prstGeom prst="rect">
            <a:avLst/>
          </a:prstGeom>
          <a:solidFill>
            <a:srgbClr val="266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947672"/>
            <a:ext cx="3154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053"/>
                </a:solidFill>
                <a:latin typeface="Aptos"/>
              </a:rPr>
              <a:t>Network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350008"/>
            <a:ext cx="3154680" cy="9966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A3441"/>
                </a:solidFill>
                <a:latin typeface="Aptos"/>
              </a:rPr>
              <a:t>Support for internet, intranet and network maintenance.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17720" y="3749039"/>
            <a:ext cx="3154680" cy="169164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3749039"/>
            <a:ext cx="73152" cy="1691640"/>
          </a:xfrm>
          <a:prstGeom prst="rect">
            <a:avLst/>
          </a:prstGeom>
          <a:solidFill>
            <a:srgbClr val="E1A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18888" y="3913631"/>
            <a:ext cx="2788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053"/>
                </a:solidFill>
                <a:latin typeface="Aptos"/>
              </a:rPr>
              <a:t>Business applications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8888" y="4315968"/>
            <a:ext cx="2788920" cy="9966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A3441"/>
                </a:solidFill>
                <a:latin typeface="Aptos"/>
              </a:rPr>
              <a:t>Intranet applications, payroll processes and SAP / ERP user support.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749039"/>
            <a:ext cx="3520440" cy="169164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749039"/>
            <a:ext cx="73152" cy="1691640"/>
          </a:xfrm>
          <a:prstGeom prst="rect">
            <a:avLst/>
          </a:prstGeom>
          <a:solidFill>
            <a:srgbClr val="317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3913631"/>
            <a:ext cx="31546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053"/>
                </a:solidFill>
                <a:latin typeface="Aptos"/>
              </a:rPr>
              <a:t>Attendance &amp; access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4315968"/>
            <a:ext cx="3154680" cy="9966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A3441"/>
                </a:solidFill>
                <a:latin typeface="Aptos"/>
              </a:rPr>
              <a:t>Face-recognition attendance, biometric devices and flap barriers.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5715000"/>
            <a:ext cx="69037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5D6B7B"/>
                </a:solidFill>
                <a:latin typeface="Aptos"/>
              </a:rPr>
              <a:t>Service mindset: customer focus • discipline • teamwork • consistent quality</a:t>
            </a:r>
          </a:p>
        </p:txBody>
      </p:sp>
      <p:sp>
        <p:nvSpPr>
          <p:cNvPr id="30" name="Parallelogram 29"/>
          <p:cNvSpPr/>
          <p:nvPr/>
        </p:nvSpPr>
        <p:spPr>
          <a:xfrm>
            <a:off x="9509760" y="219456"/>
            <a:ext cx="56692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9509760" y="365760"/>
            <a:ext cx="47548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Parallelogram 31"/>
          <p:cNvSpPr/>
          <p:nvPr/>
        </p:nvSpPr>
        <p:spPr>
          <a:xfrm>
            <a:off x="9509760" y="512064"/>
            <a:ext cx="38404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0" y="219456"/>
            <a:ext cx="1783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3053"/>
                </a:solidFill>
                <a:latin typeface="Arial"/>
              </a:rPr>
              <a:t>BHARAT
ELECTRONICS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82912" y="704088"/>
            <a:ext cx="2331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550">
                <a:solidFill>
                  <a:srgbClr val="CD343B"/>
                </a:solidFill>
                <a:latin typeface="Arial"/>
              </a:rPr>
              <a:t>QUALITY • TECHNOLOGY • INNOVATION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8991"/>
                </a:solidFill>
                <a:latin typeface="Aptos"/>
              </a:rPr>
              <a:t>02  |  FUNCTIONAL AREAS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8686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3053"/>
                </a:solidFill>
                <a:latin typeface="Aptos"/>
              </a:rPr>
              <a:t>ISBG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0700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D6B7B"/>
                </a:solidFill>
                <a:latin typeface="Aptos"/>
              </a:rPr>
              <a:t>The division brings together multiple IT support functions.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046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D6B7B"/>
                </a:solidFill>
                <a:latin typeface="Aptos"/>
              </a:rPr>
              <a:t>ISBG  |  BG Complex  |  Training &amp; Learning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D6B7B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2578608"/>
            <a:ext cx="2971800" cy="960120"/>
          </a:xfrm>
          <a:prstGeom prst="roundRect">
            <a:avLst>
              <a:gd name="adj" fmla="val 12000"/>
            </a:avLst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28032" y="2779776"/>
            <a:ext cx="256032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INFORMATION SYSTEMS
DIVISION (ISBG)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83080"/>
            <a:ext cx="3063240" cy="114300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1783080"/>
            <a:ext cx="73152" cy="114300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1947672"/>
            <a:ext cx="2697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053"/>
                </a:solidFill>
                <a:latin typeface="Aptos"/>
              </a:rPr>
              <a:t>PC Maintenance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350008"/>
            <a:ext cx="269748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A3441"/>
                </a:solidFill>
                <a:latin typeface="Aptos"/>
              </a:rPr>
              <a:t>Computers, software and peripherals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160520"/>
            <a:ext cx="3063240" cy="114300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160520"/>
            <a:ext cx="73152" cy="1143000"/>
          </a:xfrm>
          <a:prstGeom prst="rect">
            <a:avLst/>
          </a:prstGeom>
          <a:solidFill>
            <a:srgbClr val="266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4325112"/>
            <a:ext cx="2697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053"/>
                </a:solidFill>
                <a:latin typeface="Aptos"/>
              </a:rPr>
              <a:t>Network Maintenance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4727448"/>
            <a:ext cx="269748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A3441"/>
                </a:solidFill>
                <a:latin typeface="Aptos"/>
              </a:rPr>
              <a:t>Connectivity and network infrastructure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26280" y="4343400"/>
            <a:ext cx="3154680" cy="114300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26280" y="4343400"/>
            <a:ext cx="73152" cy="1143000"/>
          </a:xfrm>
          <a:prstGeom prst="rect">
            <a:avLst/>
          </a:prstGeom>
          <a:solidFill>
            <a:srgbClr val="E1A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27448" y="4507992"/>
            <a:ext cx="2788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053"/>
                </a:solidFill>
                <a:latin typeface="Aptos"/>
              </a:rPr>
              <a:t>Payroll &amp;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27448" y="4910328"/>
            <a:ext cx="278892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A3441"/>
                </a:solidFill>
                <a:latin typeface="Aptos"/>
              </a:rPr>
              <a:t>Employee payroll and attendance systems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4160520"/>
            <a:ext cx="3063240" cy="114300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4160520"/>
            <a:ext cx="73152" cy="1143000"/>
          </a:xfrm>
          <a:prstGeom prst="rect">
            <a:avLst/>
          </a:prstGeom>
          <a:solidFill>
            <a:srgbClr val="317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13648" y="4325112"/>
            <a:ext cx="2697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053"/>
                </a:solidFill>
                <a:latin typeface="Aptos"/>
              </a:rPr>
              <a:t>Web Support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4727448"/>
            <a:ext cx="269748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A3441"/>
                </a:solidFill>
                <a:latin typeface="Aptos"/>
              </a:rPr>
              <a:t>Intranet applications and user support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1783080"/>
            <a:ext cx="3063240" cy="114300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0" y="1783080"/>
            <a:ext cx="73152" cy="1143000"/>
          </a:xfrm>
          <a:prstGeom prst="rect">
            <a:avLst/>
          </a:prstGeom>
          <a:solidFill>
            <a:srgbClr val="266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1947672"/>
            <a:ext cx="269748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053"/>
                </a:solidFill>
                <a:latin typeface="Aptos"/>
              </a:rPr>
              <a:t>SAP / ERP Support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2350008"/>
            <a:ext cx="2697480" cy="4480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A3441"/>
                </a:solidFill>
                <a:latin typeface="Aptos"/>
              </a:rPr>
              <a:t>Enterprise application end-user support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26280" y="1234440"/>
            <a:ext cx="3154680" cy="100584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26280" y="1234440"/>
            <a:ext cx="73152" cy="100584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27448" y="1399032"/>
            <a:ext cx="2788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053"/>
                </a:solidFill>
                <a:latin typeface="Aptos"/>
              </a:rPr>
              <a:t>Biometric &amp; Access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27448" y="1801368"/>
            <a:ext cx="2788920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2A3441"/>
                </a:solidFill>
                <a:latin typeface="Aptos"/>
              </a:rPr>
              <a:t>Face recognition, biometrics and flap barriers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3749039" y="2359152"/>
            <a:ext cx="868681" cy="429768"/>
          </a:xfrm>
          <a:prstGeom prst="line">
            <a:avLst/>
          </a:prstGeom>
          <a:ln w="2032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3749039" y="3291840"/>
            <a:ext cx="868681" cy="1280160"/>
          </a:xfrm>
          <a:prstGeom prst="line">
            <a:avLst/>
          </a:prstGeom>
          <a:ln w="2032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6080760" y="3538728"/>
            <a:ext cx="0" cy="804672"/>
          </a:xfrm>
          <a:prstGeom prst="line">
            <a:avLst/>
          </a:prstGeom>
          <a:ln w="2032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 flipV="1">
            <a:off x="7589520" y="3291840"/>
            <a:ext cx="822960" cy="1280160"/>
          </a:xfrm>
          <a:prstGeom prst="line">
            <a:avLst/>
          </a:prstGeom>
          <a:ln w="2032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7589520" y="2359152"/>
            <a:ext cx="822960" cy="475488"/>
          </a:xfrm>
          <a:prstGeom prst="line">
            <a:avLst/>
          </a:prstGeom>
          <a:ln w="2032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80760" y="2240280"/>
            <a:ext cx="0" cy="338328"/>
          </a:xfrm>
          <a:prstGeom prst="line">
            <a:avLst/>
          </a:prstGeom>
          <a:ln w="2032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Parallelogram 39"/>
          <p:cNvSpPr/>
          <p:nvPr/>
        </p:nvSpPr>
        <p:spPr>
          <a:xfrm>
            <a:off x="9509760" y="219456"/>
            <a:ext cx="56692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Parallelogram 40"/>
          <p:cNvSpPr/>
          <p:nvPr/>
        </p:nvSpPr>
        <p:spPr>
          <a:xfrm>
            <a:off x="9509760" y="365760"/>
            <a:ext cx="47548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Parallelogram 41"/>
          <p:cNvSpPr/>
          <p:nvPr/>
        </p:nvSpPr>
        <p:spPr>
          <a:xfrm>
            <a:off x="9509760" y="512064"/>
            <a:ext cx="38404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149840" y="219456"/>
            <a:ext cx="1783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3053"/>
                </a:solidFill>
                <a:latin typeface="Arial"/>
              </a:rPr>
              <a:t>BHARAT
ELECTRONICS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82912" y="704088"/>
            <a:ext cx="2331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550">
                <a:solidFill>
                  <a:srgbClr val="CD343B"/>
                </a:solidFill>
                <a:latin typeface="Arial"/>
              </a:rPr>
              <a:t>QUALITY • TECHNOLOGY • INNOVATION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8991"/>
                </a:solidFill>
                <a:latin typeface="Aptos"/>
              </a:rPr>
              <a:t>03  |  ASSIGNED AREA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8686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3053"/>
                </a:solidFill>
                <a:latin typeface="Aptos"/>
              </a:rPr>
              <a:t>PC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0700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D6B7B"/>
                </a:solidFill>
                <a:latin typeface="Aptos"/>
              </a:rPr>
              <a:t>My allocated area — building practical knowledge of computer support and troubleshooting.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046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D6B7B"/>
                </a:solidFill>
                <a:latin typeface="Aptos"/>
              </a:rPr>
              <a:t>ISBG  |  BG Complex  |  Training &amp; Learning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D6B7B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6537960" cy="804672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38528"/>
            <a:ext cx="502920" cy="475488"/>
          </a:xfrm>
          <a:prstGeom prst="roundRect">
            <a:avLst>
              <a:gd name="adj" fmla="val 12000"/>
            </a:avLst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48255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92807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053"/>
                </a:solidFill>
                <a:latin typeface="Aptos"/>
              </a:rPr>
              <a:t>Understand the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176272"/>
            <a:ext cx="5303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B7B"/>
                </a:solidFill>
                <a:latin typeface="Aptos"/>
              </a:rPr>
              <a:t>Gather symptoms and user-reported details.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770632"/>
            <a:ext cx="6537960" cy="804672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2926080"/>
            <a:ext cx="502920" cy="475488"/>
          </a:xfrm>
          <a:prstGeom prst="roundRect">
            <a:avLst>
              <a:gd name="adj" fmla="val 12000"/>
            </a:avLst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35808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27632" y="2880360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053"/>
                </a:solidFill>
                <a:latin typeface="Aptos"/>
              </a:rPr>
              <a:t>Check the basics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3163824"/>
            <a:ext cx="5303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B7B"/>
                </a:solidFill>
                <a:latin typeface="Aptos"/>
              </a:rPr>
              <a:t>Power, cables, peripherals and visible indicators.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58184"/>
            <a:ext cx="6537960" cy="804672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913632"/>
            <a:ext cx="502920" cy="475488"/>
          </a:xfrm>
          <a:prstGeom prst="roundRect">
            <a:avLst>
              <a:gd name="adj" fmla="val 12000"/>
            </a:avLst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23360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27632" y="386791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053"/>
                </a:solidFill>
                <a:latin typeface="Aptos"/>
              </a:rPr>
              <a:t>Diagnose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27632" y="4151376"/>
            <a:ext cx="5303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B7B"/>
                </a:solidFill>
                <a:latin typeface="Aptos"/>
              </a:rPr>
              <a:t>Check hardware, operating system, software and connectivity.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45736"/>
            <a:ext cx="6537960" cy="804672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4901184"/>
            <a:ext cx="502920" cy="475488"/>
          </a:xfrm>
          <a:prstGeom prst="roundRect">
            <a:avLst>
              <a:gd name="adj" fmla="val 12000"/>
            </a:avLst>
          </a:prstGeom>
          <a:solidFill>
            <a:srgbClr val="266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010912"/>
            <a:ext cx="5029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4855464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163053"/>
                </a:solidFill>
                <a:latin typeface="Aptos"/>
              </a:rPr>
              <a:t>Resolve or escalate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5138928"/>
            <a:ext cx="5303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D6B7B"/>
                </a:solidFill>
                <a:latin typeface="Aptos"/>
              </a:rPr>
              <a:t>Follow approved procedures and document the outcome.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26679" y="1783080"/>
            <a:ext cx="3611880" cy="3886200"/>
          </a:xfrm>
          <a:prstGeom prst="roundRect">
            <a:avLst>
              <a:gd name="adj" fmla="val 12000"/>
            </a:avLst>
          </a:prstGeom>
          <a:solidFill>
            <a:srgbClr val="16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2084831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9CDADA"/>
                </a:solidFill>
                <a:latin typeface="Aptos"/>
              </a:rPr>
              <a:t>KEY AREAS TO LEARN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2578608"/>
            <a:ext cx="2880360" cy="2560320"/>
          </a:xfrm>
          <a:prstGeom prst="rect">
            <a:avLst/>
          </a:prstGeom>
          <a:noFill/>
        </p:spPr>
        <p:txBody>
          <a:bodyPr wrap="square" lIns="27432" rIns="18288" tIns="18288" bIns="18288">
            <a:spAutoFit/>
          </a:bodyPr>
          <a:lstStyle/>
          <a:p>
            <a:pPr>
              <a:buChar char="•"/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/>
              <a:t>Hardware components and diagnostics</a:t>
            </a:r>
          </a:p>
          <a:p>
            <a:pPr>
              <a:buChar char="•"/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/>
              <a:t>Operating system and software issues</a:t>
            </a:r>
          </a:p>
          <a:p>
            <a:pPr>
              <a:buChar char="•"/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/>
              <a:t>Drivers, peripherals and configuration</a:t>
            </a:r>
          </a:p>
          <a:p>
            <a:pPr>
              <a:buChar char="•"/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/>
              <a:t>Basic network connectivity checks</a:t>
            </a:r>
          </a:p>
          <a:p>
            <a:pPr>
              <a:buChar char="•"/>
              <a:spcAft>
                <a:spcPts val="12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rPr/>
              <a:t>Asset handling and service documentation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5166360"/>
            <a:ext cx="2880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D0DEEE"/>
                </a:solidFill>
                <a:latin typeface="Aptos"/>
              </a:rPr>
              <a:t>Always follow departmental procedures and information-security requirements.</a:t>
            </a:r>
          </a:p>
        </p:txBody>
      </p:sp>
      <p:sp>
        <p:nvSpPr>
          <p:cNvPr id="32" name="Parallelogram 31"/>
          <p:cNvSpPr/>
          <p:nvPr/>
        </p:nvSpPr>
        <p:spPr>
          <a:xfrm>
            <a:off x="9509760" y="219456"/>
            <a:ext cx="56692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Parallelogram 32"/>
          <p:cNvSpPr/>
          <p:nvPr/>
        </p:nvSpPr>
        <p:spPr>
          <a:xfrm>
            <a:off x="9509760" y="365760"/>
            <a:ext cx="47548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Parallelogram 33"/>
          <p:cNvSpPr/>
          <p:nvPr/>
        </p:nvSpPr>
        <p:spPr>
          <a:xfrm>
            <a:off x="9509760" y="512064"/>
            <a:ext cx="38404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9840" y="219456"/>
            <a:ext cx="1783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3053"/>
                </a:solidFill>
                <a:latin typeface="Arial"/>
              </a:rPr>
              <a:t>BHARAT
ELECTRONICS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704088"/>
            <a:ext cx="2331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550">
                <a:solidFill>
                  <a:srgbClr val="CD343B"/>
                </a:solidFill>
                <a:latin typeface="Arial"/>
              </a:rPr>
              <a:t>QUALITY • TECHNOLOGY • INNOVATION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8991"/>
                </a:solidFill>
                <a:latin typeface="Aptos"/>
              </a:rPr>
              <a:t>04  |  NETWORK MAINTENANCE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8686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3053"/>
                </a:solidFill>
                <a:latin typeface="Aptos"/>
              </a:rPr>
              <a:t>How PC support connects to the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0700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D6B7B"/>
                </a:solidFill>
                <a:latin typeface="Aptos"/>
              </a:rPr>
              <a:t>Understanding the basics helps distinguish a local computer issue from a connectivity issue.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046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D6B7B"/>
                </a:solidFill>
                <a:latin typeface="Aptos"/>
              </a:rPr>
              <a:t>ISBG  |  BG Complex  |  Training &amp; Learning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D6B7B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057400"/>
            <a:ext cx="2148840" cy="155448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2057400"/>
            <a:ext cx="2148840" cy="137160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450592"/>
            <a:ext cx="18105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63053"/>
                </a:solidFill>
                <a:latin typeface="Aptos"/>
              </a:rPr>
              <a:t>USER PC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52928"/>
            <a:ext cx="178308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D6B7B"/>
                </a:solidFill>
                <a:latin typeface="Aptos"/>
              </a:rPr>
              <a:t>Endpoint and network settings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360" y="2834640"/>
            <a:ext cx="594360" cy="0"/>
          </a:xfrm>
          <a:prstGeom prst="line">
            <a:avLst/>
          </a:prstGeom>
          <a:ln w="254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566160" y="2057400"/>
            <a:ext cx="2148840" cy="155448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0" y="2057400"/>
            <a:ext cx="2148840" cy="137160"/>
          </a:xfrm>
          <a:prstGeom prst="rect">
            <a:avLst/>
          </a:prstGeom>
          <a:solidFill>
            <a:srgbClr val="266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2450592"/>
            <a:ext cx="18105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63053"/>
                </a:solidFill>
                <a:latin typeface="Aptos"/>
              </a:rPr>
              <a:t>LAN / SWITCH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2852928"/>
            <a:ext cx="178308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D6B7B"/>
                </a:solidFill>
                <a:latin typeface="Aptos"/>
              </a:rPr>
              <a:t>Wired connection and port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60720" y="2834640"/>
            <a:ext cx="594360" cy="0"/>
          </a:xfrm>
          <a:prstGeom prst="line">
            <a:avLst/>
          </a:prstGeom>
          <a:ln w="254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446520" y="2057400"/>
            <a:ext cx="2148840" cy="155448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46520" y="2057400"/>
            <a:ext cx="2148840" cy="137160"/>
          </a:xfrm>
          <a:prstGeom prst="rect">
            <a:avLst/>
          </a:prstGeom>
          <a:solidFill>
            <a:srgbClr val="E1A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11112" y="2450592"/>
            <a:ext cx="18105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63053"/>
                </a:solidFill>
                <a:latin typeface="Aptos"/>
              </a:rPr>
              <a:t>NETWORK SERVICES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2852928"/>
            <a:ext cx="178308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D6B7B"/>
                </a:solidFill>
                <a:latin typeface="Aptos"/>
              </a:rPr>
              <a:t>IP, DNS and DHCP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641080" y="2834640"/>
            <a:ext cx="594360" cy="0"/>
          </a:xfrm>
          <a:prstGeom prst="line">
            <a:avLst/>
          </a:prstGeom>
          <a:ln w="25400">
            <a:solidFill>
              <a:srgbClr val="0089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26880" y="2057400"/>
            <a:ext cx="2148840" cy="155448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0" y="2057400"/>
            <a:ext cx="2148840" cy="137160"/>
          </a:xfrm>
          <a:prstGeom prst="rect">
            <a:avLst/>
          </a:prstGeom>
          <a:solidFill>
            <a:srgbClr val="317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91472" y="2450592"/>
            <a:ext cx="1810512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163053"/>
                </a:solidFill>
                <a:latin typeface="Aptos"/>
              </a:rPr>
              <a:t>INTERNAL RESOURCE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59" y="2852928"/>
            <a:ext cx="178308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D6B7B"/>
                </a:solidFill>
                <a:latin typeface="Aptos"/>
              </a:rPr>
              <a:t>Intranet or business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160520"/>
            <a:ext cx="42062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63053"/>
                </a:solidFill>
                <a:latin typeface="Aptos"/>
              </a:rPr>
              <a:t>Basic troubleshooting questions</a:t>
            </a:r>
          </a:p>
        </p:txBody>
      </p:sp>
      <p:sp>
        <p:nvSpPr>
          <p:cNvPr id="28" name="Oval 27"/>
          <p:cNvSpPr/>
          <p:nvPr/>
        </p:nvSpPr>
        <p:spPr>
          <a:xfrm>
            <a:off x="822960" y="4636007"/>
            <a:ext cx="164592" cy="16459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15568" y="4617720"/>
            <a:ext cx="9875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A3441"/>
                </a:solidFill>
                <a:latin typeface="Aptos"/>
              </a:rPr>
              <a:t>Is the issue affecting one user or multiple users?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4974336"/>
            <a:ext cx="164592" cy="16459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568" y="4956048"/>
            <a:ext cx="9875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A3441"/>
                </a:solidFill>
                <a:latin typeface="Aptos"/>
              </a:rPr>
              <a:t>Is the cable / Wi-Fi connection active?</a:t>
            </a:r>
          </a:p>
        </p:txBody>
      </p:sp>
      <p:sp>
        <p:nvSpPr>
          <p:cNvPr id="32" name="Oval 31"/>
          <p:cNvSpPr/>
          <p:nvPr/>
        </p:nvSpPr>
        <p:spPr>
          <a:xfrm>
            <a:off x="822960" y="5312664"/>
            <a:ext cx="164592" cy="16459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15568" y="5294376"/>
            <a:ext cx="9875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A3441"/>
                </a:solidFill>
                <a:latin typeface="Aptos"/>
              </a:rPr>
              <a:t>Does the device have a valid IP configuration?</a:t>
            </a:r>
          </a:p>
        </p:txBody>
      </p:sp>
      <p:sp>
        <p:nvSpPr>
          <p:cNvPr id="34" name="Oval 33"/>
          <p:cNvSpPr/>
          <p:nvPr/>
        </p:nvSpPr>
        <p:spPr>
          <a:xfrm>
            <a:off x="822960" y="5650992"/>
            <a:ext cx="164592" cy="164592"/>
          </a:xfrm>
          <a:prstGeom prst="ellipse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15568" y="5632704"/>
            <a:ext cx="9875520" cy="23774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A3441"/>
                </a:solidFill>
                <a:latin typeface="Aptos"/>
              </a:rPr>
              <a:t>Can the user reach other approved internal resources?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6080760"/>
            <a:ext cx="9875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D6B7B"/>
                </a:solidFill>
                <a:latin typeface="Aptos"/>
              </a:rPr>
              <a:t>These are learning points; actual checks should follow local procedures.</a:t>
            </a:r>
          </a:p>
        </p:txBody>
      </p:sp>
      <p:sp>
        <p:nvSpPr>
          <p:cNvPr id="37" name="Parallelogram 36"/>
          <p:cNvSpPr/>
          <p:nvPr/>
        </p:nvSpPr>
        <p:spPr>
          <a:xfrm>
            <a:off x="9509760" y="219456"/>
            <a:ext cx="56692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Parallelogram 37"/>
          <p:cNvSpPr/>
          <p:nvPr/>
        </p:nvSpPr>
        <p:spPr>
          <a:xfrm>
            <a:off x="9509760" y="365760"/>
            <a:ext cx="47548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Parallelogram 38"/>
          <p:cNvSpPr/>
          <p:nvPr/>
        </p:nvSpPr>
        <p:spPr>
          <a:xfrm>
            <a:off x="9509760" y="512064"/>
            <a:ext cx="38404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49840" y="219456"/>
            <a:ext cx="1783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3053"/>
                </a:solidFill>
                <a:latin typeface="Arial"/>
              </a:rPr>
              <a:t>BHARAT
ELECTRONICS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82912" y="704088"/>
            <a:ext cx="2331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550">
                <a:solidFill>
                  <a:srgbClr val="CD343B"/>
                </a:solidFill>
                <a:latin typeface="Arial"/>
              </a:rPr>
              <a:t>QUALITY • TECHNOLOGY • INNOVATION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8991"/>
                </a:solidFill>
                <a:latin typeface="Aptos"/>
              </a:rPr>
              <a:t>05  |  OTHER SUB-DEPARTMENTS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8686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3053"/>
                </a:solidFill>
                <a:latin typeface="Aptos"/>
              </a:rPr>
              <a:t>Business systems and user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0700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D6B7B"/>
                </a:solidFill>
                <a:latin typeface="Aptos"/>
              </a:rPr>
              <a:t>Each function supports a different part of the employee and business workflow.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046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D6B7B"/>
                </a:solidFill>
                <a:latin typeface="Aptos"/>
              </a:rPr>
              <a:t>ISBG  |  BG Complex  |  Training &amp; Learning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D6B7B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303520" cy="1572768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73152" cy="1572768"/>
          </a:xfrm>
          <a:prstGeom prst="rect">
            <a:avLst/>
          </a:prstGeom>
          <a:solidFill>
            <a:srgbClr val="E1A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47672"/>
            <a:ext cx="493775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053"/>
                </a:solidFill>
                <a:latin typeface="Aptos"/>
              </a:rPr>
              <a:t>Payroll &amp; Attendance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50008"/>
            <a:ext cx="4937759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A3441"/>
                </a:solidFill>
                <a:latin typeface="Aptos"/>
              </a:rPr>
              <a:t>Supports payroll processing for permanent, temporary and contract employees, along with attendance workflows.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783080"/>
            <a:ext cx="5303520" cy="1572768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783080"/>
            <a:ext cx="73152" cy="157276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1947672"/>
            <a:ext cx="493775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053"/>
                </a:solidFill>
                <a:latin typeface="Aptos"/>
              </a:rPr>
              <a:t>Face Recognition &amp;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2350008"/>
            <a:ext cx="4937759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A3441"/>
                </a:solidFill>
                <a:latin typeface="Aptos"/>
              </a:rPr>
              <a:t>Supports face-recognition attendance, biometric devices and flap barriers used in access / attendance processes.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657600"/>
            <a:ext cx="5303520" cy="1572768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657600"/>
            <a:ext cx="73152" cy="1572768"/>
          </a:xfrm>
          <a:prstGeom prst="rect">
            <a:avLst/>
          </a:prstGeom>
          <a:solidFill>
            <a:srgbClr val="317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822191"/>
            <a:ext cx="493775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053"/>
                </a:solidFill>
                <a:latin typeface="Aptos"/>
              </a:rPr>
              <a:t>Web Support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4224528"/>
            <a:ext cx="4937759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A3441"/>
                </a:solidFill>
                <a:latin typeface="Aptos"/>
              </a:rPr>
              <a:t>Supports development and maintenance of internal intranet applications and related user issues.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303520" cy="1572768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73152" cy="1572768"/>
          </a:xfrm>
          <a:prstGeom prst="rect">
            <a:avLst/>
          </a:prstGeom>
          <a:solidFill>
            <a:srgbClr val="266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822191"/>
            <a:ext cx="4937759" cy="31089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053"/>
                </a:solidFill>
                <a:latin typeface="Aptos"/>
              </a:rPr>
              <a:t>SAP / ERP Support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4224528"/>
            <a:ext cx="4937759" cy="8778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 i="0">
                <a:solidFill>
                  <a:srgbClr val="2A3441"/>
                </a:solidFill>
                <a:latin typeface="Aptos"/>
              </a:rPr>
              <a:t>Helps end users with enterprise resource planning (ERP) system issues and business application workflows.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" y="5623560"/>
            <a:ext cx="10789920" cy="438912"/>
          </a:xfrm>
          <a:prstGeom prst="roundRect">
            <a:avLst>
              <a:gd name="adj" fmla="val 12000"/>
            </a:avLst>
          </a:prstGeom>
          <a:solidFill>
            <a:srgbClr val="E2E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33288"/>
            <a:ext cx="10332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163053"/>
                </a:solidFill>
                <a:latin typeface="Aptos"/>
              </a:rPr>
              <a:t>Learning focus: understand each system's purpose, user workflow, support path and escalation process.</a:t>
            </a:r>
          </a:p>
        </p:txBody>
      </p:sp>
      <p:sp>
        <p:nvSpPr>
          <p:cNvPr id="26" name="Parallelogram 25"/>
          <p:cNvSpPr/>
          <p:nvPr/>
        </p:nvSpPr>
        <p:spPr>
          <a:xfrm>
            <a:off x="9509760" y="219456"/>
            <a:ext cx="56692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Parallelogram 26"/>
          <p:cNvSpPr/>
          <p:nvPr/>
        </p:nvSpPr>
        <p:spPr>
          <a:xfrm>
            <a:off x="9509760" y="365760"/>
            <a:ext cx="47548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Parallelogram 27"/>
          <p:cNvSpPr/>
          <p:nvPr/>
        </p:nvSpPr>
        <p:spPr>
          <a:xfrm>
            <a:off x="9509760" y="512064"/>
            <a:ext cx="38404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49840" y="219456"/>
            <a:ext cx="1783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3053"/>
                </a:solidFill>
                <a:latin typeface="Arial"/>
              </a:rPr>
              <a:t>BHARAT
ELECTRONICS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82912" y="704088"/>
            <a:ext cx="2331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550">
                <a:solidFill>
                  <a:srgbClr val="CD343B"/>
                </a:solidFill>
                <a:latin typeface="Arial"/>
              </a:rPr>
              <a:t>QUALITY • TECHNOLOGY • INNOVATION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36576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008991"/>
                </a:solidFill>
                <a:latin typeface="Aptos"/>
              </a:rPr>
              <a:t>06  |  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8686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 i="0">
                <a:solidFill>
                  <a:srgbClr val="163053"/>
                </a:solidFill>
                <a:latin typeface="Aptos"/>
              </a:rPr>
              <a:t>Key takeaways from departmental training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20700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D6B7B"/>
                </a:solidFill>
                <a:latin typeface="Aptos"/>
              </a:rPr>
              <a:t>A broad view of IT operations helps provide better first-line support.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046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5D6B7B"/>
                </a:solidFill>
                <a:latin typeface="Aptos"/>
              </a:rPr>
              <a:t>ISBG  |  BG Complex  |  Training &amp; Learning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6473952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 i="0">
                <a:solidFill>
                  <a:srgbClr val="5D6B7B"/>
                </a:solidFill>
                <a:latin typeface="Aptos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166360" cy="141732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32688" y="2048256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221992"/>
            <a:ext cx="56692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2029968"/>
            <a:ext cx="3886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053"/>
                </a:solidFill>
                <a:latin typeface="Aptos"/>
              </a:rPr>
              <a:t>End-to-end 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2395728"/>
            <a:ext cx="38862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A3441"/>
                </a:solidFill>
                <a:latin typeface="Aptos"/>
              </a:rPr>
              <a:t>Understood how PC, network, applications and business systems depend on one another.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828800"/>
            <a:ext cx="5166360" cy="141732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56248" y="2048256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2660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221992"/>
            <a:ext cx="56692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029968"/>
            <a:ext cx="3886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053"/>
                </a:solidFill>
                <a:latin typeface="Aptos"/>
              </a:rPr>
              <a:t>Troubleshooting mindset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2395728"/>
            <a:ext cx="38862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A3441"/>
                </a:solidFill>
                <a:latin typeface="Aptos"/>
              </a:rPr>
              <a:t>Learned to identify symptoms, check basics, isolate the issue and escalate when required.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5166360" cy="141732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32688" y="3877056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E1A6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4050791"/>
            <a:ext cx="56692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3858768"/>
            <a:ext cx="3886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053"/>
                </a:solidFill>
                <a:latin typeface="Aptos"/>
              </a:rPr>
              <a:t>Service and teamwork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4224528"/>
            <a:ext cx="38862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A3441"/>
                </a:solidFill>
                <a:latin typeface="Aptos"/>
              </a:rPr>
              <a:t>Recognized the importance of communication, documentation and coordination between teams.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3657600"/>
            <a:ext cx="5166360" cy="1417320"/>
          </a:xfrm>
          <a:prstGeom prst="roundRect">
            <a:avLst>
              <a:gd name="adj" fmla="val 12000"/>
            </a:avLst>
          </a:prstGeom>
          <a:solidFill>
            <a:srgbClr val="F1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56248" y="3877056"/>
            <a:ext cx="566928" cy="566928"/>
          </a:xfrm>
          <a:prstGeom prst="roundRect">
            <a:avLst>
              <a:gd name="adj" fmla="val 12000"/>
            </a:avLst>
          </a:prstGeom>
          <a:solidFill>
            <a:srgbClr val="317F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6248" y="4050791"/>
            <a:ext cx="566928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87768" y="3858768"/>
            <a:ext cx="38862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163053"/>
                </a:solidFill>
                <a:latin typeface="Aptos"/>
              </a:rPr>
              <a:t>Information security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87768" y="4224528"/>
            <a:ext cx="3886200" cy="5943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2A3441"/>
                </a:solidFill>
                <a:latin typeface="Aptos"/>
              </a:rPr>
              <a:t>Understood the need to follow approved access, data-handling and security procedures.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06440"/>
            <a:ext cx="1069848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1">
                <a:solidFill>
                  <a:srgbClr val="5D6B7B"/>
                </a:solidFill>
                <a:latin typeface="Aptos"/>
              </a:rPr>
              <a:t>Add one real example from your training under each area where possible. Present only what you have actually observed or practised.</a:t>
            </a:r>
          </a:p>
        </p:txBody>
      </p:sp>
      <p:sp>
        <p:nvSpPr>
          <p:cNvPr id="29" name="Parallelogram 28"/>
          <p:cNvSpPr/>
          <p:nvPr/>
        </p:nvSpPr>
        <p:spPr>
          <a:xfrm>
            <a:off x="9509760" y="219456"/>
            <a:ext cx="56692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arallelogram 29"/>
          <p:cNvSpPr/>
          <p:nvPr/>
        </p:nvSpPr>
        <p:spPr>
          <a:xfrm>
            <a:off x="9509760" y="365760"/>
            <a:ext cx="47548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Parallelogram 30"/>
          <p:cNvSpPr/>
          <p:nvPr/>
        </p:nvSpPr>
        <p:spPr>
          <a:xfrm>
            <a:off x="9509760" y="512064"/>
            <a:ext cx="38404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149840" y="219456"/>
            <a:ext cx="1783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63053"/>
                </a:solidFill>
                <a:latin typeface="Arial"/>
              </a:rPr>
              <a:t>BHARAT
ELECTRONICS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82912" y="704088"/>
            <a:ext cx="2331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550">
                <a:solidFill>
                  <a:srgbClr val="CD343B"/>
                </a:solidFill>
                <a:latin typeface="Arial"/>
              </a:rPr>
              <a:t>QUALITY • TECHNOLOGY • INNOVATION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0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89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3657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9CDADA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33272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Aptos"/>
              </a:rPr>
              <a:t>Learn. Practise. Contribute.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874519"/>
            <a:ext cx="996696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DDE7F1"/>
                </a:solidFill>
                <a:latin typeface="Aptos"/>
              </a:rPr>
              <a:t>The training has provided a broader understanding of ISBG's role in supporting reliable IT services across BG Complex.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971800"/>
            <a:ext cx="10515600" cy="18288"/>
          </a:xfrm>
          <a:prstGeom prst="rect">
            <a:avLst/>
          </a:prstGeom>
          <a:solidFill>
            <a:srgbClr val="4B68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2011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9CDADA"/>
                </a:solidFill>
                <a:latin typeface="Aptos"/>
              </a:rPr>
              <a:t>NEXT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228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8991"/>
                </a:solidFill>
                <a:latin typeface="Aptos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813048"/>
            <a:ext cx="8138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Strengthen practical PC troubleshooting skills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33672"/>
            <a:ext cx="228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8991"/>
                </a:solidFill>
                <a:latin typeface="Apto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251960"/>
            <a:ext cx="8138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Learn and follow departmental procedures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72584"/>
            <a:ext cx="22860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008991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690872"/>
            <a:ext cx="813816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Improve technical documentation and user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06440"/>
            <a:ext cx="32004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5925312"/>
            <a:ext cx="36576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D0DEEE"/>
                </a:solidFill>
                <a:latin typeface="Aptos"/>
              </a:rPr>
              <a:t>Questions &amp; discussion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92240"/>
            <a:ext cx="731520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ADC4DB"/>
                </a:solidFill>
                <a:latin typeface="Aptos"/>
              </a:rPr>
              <a:t>Shakthi Raj  |  ISBG  |  PC Maintenance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9509760" y="219456"/>
            <a:ext cx="56692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arallelogram 17"/>
          <p:cNvSpPr/>
          <p:nvPr/>
        </p:nvSpPr>
        <p:spPr>
          <a:xfrm>
            <a:off x="9509760" y="365760"/>
            <a:ext cx="47548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arallelogram 18"/>
          <p:cNvSpPr/>
          <p:nvPr/>
        </p:nvSpPr>
        <p:spPr>
          <a:xfrm>
            <a:off x="9509760" y="512064"/>
            <a:ext cx="384048" cy="128016"/>
          </a:xfrm>
          <a:prstGeom prst="parallelogram">
            <a:avLst>
              <a:gd name="adj" fmla="val 18000"/>
            </a:avLst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40" y="219456"/>
            <a:ext cx="178308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BHARAT
ELECTRONICS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82912" y="704088"/>
            <a:ext cx="233172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550">
                <a:solidFill>
                  <a:srgbClr val="FFCDCD"/>
                </a:solidFill>
                <a:latin typeface="Arial"/>
              </a:rPr>
              <a:t>QUALITY • TECHNOLOGY • INNOVATION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ISBG Training &amp; Learning Review — Updated</dc:title>
  <dc:subject>Departmental training presentation for ISBG, BG Complex</dc:subject>
  <dc:creator>Shakthi Raj</dc:creator>
  <cp:keywords>BEL, ISBG, PC Maintenance, Training, IT Support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
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START (about 30 seconds): "Good morning sir. Over the last few weeks I have been going through the sub-departments of ISBG. I am posted in PC Maintenance, so I will first introduce ISBG very briefly, and then walk you through what I learned in PCM and in the Network Monitoring Center: the help desk, the servers, antivirus support and the network." TIPS: The whole talk is about 10 to 12 minutes, roughly one minute per slide. Speak slowly, look at your manager rather than the screen, and use the slides only as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"ISBG is the Information Systems division of the Bangalore Complex, and it is ISO/IEC 27001:2022 certified for information security. It looks after six areas: PC maintenance, network maintenance, payroll and attendance, web support, face recognition based attendance with flap barriers and biometrics, and SAP/ERP support for end users. I am posted in PC Maintenance, highlighted here, so the rest of my talk focuses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Do not read every line. Say: "Our vision is to lead in IT infrastructure support for internal customers, and our mission is customer delight. The values that guide the team are customers first, transparency and integrity, ethical practices, excellence, mutual trust and respect, and teamwork. ISBG is also certified under ISO/IEC 27001:2022, the information security standard. The certificate is version 2.0, dated 16 May 2025, valid from 16 December 2025 till 15 December 2028. The aim is to protect the confidentiality, integrity and availability of information, and ISBG supports mission-critical ERP and maintains the IT assets and network for all the SBUs of the Bangalore Complex."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This is the main slide, so take your time. Start with the strip at the top: "PC Maintenance is the part of ISBG I am posted in. It covers help desk and field support, server maintenance and antivirus support, and also printers, workstations, thin clients and general hardware and software issues." Then walk the flow left to right: "When a user has a problem, they call the help desk. The first thing the help desk does is raise a ticket with the user's staff number, name and department. If it is a software issue, they first try to fix it through remote access. If that does not work, the ticket goes to the experts. If the experts cannot fix it, or the issue needs someone physically present, a zone engineer is sent. We have 12 zone engineers, and each covers a zone of 5 to 10 departments. Hardware issues also go to the zone engineer. Once the problem is fixed, the ticket is closed." Finally the zone row: "BEL has 16 SBUs divided across the 12 zones, so each zone has one or two SBUs and on average about 5 to 10 departments." BEFORE PRESENTING: the SBU names (SBU A to P) and the department counts in the 12 zone tiles are sample data. Replace them with the real SBU names and averages for each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"PCM maintains 85 physical servers in three categories: flat, mount and blade. To protect the data, the servers use RAID, which manages multiple hard disks together. We use RAID 1, which is mirroring, when there are two disks, and RAID 5, which is striping, when there are three or more. The disks are hot-swappable, so a faulty drive can be replaced without taking the server down." If asked: RAID 5 also keeps parity information, so it survives one disk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Say: "Each server is given a role. Active Directory holds user, computer and shared folder information. Adding or removing a user is done only with permission from the PCM head, and policies apply to staff, but senior officials have no restrictions. DHCP assigns IP addresses to all client PCs with a 30-day lease, so the IP of an idle PC can be given to a different PC. Static IP addresses are assigned manually, and only for servers. DNS resolves names. Hyper-V is virtualization software, so one physical server can host several operating systems, for example a virtual server for Active Directory. The Windows update service and the deployment server handle updates and OS installation, and the web server hosts web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Say: "For antivirus we use Trend Micro. The Apex One server is the primary endpoint protection service and manages about 4,800 PCs. Apex Central is the centralized management server. A SQL database server, running Microsoft SQL Server on a VM, stores the Apex One data. A separate backup server is powered on once a month, backs up the antivirus setup, and is shut down again." Then the bottom half: "Day to day, the antivirus team does four things. It disables the antivirus for a user when they need to install software or transfer data. It pushes the agent to users under a policy. It enables or disables USB ports for users. And it sets CD/DVD permissions. These controls help keep the network safe while still letting users do their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Say: "Besides complaints, servers and antivirus, PCM does a few other activities. First, IT asset maintenance, which falls into three categories. AMC is the Annual Maintenance Contract with IND Innovations, and it covers IT assets manufactured after 2017. Where AMC is not applied, repairs and replacements are claimed under warranty. On call is for assets that are under neither AMC nor warranty and were manufactured before 2017. We still give support for them, but spare parts are not replaced. Second, we support both VDI and non-VDI systems, with all kinds of support. The VDI-specific tasks are done by the VDI team: giving VDI access to new users and removing existing users, creating drives for VDI systems, and giving or removing user restrictions. Third, we issue a non-maintainability certificate for IT assets of the BG Complex that can no longer be supported or repaired, which is how they are written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"The next sub-department I learned about is the NMC, the Network Monitoring Center. It monitors the BEL network and takes action when something goes wrong. Its main responsibilities are giving new network connections, resolving network issues, and handling network hardware problems such as switches and routers." The four "Also part of NMC work" items are general good practice for a network center. Mention only the ones you actually saw, and drop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Say: "BEL has two kinds of network, the intranet and the internet, and they are kept separate. The intranet carries the ERP, internal mail, IP telephony and video conferencing. The internet network is used for external mail, browsing and e-procurement. The intranet is divided into three zones. The MCE zone is the main zone and connects the other zones. Its IP series is 172.193. The MS-DC zone uses 172.195 and the EW&amp;A-DC zone uses 172.194. The zones are connected in a ring topology. In a ring, every zone is connected to two neighbours, so the connections form a closed loop. The benefit is redundancy: if one link between two zones fails, traffic can still reach its destination the other way around. From each zone, connections go out to the departments it serves, and the MCE zone serves many departments." The intranet and internet service lists come from the ISBG ISO 27001 reference deck. I have not expanded MCE, MS-DC or EW&amp;A-DC because the full forms were not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This is the redrawn intranet architecture diagram. Walk through it from the middle outwards. Say: "The intranet is built around three zones, MCE-DC, EW&amp;A-DC and MS-DC. Each has its own core switch and firewall, and the IP series are 172.193, 172.194 and 172.195. The zones are joined to each other by 2 x 100G links, so they form a triangle with no single point of failure. Users connect through access switches with 10G downlinks, using PCs and VoIP phones. The data-centre servers, such as the SAP server, VC, the SIP server for voice and the VDI-DC, are attached at MCE-DC. Voice also has its own separate VoIP network with its own core switches and 2 x 40G links, shown by the dashed lines." BEFORE PRESENTING: I redrew this from a sideways photo. Check the link speeds (2 x 100G, 2 x 40G, 10G) and which servers sit at MCE-DC against your printed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Say: "To summarise the architecture: there are three zones, each with its own core switch and firewall, and MCE-DC is the main one, where the data-centre servers are attached. The zones are joined by 2 x 100G links in a triangle, so the network keeps working if one link fails. Users connect through access switches over 10G downlinks. Voice runs on its own separate VoIP network, so calls do not compete with data traffic." Keep the firewall details light unless you are asked: the diagram shows a firewall at each zone, with active-active firewalls for the data centres.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"BEL keeps the intranet and the internet as physically separate networks, which is called an air gap. Where data has to pass from one network to the other, we use a data diode. A data diode is a hardware device that allows data to travel in one direction only. Inside it, the sending side has only a transmitter that turns the data into a light signal, and the receiving side has only a receiver that turns the light back into data. There is no hardware path in the opposite direction, so nothing can travel back. This means malware or a remote attacker on the outside cannot reach the protected network through it, and data cannot leak back the other way." BEFORE PRESENTING: I have drawn the diode generically as source to destination, because the direction BEL uses was not given. If you know which way data flows (for example, internet to intranet or the reverse), change the two box labels. The light-signal explanation is how optical data diodes work in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Say: "To monitor the network the NMC uses NNMi, which stands for Network Node Manager i. It automatically discovers the network devices and shows how they are connected. It monitors the health of devices and links, and raises an alert when something goes down, which helps the team find the root cause quickly. We also support the WIQAS network, which is a separate network used by the Army, Navy and Air Force so that each service can communicate on its own network." BEFORE PRESENTING: replace the WIQAS placeholder with its full form. I could not confirm it, so I did not guess. Ask your guide or check the training notes, and do not spend time on it if you are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END (about 45 seconds): Read the four takeaways in your own words, then say: "To summarise, in PCM I learned how complaints are handled from the help desk to the zone engineers, how the 85 servers are protected and organised, and how antivirus is managed for about 4,800 PCs. I also learned how the NMC monitors the BEL network and resolves faults. My training in the other ISBG sub-departments is still continuing. Thank you, sir. I would be happy to take any questions and would value your feedback." TIPS FOR Q&amp;A: If you do not know an answer, say "I will check with the team and confirm" instead of guessing. Keep a few facts ready: 85 servers, 12 zone engineers covering 5 to 10 departments each, about 4,800 PCs on Apex One, 30-day DHCP lease, intranet zones 172.193 (MCE, main), 172.194 (EW&amp;A-DC) and 172.195 (MS-DC) in a 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3F1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7000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0B2E5C"/>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42160"/>
            <a:ext cx="10566400" cy="4003040"/>
          </a:xfrm>
          <a:prstGeom prst="rect">
            <a:avLst/>
          </a:prstGeom>
          <a:noFill/>
          <a:ln/>
        </p:spPr>
        <p:txBody>
          <a:bodyPr wrap="square" lIns="0" tIns="0" rIns="0" bIns="0" rtlCol="0" anchor="t"/>
          <a:lstStyle>
            <a:lvl1pPr algn="l" indent="0" marL="0">
              <a:lnSpc>
                <a:spcPct val="140000"/>
              </a:lnSpc>
              <a:buNone/>
              <a:defRPr lang="en-US" sz="1600" dirty="0">
                <a:solidFill>
                  <a:srgbClr val="0B2E5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3F1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7000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0B2E5C"/>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42160"/>
            <a:ext cx="10566400" cy="4003040"/>
          </a:xfrm>
          <a:prstGeom prst="rect">
            <a:avLst/>
          </a:prstGeom>
          <a:noFill/>
          <a:ln/>
        </p:spPr>
        <p:txBody>
          <a:bodyPr wrap="square" lIns="0" tIns="0" rIns="0" bIns="0" rtlCol="0" anchor="t"/>
          <a:lstStyle>
            <a:lvl1pPr algn="l" indent="0" marL="0">
              <a:lnSpc>
                <a:spcPct val="140000"/>
              </a:lnSpc>
              <a:buNone/>
              <a:defRPr lang="en-US" sz="1600" dirty="0">
                <a:solidFill>
                  <a:srgbClr val="0B2E5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slideLayout" Target="../slideLayouts/slideLayout2.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F7F"/>
        </a:solidFill>
      </p:bgPr>
    </p:bg>
    <p:spTree>
      <p:nvGrpSpPr>
        <p:cNvPr id="1" name=""/>
        <p:cNvGrpSpPr/>
        <p:nvPr/>
      </p:nvGrpSpPr>
      <p:grpSpPr>
        <a:xfrm>
          <a:off x="0" y="0"/>
          <a:ext cx="0" cy="0"/>
          <a:chOff x="0" y="0"/>
          <a:chExt cx="0" cy="0"/>
        </a:xfrm>
      </p:grpSpPr>
      <p:pic>
        <p:nvPicPr>
          <p:cNvPr id="2" name="Image 0" descr="BEL technology collage: a radar vehicle, a field radio operator and a warship">    </p:cNvPr>
          <p:cNvPicPr>
            <a:picLocks noChangeAspect="1"/>
          </p:cNvPicPr>
          <p:nvPr/>
        </p:nvPicPr>
        <p:blipFill>
          <a:blip r:embed="rId1"/>
          <a:srcRect l="0" r="0" t="0" b="0"/>
          <a:stretch/>
        </p:blipFill>
        <p:spPr>
          <a:xfrm>
            <a:off x="0" y="0"/>
            <a:ext cx="9144000" cy="6858000"/>
          </a:xfrm>
          <a:prstGeom prst="rect">
            <a:avLst/>
          </a:prstGeom>
        </p:spPr>
      </p:pic>
      <p:sp>
        <p:nvSpPr>
          <p:cNvPr id="3" name="Shape 0"/>
          <p:cNvSpPr/>
          <p:nvPr/>
        </p:nvSpPr>
        <p:spPr>
          <a:xfrm>
            <a:off x="9144000" y="0"/>
            <a:ext cx="3048000" cy="6858000"/>
          </a:xfrm>
          <a:prstGeom prst="rect">
            <a:avLst/>
          </a:prstGeom>
          <a:gradFill rotWithShape="1">
            <a:gsLst>
              <a:gs pos="0">
                <a:srgbClr val="0B5FB0"/>
              </a:gs>
              <a:gs pos="100000">
                <a:srgbClr val="0B2E5C"/>
              </a:gs>
            </a:gsLst>
            <a:lin ang="5400000" scaled="0"/>
          </a:gradFill>
          <a:ln/>
        </p:spPr>
      </p:sp>
      <p:sp>
        <p:nvSpPr>
          <p:cNvPr id="4" name="Text 1"/>
          <p:cNvSpPr/>
          <p:nvPr/>
        </p:nvSpPr>
        <p:spPr>
          <a:xfrm>
            <a:off x="9448800" y="609600"/>
            <a:ext cx="1969008"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B14A"/>
                </a:solidFill>
                <a:latin typeface="IBM Plex Sans" pitchFamily="34" charset="0"/>
                <a:ea typeface="IBM Plex Sans" pitchFamily="34" charset="-122"/>
                <a:cs typeface="IBM Plex Sans" pitchFamily="34" charset="-120"/>
              </a:rPr>
              <a:t>TRAINING REVIEW</a:t>
            </a:r>
            <a:endParaRPr lang="en-US" sz="1200" dirty="0"/>
          </a:p>
        </p:txBody>
      </p:sp>
      <p:sp>
        <p:nvSpPr>
          <p:cNvPr id="5" name="Shape 2"/>
          <p:cNvSpPr/>
          <p:nvPr/>
        </p:nvSpPr>
        <p:spPr>
          <a:xfrm>
            <a:off x="9448800" y="2727960"/>
            <a:ext cx="609600" cy="50800"/>
          </a:xfrm>
          <a:prstGeom prst="rect">
            <a:avLst/>
          </a:prstGeom>
          <a:solidFill>
            <a:srgbClr val="F2B14A"/>
          </a:solidFill>
          <a:ln/>
        </p:spPr>
      </p:sp>
      <p:sp>
        <p:nvSpPr>
          <p:cNvPr id="6" name="Text 3"/>
          <p:cNvSpPr/>
          <p:nvPr/>
        </p:nvSpPr>
        <p:spPr>
          <a:xfrm>
            <a:off x="9448800" y="2880360"/>
            <a:ext cx="229828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BFE"/>
                </a:solidFill>
                <a:latin typeface="IBM Plex Sans" pitchFamily="34" charset="0"/>
                <a:ea typeface="IBM Plex Sans" pitchFamily="34" charset="-122"/>
                <a:cs typeface="IBM Plex Sans" pitchFamily="34" charset="-120"/>
              </a:rPr>
              <a:t>M SHAKTHI RAJ</a:t>
            </a:r>
            <a:endParaRPr lang="en-US" sz="2000" dirty="0"/>
          </a:p>
        </p:txBody>
      </p:sp>
      <p:sp>
        <p:nvSpPr>
          <p:cNvPr id="7" name="Text 4"/>
          <p:cNvSpPr/>
          <p:nvPr/>
        </p:nvSpPr>
        <p:spPr>
          <a:xfrm>
            <a:off x="9448800" y="3286760"/>
            <a:ext cx="1972697"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D6EAFA"/>
                </a:solidFill>
                <a:latin typeface="IBM Plex Sans" pitchFamily="34" charset="0"/>
                <a:ea typeface="IBM Plex Sans" pitchFamily="34" charset="-122"/>
                <a:cs typeface="IBM Plex Sans" pitchFamily="34" charset="-120"/>
              </a:rPr>
              <a:t>Engineer Assistant</a:t>
            </a:r>
            <a:endParaRPr lang="en-US" sz="1600" dirty="0"/>
          </a:p>
        </p:txBody>
      </p:sp>
      <p:sp>
        <p:nvSpPr>
          <p:cNvPr id="8" name="Text 5"/>
          <p:cNvSpPr/>
          <p:nvPr/>
        </p:nvSpPr>
        <p:spPr>
          <a:xfrm>
            <a:off x="9448800" y="3652520"/>
            <a:ext cx="1972697"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D6EAFA"/>
                </a:solidFill>
                <a:latin typeface="IBM Plex Sans" pitchFamily="34" charset="0"/>
                <a:ea typeface="IBM Plex Sans" pitchFamily="34" charset="-122"/>
                <a:cs typeface="IBM Plex Sans" pitchFamily="34" charset="-120"/>
              </a:rPr>
              <a:t>30/10/2026</a:t>
            </a:r>
            <a:endParaRPr lang="en-US" sz="1600" dirty="0"/>
          </a:p>
        </p:txBody>
      </p:sp>
      <p:sp>
        <p:nvSpPr>
          <p:cNvPr id="9" name="Text 6"/>
          <p:cNvSpPr/>
          <p:nvPr/>
        </p:nvSpPr>
        <p:spPr>
          <a:xfrm>
            <a:off x="9448800" y="5821680"/>
            <a:ext cx="251155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Information Systems, Bangalore Complex</a:t>
            </a:r>
            <a:endParaRPr lang="en-US" sz="1200" dirty="0"/>
          </a:p>
        </p:txBody>
      </p:sp>
      <p:pic>
        <p:nvPicPr>
          <p:cNvPr id="10" name="Image 1" descr="Bharat Electronics logo">    </p:cNvPr>
          <p:cNvPicPr>
            <a:picLocks noChangeAspect="1"/>
          </p:cNvPicPr>
          <p:nvPr/>
        </p:nvPicPr>
        <p:blipFill>
          <a:blip r:embed="rId2"/>
          <a:srcRect l="0" r="0" t="-37" b="-37"/>
          <a:stretch/>
        </p:blipFill>
        <p:spPr>
          <a:xfrm>
            <a:off x="3460750" y="381000"/>
            <a:ext cx="2228850" cy="660400"/>
          </a:xfrm>
          <a:prstGeom prst="rect">
            <a:avLst/>
          </a:prstGeom>
        </p:spPr>
      </p:pic>
      <p:sp>
        <p:nvSpPr>
          <p:cNvPr id="11" name="Text 7"/>
          <p:cNvSpPr/>
          <p:nvPr>
            <p:ph type="title"/>
          </p:nvPr>
        </p:nvSpPr>
        <p:spPr>
          <a:xfrm>
            <a:off x="1904913" y="5245100"/>
            <a:ext cx="5334095" cy="492760"/>
          </a:xfrm>
          <a:prstGeom prst="rect">
            <a:avLst/>
          </a:prstGeom>
          <a:noFill/>
          <a:ln/>
        </p:spPr>
        <p:txBody>
          <a:bodyPr wrap="square" lIns="0" tIns="0" rIns="0" bIns="0" rtlCol="0" anchor="t">
            <a:normAutofit/>
          </a:bodyPr>
          <a:lstStyle/>
          <a:p>
            <a:pPr algn="ctr"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What I Learned at ISBG</a:t>
            </a:r>
            <a:endParaRPr lang="en-US" sz="3200" dirty="0"/>
          </a:p>
        </p:txBody>
      </p:sp>
      <p:sp>
        <p:nvSpPr>
          <p:cNvPr id="12" name="Text 8"/>
          <p:cNvSpPr/>
          <p:nvPr/>
        </p:nvSpPr>
        <p:spPr>
          <a:xfrm>
            <a:off x="1442180" y="5788660"/>
            <a:ext cx="6259640" cy="30988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0B4A8F"/>
                </a:solidFill>
                <a:latin typeface="IBM Plex Sans" pitchFamily="34" charset="0"/>
                <a:ea typeface="IBM Plex Sans" pitchFamily="34" charset="-122"/>
                <a:cs typeface="IBM Plex Sans" pitchFamily="34" charset="-120"/>
              </a:rPr>
              <a:t>Information Systems Bangalore · PC Maintenance (PCM)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About ISBG</a:t>
            </a:r>
            <a:endParaRPr lang="en-US" sz="3200" dirty="0"/>
          </a:p>
        </p:txBody>
      </p:sp>
      <p:sp>
        <p:nvSpPr>
          <p:cNvPr id="7" name="Text 3"/>
          <p:cNvSpPr/>
          <p:nvPr/>
        </p:nvSpPr>
        <p:spPr>
          <a:xfrm>
            <a:off x="812800" y="199136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ISO/IEC 27001:2022 certified · my posting is highlighted</a:t>
            </a:r>
            <a:endParaRPr lang="en-US" sz="1600" dirty="0"/>
          </a:p>
        </p:txBody>
      </p:sp>
      <p:sp>
        <p:nvSpPr>
          <p:cNvPr id="8" name="Shape 4"/>
          <p:cNvSpPr/>
          <p:nvPr/>
        </p:nvSpPr>
        <p:spPr>
          <a:xfrm>
            <a:off x="815975" y="2533015"/>
            <a:ext cx="3380264" cy="1233170"/>
          </a:xfrm>
          <a:prstGeom prst="roundRect">
            <a:avLst>
              <a:gd name="adj" fmla="val 7981"/>
            </a:avLst>
          </a:prstGeom>
          <a:solidFill>
            <a:srgbClr val="0B5FB0"/>
          </a:solidFill>
          <a:ln w="6350">
            <a:solidFill>
              <a:srgbClr val="0B5FB0"/>
            </a:solidFill>
            <a:prstDash val="solid"/>
          </a:ln>
        </p:spPr>
      </p:sp>
      <p:pic>
        <p:nvPicPr>
          <p:cNvPr id="9" name="Image 2" descr="Tool">    </p:cNvPr>
          <p:cNvPicPr>
            <a:picLocks noChangeAspect="1"/>
          </p:cNvPicPr>
          <p:nvPr/>
        </p:nvPicPr>
        <p:blipFill>
          <a:blip r:embed="rId3"/>
          <a:srcRect l="0" r="0" t="0" b="0"/>
          <a:stretch/>
        </p:blipFill>
        <p:spPr>
          <a:xfrm>
            <a:off x="1071880" y="2971800"/>
            <a:ext cx="355600" cy="355600"/>
          </a:xfrm>
          <a:prstGeom prst="rect">
            <a:avLst/>
          </a:prstGeom>
        </p:spPr>
      </p:pic>
      <p:sp>
        <p:nvSpPr>
          <p:cNvPr id="10" name="Text 5"/>
          <p:cNvSpPr/>
          <p:nvPr/>
        </p:nvSpPr>
        <p:spPr>
          <a:xfrm>
            <a:off x="1579880" y="2895600"/>
            <a:ext cx="243126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BFE"/>
                </a:solidFill>
                <a:latin typeface="IBM Plex Sans" pitchFamily="34" charset="0"/>
                <a:ea typeface="IBM Plex Sans" pitchFamily="34" charset="-122"/>
                <a:cs typeface="IBM Plex Sans" pitchFamily="34" charset="-120"/>
              </a:rPr>
              <a:t>PC Maintenance</a:t>
            </a:r>
            <a:endParaRPr lang="en-US" sz="1600" dirty="0"/>
          </a:p>
        </p:txBody>
      </p:sp>
      <p:sp>
        <p:nvSpPr>
          <p:cNvPr id="11" name="Text 6"/>
          <p:cNvSpPr/>
          <p:nvPr/>
        </p:nvSpPr>
        <p:spPr>
          <a:xfrm>
            <a:off x="1579880" y="3190240"/>
            <a:ext cx="24312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Hardware and software support</a:t>
            </a:r>
            <a:endParaRPr lang="en-US" sz="1200" dirty="0"/>
          </a:p>
        </p:txBody>
      </p:sp>
      <p:sp>
        <p:nvSpPr>
          <p:cNvPr id="12" name="Shape 7"/>
          <p:cNvSpPr/>
          <p:nvPr/>
        </p:nvSpPr>
        <p:spPr>
          <a:xfrm>
            <a:off x="4405789" y="2533015"/>
            <a:ext cx="3380343" cy="1233170"/>
          </a:xfrm>
          <a:prstGeom prst="roundRect">
            <a:avLst>
              <a:gd name="adj" fmla="val 7981"/>
            </a:avLst>
          </a:prstGeom>
          <a:solidFill>
            <a:srgbClr val="F7FBFE"/>
          </a:solidFill>
          <a:ln w="6350">
            <a:solidFill>
              <a:srgbClr val="B9D9F0"/>
            </a:solidFill>
            <a:prstDash val="solid"/>
          </a:ln>
        </p:spPr>
      </p:sp>
      <p:pic>
        <p:nvPicPr>
          <p:cNvPr id="13" name="Image 3" descr="Globe">    </p:cNvPr>
          <p:cNvPicPr>
            <a:picLocks noChangeAspect="1"/>
          </p:cNvPicPr>
          <p:nvPr/>
        </p:nvPicPr>
        <p:blipFill>
          <a:blip r:embed="rId4"/>
          <a:srcRect l="0" r="0" t="0" b="0"/>
          <a:stretch/>
        </p:blipFill>
        <p:spPr>
          <a:xfrm>
            <a:off x="4661694" y="2971800"/>
            <a:ext cx="355600" cy="355600"/>
          </a:xfrm>
          <a:prstGeom prst="rect">
            <a:avLst/>
          </a:prstGeom>
        </p:spPr>
      </p:pic>
      <p:sp>
        <p:nvSpPr>
          <p:cNvPr id="14" name="Text 8"/>
          <p:cNvSpPr/>
          <p:nvPr/>
        </p:nvSpPr>
        <p:spPr>
          <a:xfrm>
            <a:off x="5169694" y="2895600"/>
            <a:ext cx="243134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Network Maintenance</a:t>
            </a:r>
            <a:endParaRPr lang="en-US" sz="1600" dirty="0"/>
          </a:p>
        </p:txBody>
      </p:sp>
      <p:sp>
        <p:nvSpPr>
          <p:cNvPr id="15" name="Text 9"/>
          <p:cNvSpPr/>
          <p:nvPr/>
        </p:nvSpPr>
        <p:spPr>
          <a:xfrm>
            <a:off x="5169694" y="3190240"/>
            <a:ext cx="24313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Internet and intranet upkeep</a:t>
            </a:r>
            <a:endParaRPr lang="en-US" sz="1200" dirty="0"/>
          </a:p>
        </p:txBody>
      </p:sp>
      <p:sp>
        <p:nvSpPr>
          <p:cNvPr id="16" name="Shape 10"/>
          <p:cNvSpPr/>
          <p:nvPr/>
        </p:nvSpPr>
        <p:spPr>
          <a:xfrm>
            <a:off x="7995682" y="2533015"/>
            <a:ext cx="3380343" cy="1233170"/>
          </a:xfrm>
          <a:prstGeom prst="roundRect">
            <a:avLst>
              <a:gd name="adj" fmla="val 7981"/>
            </a:avLst>
          </a:prstGeom>
          <a:solidFill>
            <a:srgbClr val="F7FBFE"/>
          </a:solidFill>
          <a:ln w="6350">
            <a:solidFill>
              <a:srgbClr val="B9D9F0"/>
            </a:solidFill>
            <a:prstDash val="solid"/>
          </a:ln>
        </p:spPr>
      </p:sp>
      <p:pic>
        <p:nvPicPr>
          <p:cNvPr id="17" name="Image 4" descr="Users">    </p:cNvPr>
          <p:cNvPicPr>
            <a:picLocks noChangeAspect="1"/>
          </p:cNvPicPr>
          <p:nvPr/>
        </p:nvPicPr>
        <p:blipFill>
          <a:blip r:embed="rId5"/>
          <a:srcRect l="0" r="0" t="0" b="0"/>
          <a:stretch/>
        </p:blipFill>
        <p:spPr>
          <a:xfrm>
            <a:off x="8251587" y="2971800"/>
            <a:ext cx="355600" cy="355600"/>
          </a:xfrm>
          <a:prstGeom prst="rect">
            <a:avLst/>
          </a:prstGeom>
        </p:spPr>
      </p:pic>
      <p:sp>
        <p:nvSpPr>
          <p:cNvPr id="18" name="Text 11"/>
          <p:cNvSpPr/>
          <p:nvPr/>
        </p:nvSpPr>
        <p:spPr>
          <a:xfrm>
            <a:off x="8759587" y="2788920"/>
            <a:ext cx="243134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Payroll and Attendance</a:t>
            </a:r>
            <a:endParaRPr lang="en-US" sz="1600" dirty="0"/>
          </a:p>
        </p:txBody>
      </p:sp>
      <p:sp>
        <p:nvSpPr>
          <p:cNvPr id="19" name="Text 12"/>
          <p:cNvSpPr/>
          <p:nvPr/>
        </p:nvSpPr>
        <p:spPr>
          <a:xfrm>
            <a:off x="8759587" y="3083560"/>
            <a:ext cx="243134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Permanent, temporary and contract staff</a:t>
            </a:r>
            <a:endParaRPr lang="en-US" sz="1200" dirty="0"/>
          </a:p>
        </p:txBody>
      </p:sp>
      <p:sp>
        <p:nvSpPr>
          <p:cNvPr id="20" name="Shape 13"/>
          <p:cNvSpPr/>
          <p:nvPr/>
        </p:nvSpPr>
        <p:spPr>
          <a:xfrm>
            <a:off x="815975" y="3975735"/>
            <a:ext cx="3380264" cy="1263650"/>
          </a:xfrm>
          <a:prstGeom prst="roundRect">
            <a:avLst>
              <a:gd name="adj" fmla="val 7789"/>
            </a:avLst>
          </a:prstGeom>
          <a:solidFill>
            <a:srgbClr val="F7FBFE"/>
          </a:solidFill>
          <a:ln w="6350">
            <a:solidFill>
              <a:srgbClr val="B9D9F0"/>
            </a:solidFill>
            <a:prstDash val="solid"/>
          </a:ln>
        </p:spPr>
      </p:sp>
      <p:pic>
        <p:nvPicPr>
          <p:cNvPr id="21" name="Image 5" descr="Code">    </p:cNvPr>
          <p:cNvPicPr>
            <a:picLocks noChangeAspect="1"/>
          </p:cNvPicPr>
          <p:nvPr/>
        </p:nvPicPr>
        <p:blipFill>
          <a:blip r:embed="rId6"/>
          <a:srcRect l="0" r="0" t="0" b="0"/>
          <a:stretch/>
        </p:blipFill>
        <p:spPr>
          <a:xfrm>
            <a:off x="1071880" y="4429760"/>
            <a:ext cx="355600" cy="355600"/>
          </a:xfrm>
          <a:prstGeom prst="rect">
            <a:avLst/>
          </a:prstGeom>
        </p:spPr>
      </p:pic>
      <p:sp>
        <p:nvSpPr>
          <p:cNvPr id="22" name="Text 14"/>
          <p:cNvSpPr/>
          <p:nvPr/>
        </p:nvSpPr>
        <p:spPr>
          <a:xfrm>
            <a:off x="1579880" y="4353560"/>
            <a:ext cx="243126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Web Support</a:t>
            </a:r>
            <a:endParaRPr lang="en-US" sz="1600" dirty="0"/>
          </a:p>
        </p:txBody>
      </p:sp>
      <p:sp>
        <p:nvSpPr>
          <p:cNvPr id="23" name="Text 15"/>
          <p:cNvSpPr/>
          <p:nvPr/>
        </p:nvSpPr>
        <p:spPr>
          <a:xfrm>
            <a:off x="1579880" y="4648200"/>
            <a:ext cx="24312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Intranet applications</a:t>
            </a:r>
            <a:endParaRPr lang="en-US" sz="1200" dirty="0"/>
          </a:p>
        </p:txBody>
      </p:sp>
      <p:sp>
        <p:nvSpPr>
          <p:cNvPr id="24" name="Shape 16"/>
          <p:cNvSpPr/>
          <p:nvPr/>
        </p:nvSpPr>
        <p:spPr>
          <a:xfrm>
            <a:off x="4405789" y="3975735"/>
            <a:ext cx="3380343" cy="1263650"/>
          </a:xfrm>
          <a:prstGeom prst="roundRect">
            <a:avLst>
              <a:gd name="adj" fmla="val 7789"/>
            </a:avLst>
          </a:prstGeom>
          <a:solidFill>
            <a:srgbClr val="F7FBFE"/>
          </a:solidFill>
          <a:ln w="6350">
            <a:solidFill>
              <a:srgbClr val="B9D9F0"/>
            </a:solidFill>
            <a:prstDash val="solid"/>
          </a:ln>
        </p:spPr>
      </p:sp>
      <p:pic>
        <p:nvPicPr>
          <p:cNvPr id="25" name="Image 6" descr="Verified">    </p:cNvPr>
          <p:cNvPicPr>
            <a:picLocks noChangeAspect="1"/>
          </p:cNvPicPr>
          <p:nvPr/>
        </p:nvPicPr>
        <p:blipFill>
          <a:blip r:embed="rId7"/>
          <a:srcRect l="0" r="0" t="0" b="0"/>
          <a:stretch/>
        </p:blipFill>
        <p:spPr>
          <a:xfrm>
            <a:off x="4661694" y="4429760"/>
            <a:ext cx="355600" cy="355600"/>
          </a:xfrm>
          <a:prstGeom prst="rect">
            <a:avLst/>
          </a:prstGeom>
        </p:spPr>
      </p:pic>
      <p:sp>
        <p:nvSpPr>
          <p:cNvPr id="26" name="Text 17"/>
          <p:cNvSpPr/>
          <p:nvPr/>
        </p:nvSpPr>
        <p:spPr>
          <a:xfrm>
            <a:off x="5169694" y="4231640"/>
            <a:ext cx="2431349"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Face Recognition Attendance</a:t>
            </a:r>
            <a:endParaRPr lang="en-US" sz="1600" dirty="0"/>
          </a:p>
        </p:txBody>
      </p:sp>
      <p:sp>
        <p:nvSpPr>
          <p:cNvPr id="27" name="Text 18"/>
          <p:cNvSpPr/>
          <p:nvPr/>
        </p:nvSpPr>
        <p:spPr>
          <a:xfrm>
            <a:off x="5169694" y="4770120"/>
            <a:ext cx="24313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Flap barriers and biometrics</a:t>
            </a:r>
            <a:endParaRPr lang="en-US" sz="1200" dirty="0"/>
          </a:p>
        </p:txBody>
      </p:sp>
      <p:sp>
        <p:nvSpPr>
          <p:cNvPr id="28" name="Shape 19"/>
          <p:cNvSpPr/>
          <p:nvPr/>
        </p:nvSpPr>
        <p:spPr>
          <a:xfrm>
            <a:off x="7995682" y="3975735"/>
            <a:ext cx="3380343" cy="1263650"/>
          </a:xfrm>
          <a:prstGeom prst="roundRect">
            <a:avLst>
              <a:gd name="adj" fmla="val 7789"/>
            </a:avLst>
          </a:prstGeom>
          <a:solidFill>
            <a:srgbClr val="F7FBFE"/>
          </a:solidFill>
          <a:ln w="6350">
            <a:solidFill>
              <a:srgbClr val="B9D9F0"/>
            </a:solidFill>
            <a:prstDash val="solid"/>
          </a:ln>
        </p:spPr>
      </p:sp>
      <p:pic>
        <p:nvPicPr>
          <p:cNvPr id="29" name="Image 7" descr="Database">    </p:cNvPr>
          <p:cNvPicPr>
            <a:picLocks noChangeAspect="1"/>
          </p:cNvPicPr>
          <p:nvPr/>
        </p:nvPicPr>
        <p:blipFill>
          <a:blip r:embed="rId8"/>
          <a:srcRect l="0" r="0" t="0" b="0"/>
          <a:stretch/>
        </p:blipFill>
        <p:spPr>
          <a:xfrm>
            <a:off x="8251587" y="4429760"/>
            <a:ext cx="355600" cy="355600"/>
          </a:xfrm>
          <a:prstGeom prst="rect">
            <a:avLst/>
          </a:prstGeom>
        </p:spPr>
      </p:pic>
      <p:sp>
        <p:nvSpPr>
          <p:cNvPr id="30" name="Text 20"/>
          <p:cNvSpPr/>
          <p:nvPr/>
        </p:nvSpPr>
        <p:spPr>
          <a:xfrm>
            <a:off x="8759587" y="4353560"/>
            <a:ext cx="243134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SAP / ERP Support</a:t>
            </a:r>
            <a:endParaRPr lang="en-US" sz="1600" dirty="0"/>
          </a:p>
        </p:txBody>
      </p:sp>
      <p:sp>
        <p:nvSpPr>
          <p:cNvPr id="31" name="Text 21"/>
          <p:cNvSpPr/>
          <p:nvPr/>
        </p:nvSpPr>
        <p:spPr>
          <a:xfrm>
            <a:off x="8759587" y="4648200"/>
            <a:ext cx="261326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Help for end users at the complex</a:t>
            </a:r>
            <a:endParaRPr lang="en-US" sz="1200" dirty="0"/>
          </a:p>
        </p:txBody>
      </p:sp>
      <p:sp>
        <p:nvSpPr>
          <p:cNvPr id="32" name="Text 22"/>
          <p:cNvSpPr/>
          <p:nvPr/>
        </p:nvSpPr>
        <p:spPr>
          <a:xfrm>
            <a:off x="812800" y="6339841"/>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33" name="Text 23"/>
          <p:cNvSpPr/>
          <p:nvPr/>
        </p:nvSpPr>
        <p:spPr>
          <a:xfrm>
            <a:off x="10058400" y="63398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Vision, values and information security</a:t>
            </a:r>
            <a:endParaRPr lang="en-US" sz="3200" dirty="0"/>
          </a:p>
        </p:txBody>
      </p:sp>
      <p:sp>
        <p:nvSpPr>
          <p:cNvPr id="7" name="Shape 3"/>
          <p:cNvSpPr/>
          <p:nvPr/>
        </p:nvSpPr>
        <p:spPr>
          <a:xfrm>
            <a:off x="812800" y="1889761"/>
            <a:ext cx="6110208" cy="2509520"/>
          </a:xfrm>
          <a:prstGeom prst="roundRect">
            <a:avLst>
              <a:gd name="adj" fmla="val 4049"/>
            </a:avLst>
          </a:prstGeom>
          <a:solidFill>
            <a:srgbClr val="0B2E5C"/>
          </a:solidFill>
          <a:ln/>
        </p:spPr>
      </p:sp>
      <p:sp>
        <p:nvSpPr>
          <p:cNvPr id="8" name="Text 4"/>
          <p:cNvSpPr/>
          <p:nvPr/>
        </p:nvSpPr>
        <p:spPr>
          <a:xfrm>
            <a:off x="1066800" y="2092961"/>
            <a:ext cx="5770274"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B14A"/>
                </a:solidFill>
                <a:latin typeface="IBM Plex Sans" pitchFamily="34" charset="0"/>
                <a:ea typeface="IBM Plex Sans" pitchFamily="34" charset="-122"/>
                <a:cs typeface="IBM Plex Sans" pitchFamily="34" charset="-120"/>
              </a:rPr>
              <a:t>VISION</a:t>
            </a:r>
            <a:endParaRPr lang="en-US" sz="1200" dirty="0"/>
          </a:p>
        </p:txBody>
      </p:sp>
      <p:sp>
        <p:nvSpPr>
          <p:cNvPr id="9" name="Text 5"/>
          <p:cNvSpPr/>
          <p:nvPr/>
        </p:nvSpPr>
        <p:spPr>
          <a:xfrm>
            <a:off x="1066800" y="2357120"/>
            <a:ext cx="5770274"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BFE"/>
                </a:solidFill>
                <a:latin typeface="IBM Plex Sans" pitchFamily="34" charset="0"/>
                <a:ea typeface="IBM Plex Sans" pitchFamily="34" charset="-122"/>
                <a:cs typeface="IBM Plex Sans" pitchFamily="34" charset="-120"/>
              </a:rPr>
              <a:t>Be the leader in IT infrastructure support and maintenance for internal customers, through dedicated service, self-discipline and teamwork.</a:t>
            </a:r>
            <a:endParaRPr lang="en-US" sz="1600" dirty="0"/>
          </a:p>
        </p:txBody>
      </p:sp>
      <p:sp>
        <p:nvSpPr>
          <p:cNvPr id="10" name="Text 6"/>
          <p:cNvSpPr/>
          <p:nvPr/>
        </p:nvSpPr>
        <p:spPr>
          <a:xfrm>
            <a:off x="1066800" y="3362961"/>
            <a:ext cx="5770274"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B14A"/>
                </a:solidFill>
                <a:latin typeface="IBM Plex Sans" pitchFamily="34" charset="0"/>
                <a:ea typeface="IBM Plex Sans" pitchFamily="34" charset="-122"/>
                <a:cs typeface="IBM Plex Sans" pitchFamily="34" charset="-120"/>
              </a:rPr>
              <a:t>MISSION</a:t>
            </a:r>
            <a:endParaRPr lang="en-US" sz="1200" dirty="0"/>
          </a:p>
        </p:txBody>
      </p:sp>
      <p:sp>
        <p:nvSpPr>
          <p:cNvPr id="11" name="Text 7"/>
          <p:cNvSpPr/>
          <p:nvPr/>
        </p:nvSpPr>
        <p:spPr>
          <a:xfrm>
            <a:off x="1066800" y="3627120"/>
            <a:ext cx="5770274"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BFE"/>
                </a:solidFill>
                <a:latin typeface="IBM Plex Sans" pitchFamily="34" charset="0"/>
                <a:ea typeface="IBM Plex Sans" pitchFamily="34" charset="-122"/>
                <a:cs typeface="IBM Plex Sans" pitchFamily="34" charset="-120"/>
              </a:rPr>
              <a:t>Be customer focused and deliver excellent IT infrastructure support for customer delight.</a:t>
            </a:r>
            <a:endParaRPr lang="en-US" sz="1600" dirty="0"/>
          </a:p>
        </p:txBody>
      </p:sp>
      <p:sp>
        <p:nvSpPr>
          <p:cNvPr id="12" name="Shape 8"/>
          <p:cNvSpPr/>
          <p:nvPr/>
        </p:nvSpPr>
        <p:spPr>
          <a:xfrm>
            <a:off x="7129383" y="1892936"/>
            <a:ext cx="4246642" cy="2503170"/>
          </a:xfrm>
          <a:prstGeom prst="roundRect">
            <a:avLst>
              <a:gd name="adj" fmla="val 3932"/>
            </a:avLst>
          </a:prstGeom>
          <a:solidFill>
            <a:srgbClr val="F7FBFE"/>
          </a:solidFill>
          <a:ln w="6350">
            <a:solidFill>
              <a:srgbClr val="B9D9F0"/>
            </a:solidFill>
            <a:prstDash val="solid"/>
          </a:ln>
        </p:spPr>
      </p:sp>
      <p:sp>
        <p:nvSpPr>
          <p:cNvPr id="13" name="Text 9"/>
          <p:cNvSpPr/>
          <p:nvPr/>
        </p:nvSpPr>
        <p:spPr>
          <a:xfrm>
            <a:off x="7385288" y="2098041"/>
            <a:ext cx="3846877"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VALUES</a:t>
            </a:r>
            <a:endParaRPr lang="en-US" sz="1200" dirty="0"/>
          </a:p>
        </p:txBody>
      </p:sp>
      <p:sp>
        <p:nvSpPr>
          <p:cNvPr id="14" name="Text 10"/>
          <p:cNvSpPr/>
          <p:nvPr/>
        </p:nvSpPr>
        <p:spPr>
          <a:xfrm>
            <a:off x="7442946" y="2362200"/>
            <a:ext cx="3781599" cy="1732280"/>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26384D"/>
                </a:solidFill>
                <a:latin typeface="IBM Plex Sans" pitchFamily="34" charset="0"/>
                <a:ea typeface="IBM Plex Sans" pitchFamily="34" charset="-122"/>
                <a:cs typeface="IBM Plex Sans" pitchFamily="34" charset="-120"/>
              </a:rPr>
              <a:t>Customers first</a:t>
            </a:r>
            <a:endParaRPr lang="en-US" sz="1600" dirty="0"/>
          </a:p>
          <a:p>
            <a:pPr algn="l" marL="196342" indent="-196342">
              <a:lnSpc>
                <a:spcPts val="2240"/>
              </a:lnSpc>
              <a:buSzPct val="100000"/>
              <a:buChar char="•"/>
            </a:pPr>
            <a:r>
              <a:rPr lang="en-US" sz="1600" dirty="0">
                <a:solidFill>
                  <a:srgbClr val="26384D"/>
                </a:solidFill>
                <a:latin typeface="IBM Plex Sans" pitchFamily="34" charset="0"/>
                <a:ea typeface="IBM Plex Sans" pitchFamily="34" charset="-122"/>
                <a:cs typeface="IBM Plex Sans" pitchFamily="34" charset="-120"/>
              </a:rPr>
              <a:t>Transparency, honesty and integrity</a:t>
            </a:r>
            <a:endParaRPr lang="en-US" sz="1600" dirty="0"/>
          </a:p>
          <a:p>
            <a:pPr algn="l" marL="196342" indent="-196342">
              <a:lnSpc>
                <a:spcPts val="2240"/>
              </a:lnSpc>
              <a:buSzPct val="100000"/>
              <a:buChar char="•"/>
            </a:pPr>
            <a:r>
              <a:rPr lang="en-US" sz="1600" dirty="0">
                <a:solidFill>
                  <a:srgbClr val="26384D"/>
                </a:solidFill>
                <a:latin typeface="IBM Plex Sans" pitchFamily="34" charset="0"/>
                <a:ea typeface="IBM Plex Sans" pitchFamily="34" charset="-122"/>
                <a:cs typeface="IBM Plex Sans" pitchFamily="34" charset="-120"/>
              </a:rPr>
              <a:t>Ethical business practices</a:t>
            </a:r>
            <a:endParaRPr lang="en-US" sz="1600" dirty="0"/>
          </a:p>
          <a:p>
            <a:pPr algn="l" marL="196342" indent="-196342">
              <a:lnSpc>
                <a:spcPts val="2240"/>
              </a:lnSpc>
              <a:buSzPct val="100000"/>
              <a:buChar char="•"/>
            </a:pPr>
            <a:r>
              <a:rPr lang="en-US" sz="1600" dirty="0">
                <a:solidFill>
                  <a:srgbClr val="26384D"/>
                </a:solidFill>
                <a:latin typeface="IBM Plex Sans" pitchFamily="34" charset="0"/>
                <a:ea typeface="IBM Plex Sans" pitchFamily="34" charset="-122"/>
                <a:cs typeface="IBM Plex Sans" pitchFamily="34" charset="-120"/>
              </a:rPr>
              <a:t>Striving for excellence</a:t>
            </a:r>
            <a:endParaRPr lang="en-US" sz="1600" dirty="0"/>
          </a:p>
          <a:p>
            <a:pPr algn="l" marL="196342" indent="-196342">
              <a:lnSpc>
                <a:spcPts val="2240"/>
              </a:lnSpc>
              <a:buSzPct val="100000"/>
              <a:buChar char="•"/>
            </a:pPr>
            <a:r>
              <a:rPr lang="en-US" sz="1600" dirty="0">
                <a:solidFill>
                  <a:srgbClr val="26384D"/>
                </a:solidFill>
                <a:latin typeface="IBM Plex Sans" pitchFamily="34" charset="0"/>
                <a:ea typeface="IBM Plex Sans" pitchFamily="34" charset="-122"/>
                <a:cs typeface="IBM Plex Sans" pitchFamily="34" charset="-120"/>
              </a:rPr>
              <a:t>Trust and respect for individuals</a:t>
            </a:r>
            <a:endParaRPr lang="en-US" sz="1600" dirty="0"/>
          </a:p>
          <a:p>
            <a:pPr algn="l" marL="196342" indent="-196342">
              <a:lnSpc>
                <a:spcPts val="2240"/>
              </a:lnSpc>
              <a:buSzPct val="100000"/>
              <a:buChar char="•"/>
            </a:pPr>
            <a:r>
              <a:rPr lang="en-US" sz="1600" dirty="0">
                <a:solidFill>
                  <a:srgbClr val="26384D"/>
                </a:solidFill>
                <a:latin typeface="IBM Plex Sans" pitchFamily="34" charset="0"/>
                <a:ea typeface="IBM Plex Sans" pitchFamily="34" charset="-122"/>
                <a:cs typeface="IBM Plex Sans" pitchFamily="34" charset="-120"/>
              </a:rPr>
              <a:t>Teamwork</a:t>
            </a:r>
            <a:endParaRPr lang="en-US" sz="1600" dirty="0"/>
          </a:p>
        </p:txBody>
      </p:sp>
      <p:sp>
        <p:nvSpPr>
          <p:cNvPr id="15" name="Shape 11"/>
          <p:cNvSpPr/>
          <p:nvPr/>
        </p:nvSpPr>
        <p:spPr>
          <a:xfrm>
            <a:off x="815975" y="4554855"/>
            <a:ext cx="3380264" cy="1029970"/>
          </a:xfrm>
          <a:prstGeom prst="roundRect">
            <a:avLst>
              <a:gd name="adj" fmla="val 9556"/>
            </a:avLst>
          </a:prstGeom>
          <a:solidFill>
            <a:srgbClr val="F7FBFE"/>
          </a:solidFill>
          <a:ln w="6350">
            <a:solidFill>
              <a:srgbClr val="B9D9F0"/>
            </a:solidFill>
            <a:prstDash val="solid"/>
          </a:ln>
        </p:spPr>
      </p:sp>
      <p:sp>
        <p:nvSpPr>
          <p:cNvPr id="16" name="Text 12"/>
          <p:cNvSpPr/>
          <p:nvPr/>
        </p:nvSpPr>
        <p:spPr>
          <a:xfrm>
            <a:off x="995680" y="4709161"/>
            <a:ext cx="311147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ISO/IEC 27001:2022</a:t>
            </a:r>
            <a:endParaRPr lang="en-US" sz="1600" dirty="0"/>
          </a:p>
        </p:txBody>
      </p:sp>
      <p:sp>
        <p:nvSpPr>
          <p:cNvPr id="17" name="Text 13"/>
          <p:cNvSpPr/>
          <p:nvPr/>
        </p:nvSpPr>
        <p:spPr>
          <a:xfrm>
            <a:off x="995680" y="5003800"/>
            <a:ext cx="311147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Ver 2.0, dated 16 May 2025. Valid from 16/12/2025 till 15/12/2028</a:t>
            </a:r>
            <a:endParaRPr lang="en-US" sz="1200" dirty="0"/>
          </a:p>
        </p:txBody>
      </p:sp>
      <p:sp>
        <p:nvSpPr>
          <p:cNvPr id="18" name="Shape 14"/>
          <p:cNvSpPr/>
          <p:nvPr/>
        </p:nvSpPr>
        <p:spPr>
          <a:xfrm>
            <a:off x="4405789" y="4554855"/>
            <a:ext cx="3380343" cy="1029970"/>
          </a:xfrm>
          <a:prstGeom prst="roundRect">
            <a:avLst>
              <a:gd name="adj" fmla="val 9556"/>
            </a:avLst>
          </a:prstGeom>
          <a:solidFill>
            <a:srgbClr val="F7FBFE"/>
          </a:solidFill>
          <a:ln w="6350">
            <a:solidFill>
              <a:srgbClr val="B9D9F0"/>
            </a:solidFill>
            <a:prstDash val="solid"/>
          </a:ln>
        </p:spPr>
      </p:sp>
      <p:sp>
        <p:nvSpPr>
          <p:cNvPr id="19" name="Text 15"/>
          <p:cNvSpPr/>
          <p:nvPr/>
        </p:nvSpPr>
        <p:spPr>
          <a:xfrm>
            <a:off x="4585494" y="4709161"/>
            <a:ext cx="311156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Protects information</a:t>
            </a:r>
            <a:endParaRPr lang="en-US" sz="1600" dirty="0"/>
          </a:p>
        </p:txBody>
      </p:sp>
      <p:sp>
        <p:nvSpPr>
          <p:cNvPr id="20" name="Text 16"/>
          <p:cNvSpPr/>
          <p:nvPr/>
        </p:nvSpPr>
        <p:spPr>
          <a:xfrm>
            <a:off x="4585494" y="5003800"/>
            <a:ext cx="3111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Confidentiality, integrity and availability</a:t>
            </a:r>
            <a:endParaRPr lang="en-US" sz="1200" dirty="0"/>
          </a:p>
        </p:txBody>
      </p:sp>
      <p:sp>
        <p:nvSpPr>
          <p:cNvPr id="21" name="Shape 17"/>
          <p:cNvSpPr/>
          <p:nvPr/>
        </p:nvSpPr>
        <p:spPr>
          <a:xfrm>
            <a:off x="7995682" y="4554855"/>
            <a:ext cx="3380343" cy="1029970"/>
          </a:xfrm>
          <a:prstGeom prst="roundRect">
            <a:avLst>
              <a:gd name="adj" fmla="val 9556"/>
            </a:avLst>
          </a:prstGeom>
          <a:solidFill>
            <a:srgbClr val="F7FBFE"/>
          </a:solidFill>
          <a:ln w="6350">
            <a:solidFill>
              <a:srgbClr val="B9D9F0"/>
            </a:solidFill>
            <a:prstDash val="solid"/>
          </a:ln>
        </p:spPr>
      </p:sp>
      <p:sp>
        <p:nvSpPr>
          <p:cNvPr id="22" name="Text 18"/>
          <p:cNvSpPr/>
          <p:nvPr/>
        </p:nvSpPr>
        <p:spPr>
          <a:xfrm>
            <a:off x="8175387" y="4709161"/>
            <a:ext cx="311156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Serves every SBU</a:t>
            </a:r>
            <a:endParaRPr lang="en-US" sz="1600" dirty="0"/>
          </a:p>
        </p:txBody>
      </p:sp>
      <p:sp>
        <p:nvSpPr>
          <p:cNvPr id="23" name="Text 19"/>
          <p:cNvSpPr/>
          <p:nvPr/>
        </p:nvSpPr>
        <p:spPr>
          <a:xfrm>
            <a:off x="8175387" y="5003800"/>
            <a:ext cx="311156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ERP support, IT assets and network for the Bangalore Complex</a:t>
            </a:r>
            <a:endParaRPr lang="en-US" sz="1200" dirty="0"/>
          </a:p>
        </p:txBody>
      </p:sp>
      <p:sp>
        <p:nvSpPr>
          <p:cNvPr id="24" name="Text 20"/>
          <p:cNvSpPr/>
          <p:nvPr/>
        </p:nvSpPr>
        <p:spPr>
          <a:xfrm>
            <a:off x="812800" y="6339841"/>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5" name="Text 21"/>
          <p:cNvSpPr/>
          <p:nvPr/>
        </p:nvSpPr>
        <p:spPr>
          <a:xfrm>
            <a:off x="10058400" y="63398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PC Maintenance: handling a complaint</a:t>
            </a:r>
            <a:endParaRPr lang="en-US" sz="3200" dirty="0"/>
          </a:p>
        </p:txBody>
      </p:sp>
      <p:sp>
        <p:nvSpPr>
          <p:cNvPr id="7" name="Text 3"/>
          <p:cNvSpPr/>
          <p:nvPr/>
        </p:nvSpPr>
        <p:spPr>
          <a:xfrm>
            <a:off x="812800" y="1838961"/>
            <a:ext cx="10566400" cy="629920"/>
          </a:xfrm>
          <a:prstGeom prst="roundRect">
            <a:avLst>
              <a:gd name="adj" fmla="val 12097"/>
            </a:avLst>
          </a:prstGeom>
          <a:solidFill>
            <a:srgbClr val="CFE6F7"/>
          </a:solidFill>
          <a:ln/>
        </p:spPr>
        <p:txBody>
          <a:bodyPr wrap="square" lIns="130082" tIns="79282" rIns="0" bIns="53882" rtlCol="0" anchor="t">
            <a:normAutofit/>
          </a:bodyPr>
          <a:lstStyle/>
          <a:p>
            <a:pPr algn="l" indent="0" marL="0">
              <a:lnSpc>
                <a:spcPts val="1680"/>
              </a:lnSpc>
              <a:buNone/>
            </a:pPr>
            <a:r>
              <a:rPr lang="en-US" sz="1200" b="1" dirty="0">
                <a:solidFill>
                  <a:srgbClr val="26384D"/>
                </a:solidFill>
                <a:latin typeface="IBM Plex Sans" pitchFamily="34" charset="0"/>
                <a:ea typeface="IBM Plex Sans" pitchFamily="34" charset="-122"/>
                <a:cs typeface="IBM Plex Sans" pitchFamily="34" charset="-120"/>
              </a:rPr>
              <a:t>PCM covers:</a:t>
            </a:r>
            <a:r>
              <a:rPr lang="en-US" sz="1200" dirty="0">
                <a:solidFill>
                  <a:srgbClr val="26384D"/>
                </a:solidFill>
                <a:latin typeface="IBM Plex Sans" pitchFamily="34" charset="0"/>
                <a:ea typeface="IBM Plex Sans" pitchFamily="34" charset="-122"/>
                <a:cs typeface="IBM Plex Sans" pitchFamily="34" charset="-120"/>
              </a:rPr>
              <a:t> help desk and field support, server maintenance, antivirus support, printers, workstations, thin clients, and hardware and software issues.</a:t>
            </a:r>
            <a:endParaRPr lang="en-US" sz="1200" dirty="0"/>
          </a:p>
        </p:txBody>
      </p:sp>
      <p:sp>
        <p:nvSpPr>
          <p:cNvPr id="8" name="Text 4"/>
          <p:cNvSpPr/>
          <p:nvPr/>
        </p:nvSpPr>
        <p:spPr>
          <a:xfrm>
            <a:off x="812800" y="2570480"/>
            <a:ext cx="304800" cy="3048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320"/>
              </a:lnSpc>
              <a:buNone/>
            </a:pPr>
            <a:r>
              <a:rPr lang="en-US" sz="1200" b="1" dirty="0">
                <a:solidFill>
                  <a:srgbClr val="F7FBFE"/>
                </a:solidFill>
                <a:latin typeface="IBM Plex Sans" pitchFamily="34" charset="0"/>
                <a:ea typeface="IBM Plex Sans" pitchFamily="34" charset="-122"/>
                <a:cs typeface="IBM Plex Sans" pitchFamily="34" charset="-120"/>
              </a:rPr>
              <a:t>1</a:t>
            </a:r>
            <a:endParaRPr lang="en-US" sz="1200" dirty="0"/>
          </a:p>
        </p:txBody>
      </p:sp>
      <p:sp>
        <p:nvSpPr>
          <p:cNvPr id="9" name="Text 5"/>
          <p:cNvSpPr/>
          <p:nvPr/>
        </p:nvSpPr>
        <p:spPr>
          <a:xfrm>
            <a:off x="812800" y="2926080"/>
            <a:ext cx="1557814"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B2E5C"/>
                </a:solidFill>
                <a:latin typeface="IBM Plex Sans" pitchFamily="34" charset="0"/>
                <a:ea typeface="IBM Plex Sans" pitchFamily="34" charset="-122"/>
                <a:cs typeface="IBM Plex Sans" pitchFamily="34" charset="-120"/>
              </a:rPr>
              <a:t>Call received</a:t>
            </a:r>
            <a:endParaRPr lang="en-US" sz="1200" dirty="0"/>
          </a:p>
        </p:txBody>
      </p:sp>
      <p:sp>
        <p:nvSpPr>
          <p:cNvPr id="10" name="Text 6"/>
          <p:cNvSpPr/>
          <p:nvPr/>
        </p:nvSpPr>
        <p:spPr>
          <a:xfrm>
            <a:off x="812800" y="3159761"/>
            <a:ext cx="155781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User calls the help desk</a:t>
            </a:r>
            <a:endParaRPr lang="en-US" sz="1200" dirty="0"/>
          </a:p>
        </p:txBody>
      </p:sp>
      <p:pic>
        <p:nvPicPr>
          <p:cNvPr id="11" name="Image 2" descr="arrow-right">    </p:cNvPr>
          <p:cNvPicPr>
            <a:picLocks noChangeAspect="1"/>
          </p:cNvPicPr>
          <p:nvPr/>
        </p:nvPicPr>
        <p:blipFill>
          <a:blip r:embed="rId3"/>
          <a:srcRect l="0" r="0" t="0" b="0"/>
          <a:stretch/>
        </p:blipFill>
        <p:spPr>
          <a:xfrm>
            <a:off x="2370614" y="2621280"/>
            <a:ext cx="203200" cy="152400"/>
          </a:xfrm>
          <a:prstGeom prst="rect">
            <a:avLst/>
          </a:prstGeom>
        </p:spPr>
      </p:pic>
      <p:sp>
        <p:nvSpPr>
          <p:cNvPr id="12" name="Text 7"/>
          <p:cNvSpPr/>
          <p:nvPr/>
        </p:nvSpPr>
        <p:spPr>
          <a:xfrm>
            <a:off x="2624614" y="2570480"/>
            <a:ext cx="304800" cy="3048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320"/>
              </a:lnSpc>
              <a:buNone/>
            </a:pPr>
            <a:r>
              <a:rPr lang="en-US" sz="1200" b="1" dirty="0">
                <a:solidFill>
                  <a:srgbClr val="F7FBFE"/>
                </a:solidFill>
                <a:latin typeface="IBM Plex Sans" pitchFamily="34" charset="0"/>
                <a:ea typeface="IBM Plex Sans" pitchFamily="34" charset="-122"/>
                <a:cs typeface="IBM Plex Sans" pitchFamily="34" charset="-120"/>
              </a:rPr>
              <a:t>2</a:t>
            </a:r>
            <a:endParaRPr lang="en-US" sz="1200" dirty="0"/>
          </a:p>
        </p:txBody>
      </p:sp>
      <p:sp>
        <p:nvSpPr>
          <p:cNvPr id="13" name="Text 8"/>
          <p:cNvSpPr/>
          <p:nvPr/>
        </p:nvSpPr>
        <p:spPr>
          <a:xfrm>
            <a:off x="2624614" y="2926080"/>
            <a:ext cx="1557893"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B2E5C"/>
                </a:solidFill>
                <a:latin typeface="IBM Plex Sans" pitchFamily="34" charset="0"/>
                <a:ea typeface="IBM Plex Sans" pitchFamily="34" charset="-122"/>
                <a:cs typeface="IBM Plex Sans" pitchFamily="34" charset="-120"/>
              </a:rPr>
              <a:t>Ticket raised</a:t>
            </a:r>
            <a:endParaRPr lang="en-US" sz="1200" dirty="0"/>
          </a:p>
        </p:txBody>
      </p:sp>
      <p:sp>
        <p:nvSpPr>
          <p:cNvPr id="14" name="Text 9"/>
          <p:cNvSpPr/>
          <p:nvPr/>
        </p:nvSpPr>
        <p:spPr>
          <a:xfrm>
            <a:off x="2624614" y="3159761"/>
            <a:ext cx="155789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Staff no., name and department noted</a:t>
            </a:r>
            <a:endParaRPr lang="en-US" sz="1200" dirty="0"/>
          </a:p>
        </p:txBody>
      </p:sp>
      <p:pic>
        <p:nvPicPr>
          <p:cNvPr id="15" name="Image 3" descr="arrow-right">    </p:cNvPr>
          <p:cNvPicPr>
            <a:picLocks noChangeAspect="1"/>
          </p:cNvPicPr>
          <p:nvPr/>
        </p:nvPicPr>
        <p:blipFill>
          <a:blip r:embed="rId4"/>
          <a:srcRect l="0" r="0" t="0" b="0"/>
          <a:stretch/>
        </p:blipFill>
        <p:spPr>
          <a:xfrm>
            <a:off x="4182507" y="2621280"/>
            <a:ext cx="203200" cy="152400"/>
          </a:xfrm>
          <a:prstGeom prst="rect">
            <a:avLst/>
          </a:prstGeom>
        </p:spPr>
      </p:pic>
      <p:sp>
        <p:nvSpPr>
          <p:cNvPr id="16" name="Text 10"/>
          <p:cNvSpPr/>
          <p:nvPr/>
        </p:nvSpPr>
        <p:spPr>
          <a:xfrm>
            <a:off x="4436507" y="2570480"/>
            <a:ext cx="304800" cy="3048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320"/>
              </a:lnSpc>
              <a:buNone/>
            </a:pPr>
            <a:r>
              <a:rPr lang="en-US" sz="1200" b="1" dirty="0">
                <a:solidFill>
                  <a:srgbClr val="F7FBFE"/>
                </a:solidFill>
                <a:latin typeface="IBM Plex Sans" pitchFamily="34" charset="0"/>
                <a:ea typeface="IBM Plex Sans" pitchFamily="34" charset="-122"/>
                <a:cs typeface="IBM Plex Sans" pitchFamily="34" charset="-120"/>
              </a:rPr>
              <a:t>3</a:t>
            </a:r>
            <a:endParaRPr lang="en-US" sz="1200" dirty="0"/>
          </a:p>
        </p:txBody>
      </p:sp>
      <p:sp>
        <p:nvSpPr>
          <p:cNvPr id="17" name="Text 11"/>
          <p:cNvSpPr/>
          <p:nvPr/>
        </p:nvSpPr>
        <p:spPr>
          <a:xfrm>
            <a:off x="4436507" y="2926080"/>
            <a:ext cx="1557814"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B2E5C"/>
                </a:solidFill>
                <a:latin typeface="IBM Plex Sans" pitchFamily="34" charset="0"/>
                <a:ea typeface="IBM Plex Sans" pitchFamily="34" charset="-122"/>
                <a:cs typeface="IBM Plex Sans" pitchFamily="34" charset="-120"/>
              </a:rPr>
              <a:t>Remote fix</a:t>
            </a:r>
            <a:endParaRPr lang="en-US" sz="1200" dirty="0"/>
          </a:p>
        </p:txBody>
      </p:sp>
      <p:sp>
        <p:nvSpPr>
          <p:cNvPr id="18" name="Text 12"/>
          <p:cNvSpPr/>
          <p:nvPr/>
        </p:nvSpPr>
        <p:spPr>
          <a:xfrm>
            <a:off x="4436507" y="3159761"/>
            <a:ext cx="155781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Remote access tried for software issues</a:t>
            </a:r>
            <a:endParaRPr lang="en-US" sz="1200" dirty="0"/>
          </a:p>
        </p:txBody>
      </p:sp>
      <p:pic>
        <p:nvPicPr>
          <p:cNvPr id="19" name="Image 4" descr="arrow-right">    </p:cNvPr>
          <p:cNvPicPr>
            <a:picLocks noChangeAspect="1"/>
          </p:cNvPicPr>
          <p:nvPr/>
        </p:nvPicPr>
        <p:blipFill>
          <a:blip r:embed="rId5"/>
          <a:srcRect l="0" r="0" t="0" b="0"/>
          <a:stretch/>
        </p:blipFill>
        <p:spPr>
          <a:xfrm>
            <a:off x="5994321" y="2621280"/>
            <a:ext cx="203200" cy="152400"/>
          </a:xfrm>
          <a:prstGeom prst="rect">
            <a:avLst/>
          </a:prstGeom>
        </p:spPr>
      </p:pic>
      <p:sp>
        <p:nvSpPr>
          <p:cNvPr id="20" name="Text 13"/>
          <p:cNvSpPr/>
          <p:nvPr/>
        </p:nvSpPr>
        <p:spPr>
          <a:xfrm>
            <a:off x="6248321" y="2570480"/>
            <a:ext cx="304800" cy="3048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320"/>
              </a:lnSpc>
              <a:buNone/>
            </a:pPr>
            <a:r>
              <a:rPr lang="en-US" sz="1200" b="1" dirty="0">
                <a:solidFill>
                  <a:srgbClr val="F7FBFE"/>
                </a:solidFill>
                <a:latin typeface="IBM Plex Sans" pitchFamily="34" charset="0"/>
                <a:ea typeface="IBM Plex Sans" pitchFamily="34" charset="-122"/>
                <a:cs typeface="IBM Plex Sans" pitchFamily="34" charset="-120"/>
              </a:rPr>
              <a:t>4</a:t>
            </a:r>
            <a:endParaRPr lang="en-US" sz="1200" dirty="0"/>
          </a:p>
        </p:txBody>
      </p:sp>
      <p:sp>
        <p:nvSpPr>
          <p:cNvPr id="21" name="Text 14"/>
          <p:cNvSpPr/>
          <p:nvPr/>
        </p:nvSpPr>
        <p:spPr>
          <a:xfrm>
            <a:off x="6248321" y="2926080"/>
            <a:ext cx="1557893"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B2E5C"/>
                </a:solidFill>
                <a:latin typeface="IBM Plex Sans" pitchFamily="34" charset="0"/>
                <a:ea typeface="IBM Plex Sans" pitchFamily="34" charset="-122"/>
                <a:cs typeface="IBM Plex Sans" pitchFamily="34" charset="-120"/>
              </a:rPr>
              <a:t>Experts</a:t>
            </a:r>
            <a:endParaRPr lang="en-US" sz="1200" dirty="0"/>
          </a:p>
        </p:txBody>
      </p:sp>
      <p:sp>
        <p:nvSpPr>
          <p:cNvPr id="22" name="Text 15"/>
          <p:cNvSpPr/>
          <p:nvPr/>
        </p:nvSpPr>
        <p:spPr>
          <a:xfrm>
            <a:off x="6248321" y="3159761"/>
            <a:ext cx="155789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Escalated if not resolved</a:t>
            </a:r>
            <a:endParaRPr lang="en-US" sz="1200" dirty="0"/>
          </a:p>
        </p:txBody>
      </p:sp>
      <p:pic>
        <p:nvPicPr>
          <p:cNvPr id="23" name="Image 5" descr="arrow-right">    </p:cNvPr>
          <p:cNvPicPr>
            <a:picLocks noChangeAspect="1"/>
          </p:cNvPicPr>
          <p:nvPr/>
        </p:nvPicPr>
        <p:blipFill>
          <a:blip r:embed="rId6"/>
          <a:srcRect l="0" r="0" t="0" b="0"/>
          <a:stretch/>
        </p:blipFill>
        <p:spPr>
          <a:xfrm>
            <a:off x="7806214" y="2621280"/>
            <a:ext cx="203200" cy="152400"/>
          </a:xfrm>
          <a:prstGeom prst="rect">
            <a:avLst/>
          </a:prstGeom>
        </p:spPr>
      </p:pic>
      <p:sp>
        <p:nvSpPr>
          <p:cNvPr id="24" name="Text 16"/>
          <p:cNvSpPr/>
          <p:nvPr/>
        </p:nvSpPr>
        <p:spPr>
          <a:xfrm>
            <a:off x="8060214" y="2570480"/>
            <a:ext cx="304800" cy="3048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320"/>
              </a:lnSpc>
              <a:buNone/>
            </a:pPr>
            <a:r>
              <a:rPr lang="en-US" sz="1200" b="1" dirty="0">
                <a:solidFill>
                  <a:srgbClr val="F7FBFE"/>
                </a:solidFill>
                <a:latin typeface="IBM Plex Sans" pitchFamily="34" charset="0"/>
                <a:ea typeface="IBM Plex Sans" pitchFamily="34" charset="-122"/>
                <a:cs typeface="IBM Plex Sans" pitchFamily="34" charset="-120"/>
              </a:rPr>
              <a:t>5</a:t>
            </a:r>
            <a:endParaRPr lang="en-US" sz="1200" dirty="0"/>
          </a:p>
        </p:txBody>
      </p:sp>
      <p:sp>
        <p:nvSpPr>
          <p:cNvPr id="25" name="Text 17"/>
          <p:cNvSpPr/>
          <p:nvPr/>
        </p:nvSpPr>
        <p:spPr>
          <a:xfrm>
            <a:off x="8060214" y="2926080"/>
            <a:ext cx="1557893"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B2E5C"/>
                </a:solidFill>
                <a:latin typeface="IBM Plex Sans" pitchFamily="34" charset="0"/>
                <a:ea typeface="IBM Plex Sans" pitchFamily="34" charset="-122"/>
                <a:cs typeface="IBM Plex Sans" pitchFamily="34" charset="-120"/>
              </a:rPr>
              <a:t>Zone engineer</a:t>
            </a:r>
            <a:endParaRPr lang="en-US" sz="1200" dirty="0"/>
          </a:p>
        </p:txBody>
      </p:sp>
      <p:sp>
        <p:nvSpPr>
          <p:cNvPr id="26" name="Text 18"/>
          <p:cNvSpPr/>
          <p:nvPr/>
        </p:nvSpPr>
        <p:spPr>
          <a:xfrm>
            <a:off x="8060214" y="3159761"/>
            <a:ext cx="155789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On-site visit for physical or hardware issues</a:t>
            </a:r>
            <a:endParaRPr lang="en-US" sz="1200" dirty="0"/>
          </a:p>
        </p:txBody>
      </p:sp>
      <p:pic>
        <p:nvPicPr>
          <p:cNvPr id="27" name="Image 6" descr="arrow-right">    </p:cNvPr>
          <p:cNvPicPr>
            <a:picLocks noChangeAspect="1"/>
          </p:cNvPicPr>
          <p:nvPr/>
        </p:nvPicPr>
        <p:blipFill>
          <a:blip r:embed="rId7"/>
          <a:srcRect l="0" r="0" t="0" b="0"/>
          <a:stretch/>
        </p:blipFill>
        <p:spPr>
          <a:xfrm>
            <a:off x="9618107" y="2621280"/>
            <a:ext cx="203200" cy="152400"/>
          </a:xfrm>
          <a:prstGeom prst="rect">
            <a:avLst/>
          </a:prstGeom>
        </p:spPr>
      </p:pic>
      <p:sp>
        <p:nvSpPr>
          <p:cNvPr id="28" name="Text 19"/>
          <p:cNvSpPr/>
          <p:nvPr/>
        </p:nvSpPr>
        <p:spPr>
          <a:xfrm>
            <a:off x="9872107" y="2570480"/>
            <a:ext cx="304800" cy="304800"/>
          </a:xfrm>
          <a:prstGeom prst="roundRect">
            <a:avLst>
              <a:gd name="adj" fmla="val 50000"/>
            </a:avLst>
          </a:prstGeom>
          <a:solidFill>
            <a:srgbClr val="0B2E5C"/>
          </a:solidFill>
          <a:ln/>
        </p:spPr>
        <p:txBody>
          <a:bodyPr wrap="square" lIns="0" tIns="0" rIns="0" bIns="0" rtlCol="0" anchor="ctr">
            <a:normAutofit/>
          </a:bodyPr>
          <a:lstStyle/>
          <a:p>
            <a:pPr algn="ctr" indent="0" marL="0">
              <a:lnSpc>
                <a:spcPts val="1320"/>
              </a:lnSpc>
              <a:buNone/>
            </a:pPr>
            <a:r>
              <a:rPr lang="en-US" sz="1200" b="1" dirty="0">
                <a:solidFill>
                  <a:srgbClr val="F7FBFE"/>
                </a:solidFill>
                <a:latin typeface="IBM Plex Sans" pitchFamily="34" charset="0"/>
                <a:ea typeface="IBM Plex Sans" pitchFamily="34" charset="-122"/>
                <a:cs typeface="IBM Plex Sans" pitchFamily="34" charset="-120"/>
              </a:rPr>
              <a:t>6</a:t>
            </a:r>
            <a:endParaRPr lang="en-US" sz="1200" dirty="0"/>
          </a:p>
        </p:txBody>
      </p:sp>
      <p:sp>
        <p:nvSpPr>
          <p:cNvPr id="29" name="Text 20"/>
          <p:cNvSpPr/>
          <p:nvPr/>
        </p:nvSpPr>
        <p:spPr>
          <a:xfrm>
            <a:off x="9872107" y="2926080"/>
            <a:ext cx="1557893"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B2E5C"/>
                </a:solidFill>
                <a:latin typeface="IBM Plex Sans" pitchFamily="34" charset="0"/>
                <a:ea typeface="IBM Plex Sans" pitchFamily="34" charset="-122"/>
                <a:cs typeface="IBM Plex Sans" pitchFamily="34" charset="-120"/>
              </a:rPr>
              <a:t>Ticket closed</a:t>
            </a:r>
            <a:endParaRPr lang="en-US" sz="1200" dirty="0"/>
          </a:p>
        </p:txBody>
      </p:sp>
      <p:sp>
        <p:nvSpPr>
          <p:cNvPr id="30" name="Text 21"/>
          <p:cNvSpPr/>
          <p:nvPr/>
        </p:nvSpPr>
        <p:spPr>
          <a:xfrm>
            <a:off x="9872107" y="3159761"/>
            <a:ext cx="155789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Issue resolved and recorded</a:t>
            </a:r>
            <a:endParaRPr lang="en-US" sz="1200" dirty="0"/>
          </a:p>
        </p:txBody>
      </p:sp>
      <p:sp>
        <p:nvSpPr>
          <p:cNvPr id="31" name="Shape 22"/>
          <p:cNvSpPr/>
          <p:nvPr/>
        </p:nvSpPr>
        <p:spPr>
          <a:xfrm>
            <a:off x="812800" y="3901441"/>
            <a:ext cx="10566400" cy="772160"/>
          </a:xfrm>
          <a:prstGeom prst="roundRect">
            <a:avLst>
              <a:gd name="adj" fmla="val 13158"/>
            </a:avLst>
          </a:prstGeom>
          <a:solidFill>
            <a:srgbClr val="CFE6F7"/>
          </a:solidFill>
          <a:ln/>
        </p:spPr>
      </p:sp>
      <p:sp>
        <p:nvSpPr>
          <p:cNvPr id="32" name="Text 23"/>
          <p:cNvSpPr/>
          <p:nvPr/>
        </p:nvSpPr>
        <p:spPr>
          <a:xfrm>
            <a:off x="1066800" y="4064000"/>
            <a:ext cx="585216"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B5FB0"/>
                </a:solidFill>
                <a:latin typeface="IBM Plex Sans" pitchFamily="34" charset="0"/>
                <a:ea typeface="IBM Plex Sans" pitchFamily="34" charset="-122"/>
                <a:cs typeface="IBM Plex Sans" pitchFamily="34" charset="-120"/>
              </a:rPr>
              <a:t>12</a:t>
            </a:r>
            <a:endParaRPr lang="en-US" sz="3200" dirty="0"/>
          </a:p>
        </p:txBody>
      </p:sp>
      <p:sp>
        <p:nvSpPr>
          <p:cNvPr id="33" name="Text 24"/>
          <p:cNvSpPr/>
          <p:nvPr/>
        </p:nvSpPr>
        <p:spPr>
          <a:xfrm>
            <a:off x="1757680" y="4003041"/>
            <a:ext cx="9648546"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zone engineers, each covering 5 to 10 departments (one zone). Hardware issues go straight to the zone engineer.</a:t>
            </a:r>
            <a:endParaRPr lang="en-US" sz="1600" dirty="0"/>
          </a:p>
        </p:txBody>
      </p:sp>
      <p:sp>
        <p:nvSpPr>
          <p:cNvPr id="34" name="Text 25"/>
          <p:cNvSpPr/>
          <p:nvPr/>
        </p:nvSpPr>
        <p:spPr>
          <a:xfrm>
            <a:off x="812800" y="4775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16 SBUS ACROSS THE 12 ZONES (SAMPLE DATA)</a:t>
            </a:r>
            <a:endParaRPr lang="en-US" sz="1200" dirty="0"/>
          </a:p>
        </p:txBody>
      </p:sp>
      <p:sp>
        <p:nvSpPr>
          <p:cNvPr id="35" name="Shape 26"/>
          <p:cNvSpPr/>
          <p:nvPr/>
        </p:nvSpPr>
        <p:spPr>
          <a:xfrm>
            <a:off x="815975" y="5042536"/>
            <a:ext cx="827564" cy="745490"/>
          </a:xfrm>
          <a:prstGeom prst="roundRect">
            <a:avLst>
              <a:gd name="adj" fmla="val 8092"/>
            </a:avLst>
          </a:prstGeom>
          <a:solidFill>
            <a:srgbClr val="F7FBFE"/>
          </a:solidFill>
          <a:ln w="6350">
            <a:solidFill>
              <a:srgbClr val="B9D9F0"/>
            </a:solidFill>
            <a:prstDash val="solid"/>
          </a:ln>
        </p:spPr>
      </p:sp>
      <p:sp>
        <p:nvSpPr>
          <p:cNvPr id="36" name="Text 27"/>
          <p:cNvSpPr/>
          <p:nvPr/>
        </p:nvSpPr>
        <p:spPr>
          <a:xfrm>
            <a:off x="942681" y="5095241"/>
            <a:ext cx="574072"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1</a:t>
            </a:r>
            <a:endParaRPr lang="en-US" sz="1200" dirty="0"/>
          </a:p>
        </p:txBody>
      </p:sp>
      <p:sp>
        <p:nvSpPr>
          <p:cNvPr id="37" name="Text 28"/>
          <p:cNvSpPr/>
          <p:nvPr/>
        </p:nvSpPr>
        <p:spPr>
          <a:xfrm>
            <a:off x="867148" y="5308600"/>
            <a:ext cx="72513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A, B</a:t>
            </a:r>
            <a:endParaRPr lang="en-US" sz="1200" dirty="0"/>
          </a:p>
        </p:txBody>
      </p:sp>
      <p:sp>
        <p:nvSpPr>
          <p:cNvPr id="38" name="Text 29"/>
          <p:cNvSpPr/>
          <p:nvPr/>
        </p:nvSpPr>
        <p:spPr>
          <a:xfrm>
            <a:off x="920956" y="5521961"/>
            <a:ext cx="6176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8 depts</a:t>
            </a:r>
            <a:endParaRPr lang="en-US" sz="1200" dirty="0"/>
          </a:p>
        </p:txBody>
      </p:sp>
      <p:sp>
        <p:nvSpPr>
          <p:cNvPr id="39" name="Shape 30"/>
          <p:cNvSpPr/>
          <p:nvPr/>
        </p:nvSpPr>
        <p:spPr>
          <a:xfrm>
            <a:off x="1700689" y="5042536"/>
            <a:ext cx="827643" cy="745490"/>
          </a:xfrm>
          <a:prstGeom prst="roundRect">
            <a:avLst>
              <a:gd name="adj" fmla="val 8092"/>
            </a:avLst>
          </a:prstGeom>
          <a:solidFill>
            <a:srgbClr val="F7FBFE"/>
          </a:solidFill>
          <a:ln w="6350">
            <a:solidFill>
              <a:srgbClr val="B9D9F0"/>
            </a:solidFill>
            <a:prstDash val="solid"/>
          </a:ln>
        </p:spPr>
      </p:sp>
      <p:sp>
        <p:nvSpPr>
          <p:cNvPr id="40" name="Text 31"/>
          <p:cNvSpPr/>
          <p:nvPr/>
        </p:nvSpPr>
        <p:spPr>
          <a:xfrm>
            <a:off x="1827475" y="5095241"/>
            <a:ext cx="574072"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2</a:t>
            </a:r>
            <a:endParaRPr lang="en-US" sz="1200" dirty="0"/>
          </a:p>
        </p:txBody>
      </p:sp>
      <p:sp>
        <p:nvSpPr>
          <p:cNvPr id="41" name="Text 32"/>
          <p:cNvSpPr/>
          <p:nvPr/>
        </p:nvSpPr>
        <p:spPr>
          <a:xfrm>
            <a:off x="1753465" y="5308600"/>
            <a:ext cx="72209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C, D</a:t>
            </a:r>
            <a:endParaRPr lang="en-US" sz="1200" dirty="0"/>
          </a:p>
        </p:txBody>
      </p:sp>
      <p:sp>
        <p:nvSpPr>
          <p:cNvPr id="42" name="Text 33"/>
          <p:cNvSpPr/>
          <p:nvPr/>
        </p:nvSpPr>
        <p:spPr>
          <a:xfrm>
            <a:off x="1805670" y="5521961"/>
            <a:ext cx="6176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7 depts</a:t>
            </a:r>
            <a:endParaRPr lang="en-US" sz="1200" dirty="0"/>
          </a:p>
        </p:txBody>
      </p:sp>
      <p:sp>
        <p:nvSpPr>
          <p:cNvPr id="43" name="Shape 34"/>
          <p:cNvSpPr/>
          <p:nvPr/>
        </p:nvSpPr>
        <p:spPr>
          <a:xfrm>
            <a:off x="2585482" y="5042536"/>
            <a:ext cx="827564" cy="745490"/>
          </a:xfrm>
          <a:prstGeom prst="roundRect">
            <a:avLst>
              <a:gd name="adj" fmla="val 8092"/>
            </a:avLst>
          </a:prstGeom>
          <a:solidFill>
            <a:srgbClr val="F7FBFE"/>
          </a:solidFill>
          <a:ln w="6350">
            <a:solidFill>
              <a:srgbClr val="B9D9F0"/>
            </a:solidFill>
            <a:prstDash val="solid"/>
          </a:ln>
        </p:spPr>
      </p:sp>
      <p:sp>
        <p:nvSpPr>
          <p:cNvPr id="44" name="Text 35"/>
          <p:cNvSpPr/>
          <p:nvPr/>
        </p:nvSpPr>
        <p:spPr>
          <a:xfrm>
            <a:off x="2712188" y="5095241"/>
            <a:ext cx="574072"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3</a:t>
            </a:r>
            <a:endParaRPr lang="en-US" sz="1200" dirty="0"/>
          </a:p>
        </p:txBody>
      </p:sp>
      <p:sp>
        <p:nvSpPr>
          <p:cNvPr id="45" name="Text 36"/>
          <p:cNvSpPr/>
          <p:nvPr/>
        </p:nvSpPr>
        <p:spPr>
          <a:xfrm>
            <a:off x="2651895" y="5308600"/>
            <a:ext cx="69465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E, F</a:t>
            </a:r>
            <a:endParaRPr lang="en-US" sz="1200" dirty="0"/>
          </a:p>
        </p:txBody>
      </p:sp>
      <p:sp>
        <p:nvSpPr>
          <p:cNvPr id="46" name="Text 37"/>
          <p:cNvSpPr/>
          <p:nvPr/>
        </p:nvSpPr>
        <p:spPr>
          <a:xfrm>
            <a:off x="2690463" y="5521961"/>
            <a:ext cx="6176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6 depts</a:t>
            </a:r>
            <a:endParaRPr lang="en-US" sz="1200" dirty="0"/>
          </a:p>
        </p:txBody>
      </p:sp>
      <p:sp>
        <p:nvSpPr>
          <p:cNvPr id="47" name="Shape 38"/>
          <p:cNvSpPr/>
          <p:nvPr/>
        </p:nvSpPr>
        <p:spPr>
          <a:xfrm>
            <a:off x="3470196" y="5042536"/>
            <a:ext cx="827643" cy="745490"/>
          </a:xfrm>
          <a:prstGeom prst="roundRect">
            <a:avLst>
              <a:gd name="adj" fmla="val 8092"/>
            </a:avLst>
          </a:prstGeom>
          <a:solidFill>
            <a:srgbClr val="F7FBFE"/>
          </a:solidFill>
          <a:ln w="6350">
            <a:solidFill>
              <a:srgbClr val="B9D9F0"/>
            </a:solidFill>
            <a:prstDash val="solid"/>
          </a:ln>
        </p:spPr>
      </p:sp>
      <p:sp>
        <p:nvSpPr>
          <p:cNvPr id="48" name="Text 39"/>
          <p:cNvSpPr/>
          <p:nvPr/>
        </p:nvSpPr>
        <p:spPr>
          <a:xfrm>
            <a:off x="3596981" y="5095241"/>
            <a:ext cx="574072"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4</a:t>
            </a:r>
            <a:endParaRPr lang="en-US" sz="1200" dirty="0"/>
          </a:p>
        </p:txBody>
      </p:sp>
      <p:sp>
        <p:nvSpPr>
          <p:cNvPr id="49" name="Text 40"/>
          <p:cNvSpPr/>
          <p:nvPr/>
        </p:nvSpPr>
        <p:spPr>
          <a:xfrm>
            <a:off x="3512884" y="5308600"/>
            <a:ext cx="74218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G, H</a:t>
            </a:r>
            <a:endParaRPr lang="en-US" sz="1200" dirty="0"/>
          </a:p>
        </p:txBody>
      </p:sp>
      <p:sp>
        <p:nvSpPr>
          <p:cNvPr id="50" name="Text 41"/>
          <p:cNvSpPr/>
          <p:nvPr/>
        </p:nvSpPr>
        <p:spPr>
          <a:xfrm>
            <a:off x="3575177" y="5521961"/>
            <a:ext cx="6176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9 depts</a:t>
            </a:r>
            <a:endParaRPr lang="en-US" sz="1200" dirty="0"/>
          </a:p>
        </p:txBody>
      </p:sp>
      <p:sp>
        <p:nvSpPr>
          <p:cNvPr id="51" name="Shape 42"/>
          <p:cNvSpPr/>
          <p:nvPr/>
        </p:nvSpPr>
        <p:spPr>
          <a:xfrm>
            <a:off x="4354989" y="5042536"/>
            <a:ext cx="827564" cy="745490"/>
          </a:xfrm>
          <a:prstGeom prst="roundRect">
            <a:avLst>
              <a:gd name="adj" fmla="val 8092"/>
            </a:avLst>
          </a:prstGeom>
          <a:solidFill>
            <a:srgbClr val="F7FBFE"/>
          </a:solidFill>
          <a:ln w="6350">
            <a:solidFill>
              <a:srgbClr val="B9D9F0"/>
            </a:solidFill>
            <a:prstDash val="solid"/>
          </a:ln>
        </p:spPr>
      </p:sp>
      <p:sp>
        <p:nvSpPr>
          <p:cNvPr id="52" name="Text 43"/>
          <p:cNvSpPr/>
          <p:nvPr/>
        </p:nvSpPr>
        <p:spPr>
          <a:xfrm>
            <a:off x="4481695" y="5095241"/>
            <a:ext cx="574072"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5</a:t>
            </a:r>
            <a:endParaRPr lang="en-US" sz="1200" dirty="0"/>
          </a:p>
        </p:txBody>
      </p:sp>
      <p:sp>
        <p:nvSpPr>
          <p:cNvPr id="53" name="Text 44"/>
          <p:cNvSpPr/>
          <p:nvPr/>
        </p:nvSpPr>
        <p:spPr>
          <a:xfrm>
            <a:off x="4535702" y="5308600"/>
            <a:ext cx="46605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I</a:t>
            </a:r>
            <a:endParaRPr lang="en-US" sz="1200" dirty="0"/>
          </a:p>
        </p:txBody>
      </p:sp>
      <p:sp>
        <p:nvSpPr>
          <p:cNvPr id="54" name="Text 45"/>
          <p:cNvSpPr/>
          <p:nvPr/>
        </p:nvSpPr>
        <p:spPr>
          <a:xfrm>
            <a:off x="4459970" y="5521961"/>
            <a:ext cx="6176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7 depts</a:t>
            </a:r>
            <a:endParaRPr lang="en-US" sz="1200" dirty="0"/>
          </a:p>
        </p:txBody>
      </p:sp>
      <p:sp>
        <p:nvSpPr>
          <p:cNvPr id="55" name="Shape 46"/>
          <p:cNvSpPr/>
          <p:nvPr/>
        </p:nvSpPr>
        <p:spPr>
          <a:xfrm>
            <a:off x="5239703" y="5042536"/>
            <a:ext cx="827643" cy="745490"/>
          </a:xfrm>
          <a:prstGeom prst="roundRect">
            <a:avLst>
              <a:gd name="adj" fmla="val 8092"/>
            </a:avLst>
          </a:prstGeom>
          <a:solidFill>
            <a:srgbClr val="F7FBFE"/>
          </a:solidFill>
          <a:ln w="6350">
            <a:solidFill>
              <a:srgbClr val="B9D9F0"/>
            </a:solidFill>
            <a:prstDash val="solid"/>
          </a:ln>
        </p:spPr>
      </p:sp>
      <p:sp>
        <p:nvSpPr>
          <p:cNvPr id="56" name="Text 47"/>
          <p:cNvSpPr/>
          <p:nvPr/>
        </p:nvSpPr>
        <p:spPr>
          <a:xfrm>
            <a:off x="5366488" y="5095241"/>
            <a:ext cx="574072"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6</a:t>
            </a:r>
            <a:endParaRPr lang="en-US" sz="1200" dirty="0"/>
          </a:p>
        </p:txBody>
      </p:sp>
      <p:sp>
        <p:nvSpPr>
          <p:cNvPr id="57" name="Text 48"/>
          <p:cNvSpPr/>
          <p:nvPr/>
        </p:nvSpPr>
        <p:spPr>
          <a:xfrm>
            <a:off x="5410407" y="5308600"/>
            <a:ext cx="48615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J</a:t>
            </a:r>
            <a:endParaRPr lang="en-US" sz="1200" dirty="0"/>
          </a:p>
        </p:txBody>
      </p:sp>
      <p:sp>
        <p:nvSpPr>
          <p:cNvPr id="58" name="Text 49"/>
          <p:cNvSpPr/>
          <p:nvPr/>
        </p:nvSpPr>
        <p:spPr>
          <a:xfrm>
            <a:off x="5344684" y="5521961"/>
            <a:ext cx="6176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5 depts</a:t>
            </a:r>
            <a:endParaRPr lang="en-US" sz="1200" dirty="0"/>
          </a:p>
        </p:txBody>
      </p:sp>
      <p:sp>
        <p:nvSpPr>
          <p:cNvPr id="59" name="Shape 50"/>
          <p:cNvSpPr/>
          <p:nvPr/>
        </p:nvSpPr>
        <p:spPr>
          <a:xfrm>
            <a:off x="6124496" y="5042536"/>
            <a:ext cx="827564" cy="745490"/>
          </a:xfrm>
          <a:prstGeom prst="roundRect">
            <a:avLst>
              <a:gd name="adj" fmla="val 8092"/>
            </a:avLst>
          </a:prstGeom>
          <a:solidFill>
            <a:srgbClr val="F7FBFE"/>
          </a:solidFill>
          <a:ln w="6350">
            <a:solidFill>
              <a:srgbClr val="B9D9F0"/>
            </a:solidFill>
            <a:prstDash val="solid"/>
          </a:ln>
        </p:spPr>
      </p:sp>
      <p:sp>
        <p:nvSpPr>
          <p:cNvPr id="60" name="Text 51"/>
          <p:cNvSpPr/>
          <p:nvPr/>
        </p:nvSpPr>
        <p:spPr>
          <a:xfrm>
            <a:off x="6251202" y="5095241"/>
            <a:ext cx="574072"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7</a:t>
            </a:r>
            <a:endParaRPr lang="en-US" sz="1200" dirty="0"/>
          </a:p>
        </p:txBody>
      </p:sp>
      <p:sp>
        <p:nvSpPr>
          <p:cNvPr id="61" name="Text 52"/>
          <p:cNvSpPr/>
          <p:nvPr/>
        </p:nvSpPr>
        <p:spPr>
          <a:xfrm>
            <a:off x="6283865" y="5308600"/>
            <a:ext cx="50882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K</a:t>
            </a:r>
            <a:endParaRPr lang="en-US" sz="1200" dirty="0"/>
          </a:p>
        </p:txBody>
      </p:sp>
      <p:sp>
        <p:nvSpPr>
          <p:cNvPr id="62" name="Text 53"/>
          <p:cNvSpPr/>
          <p:nvPr/>
        </p:nvSpPr>
        <p:spPr>
          <a:xfrm>
            <a:off x="6229477" y="5521961"/>
            <a:ext cx="6176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8 depts</a:t>
            </a:r>
            <a:endParaRPr lang="en-US" sz="1200" dirty="0"/>
          </a:p>
        </p:txBody>
      </p:sp>
      <p:sp>
        <p:nvSpPr>
          <p:cNvPr id="63" name="Shape 54"/>
          <p:cNvSpPr/>
          <p:nvPr/>
        </p:nvSpPr>
        <p:spPr>
          <a:xfrm>
            <a:off x="7009209" y="5042536"/>
            <a:ext cx="827643" cy="745490"/>
          </a:xfrm>
          <a:prstGeom prst="roundRect">
            <a:avLst>
              <a:gd name="adj" fmla="val 8092"/>
            </a:avLst>
          </a:prstGeom>
          <a:solidFill>
            <a:srgbClr val="F7FBFE"/>
          </a:solidFill>
          <a:ln w="6350">
            <a:solidFill>
              <a:srgbClr val="B9D9F0"/>
            </a:solidFill>
            <a:prstDash val="solid"/>
          </a:ln>
        </p:spPr>
      </p:sp>
      <p:sp>
        <p:nvSpPr>
          <p:cNvPr id="64" name="Text 55"/>
          <p:cNvSpPr/>
          <p:nvPr/>
        </p:nvSpPr>
        <p:spPr>
          <a:xfrm>
            <a:off x="7135995" y="5095241"/>
            <a:ext cx="574072"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8</a:t>
            </a:r>
            <a:endParaRPr lang="en-US" sz="1200" dirty="0"/>
          </a:p>
        </p:txBody>
      </p:sp>
      <p:sp>
        <p:nvSpPr>
          <p:cNvPr id="65" name="Text 56"/>
          <p:cNvSpPr/>
          <p:nvPr/>
        </p:nvSpPr>
        <p:spPr>
          <a:xfrm>
            <a:off x="7180763" y="5308600"/>
            <a:ext cx="48453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L</a:t>
            </a:r>
            <a:endParaRPr lang="en-US" sz="1200" dirty="0"/>
          </a:p>
        </p:txBody>
      </p:sp>
      <p:sp>
        <p:nvSpPr>
          <p:cNvPr id="66" name="Text 57"/>
          <p:cNvSpPr/>
          <p:nvPr/>
        </p:nvSpPr>
        <p:spPr>
          <a:xfrm>
            <a:off x="7059327" y="5521961"/>
            <a:ext cx="727329"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10 depts</a:t>
            </a:r>
            <a:endParaRPr lang="en-US" sz="1200" dirty="0"/>
          </a:p>
        </p:txBody>
      </p:sp>
      <p:sp>
        <p:nvSpPr>
          <p:cNvPr id="67" name="Shape 58"/>
          <p:cNvSpPr/>
          <p:nvPr/>
        </p:nvSpPr>
        <p:spPr>
          <a:xfrm>
            <a:off x="7894003" y="5042536"/>
            <a:ext cx="827643" cy="745490"/>
          </a:xfrm>
          <a:prstGeom prst="roundRect">
            <a:avLst>
              <a:gd name="adj" fmla="val 8092"/>
            </a:avLst>
          </a:prstGeom>
          <a:solidFill>
            <a:srgbClr val="F7FBFE"/>
          </a:solidFill>
          <a:ln w="6350">
            <a:solidFill>
              <a:srgbClr val="B9D9F0"/>
            </a:solidFill>
            <a:prstDash val="solid"/>
          </a:ln>
        </p:spPr>
      </p:sp>
      <p:sp>
        <p:nvSpPr>
          <p:cNvPr id="68" name="Text 59"/>
          <p:cNvSpPr/>
          <p:nvPr/>
        </p:nvSpPr>
        <p:spPr>
          <a:xfrm>
            <a:off x="8020788" y="5095241"/>
            <a:ext cx="574072"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9</a:t>
            </a:r>
            <a:endParaRPr lang="en-US" sz="1200" dirty="0"/>
          </a:p>
        </p:txBody>
      </p:sp>
      <p:sp>
        <p:nvSpPr>
          <p:cNvPr id="69" name="Text 60"/>
          <p:cNvSpPr/>
          <p:nvPr/>
        </p:nvSpPr>
        <p:spPr>
          <a:xfrm>
            <a:off x="8037084" y="5308600"/>
            <a:ext cx="5414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M</a:t>
            </a:r>
            <a:endParaRPr lang="en-US" sz="1200" dirty="0"/>
          </a:p>
        </p:txBody>
      </p:sp>
      <p:sp>
        <p:nvSpPr>
          <p:cNvPr id="70" name="Text 61"/>
          <p:cNvSpPr/>
          <p:nvPr/>
        </p:nvSpPr>
        <p:spPr>
          <a:xfrm>
            <a:off x="7998984" y="5521961"/>
            <a:ext cx="6176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6 depts</a:t>
            </a:r>
            <a:endParaRPr lang="en-US" sz="1200" dirty="0"/>
          </a:p>
        </p:txBody>
      </p:sp>
      <p:sp>
        <p:nvSpPr>
          <p:cNvPr id="71" name="Shape 62"/>
          <p:cNvSpPr/>
          <p:nvPr/>
        </p:nvSpPr>
        <p:spPr>
          <a:xfrm>
            <a:off x="8778796" y="5042536"/>
            <a:ext cx="827643" cy="745490"/>
          </a:xfrm>
          <a:prstGeom prst="roundRect">
            <a:avLst>
              <a:gd name="adj" fmla="val 8092"/>
            </a:avLst>
          </a:prstGeom>
          <a:solidFill>
            <a:srgbClr val="F7FBFE"/>
          </a:solidFill>
          <a:ln w="6350">
            <a:solidFill>
              <a:srgbClr val="B9D9F0"/>
            </a:solidFill>
            <a:prstDash val="solid"/>
          </a:ln>
        </p:spPr>
      </p:sp>
      <p:sp>
        <p:nvSpPr>
          <p:cNvPr id="72" name="Text 63"/>
          <p:cNvSpPr/>
          <p:nvPr/>
        </p:nvSpPr>
        <p:spPr>
          <a:xfrm>
            <a:off x="8850717" y="5095241"/>
            <a:ext cx="683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10</a:t>
            </a:r>
            <a:endParaRPr lang="en-US" sz="1200" dirty="0"/>
          </a:p>
        </p:txBody>
      </p:sp>
      <p:sp>
        <p:nvSpPr>
          <p:cNvPr id="73" name="Text 64"/>
          <p:cNvSpPr/>
          <p:nvPr/>
        </p:nvSpPr>
        <p:spPr>
          <a:xfrm>
            <a:off x="8931498" y="5308600"/>
            <a:ext cx="52216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N</a:t>
            </a:r>
            <a:endParaRPr lang="en-US" sz="1200" dirty="0"/>
          </a:p>
        </p:txBody>
      </p:sp>
      <p:sp>
        <p:nvSpPr>
          <p:cNvPr id="74" name="Text 65"/>
          <p:cNvSpPr/>
          <p:nvPr/>
        </p:nvSpPr>
        <p:spPr>
          <a:xfrm>
            <a:off x="8883777" y="5521961"/>
            <a:ext cx="6176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7 depts</a:t>
            </a:r>
            <a:endParaRPr lang="en-US" sz="1200" dirty="0"/>
          </a:p>
        </p:txBody>
      </p:sp>
      <p:sp>
        <p:nvSpPr>
          <p:cNvPr id="75" name="Shape 66"/>
          <p:cNvSpPr/>
          <p:nvPr/>
        </p:nvSpPr>
        <p:spPr>
          <a:xfrm>
            <a:off x="9663589" y="5042536"/>
            <a:ext cx="827643" cy="745490"/>
          </a:xfrm>
          <a:prstGeom prst="roundRect">
            <a:avLst>
              <a:gd name="adj" fmla="val 8092"/>
            </a:avLst>
          </a:prstGeom>
          <a:solidFill>
            <a:srgbClr val="F7FBFE"/>
          </a:solidFill>
          <a:ln w="6350">
            <a:solidFill>
              <a:srgbClr val="B9D9F0"/>
            </a:solidFill>
            <a:prstDash val="solid"/>
          </a:ln>
        </p:spPr>
      </p:sp>
      <p:sp>
        <p:nvSpPr>
          <p:cNvPr id="76" name="Text 67"/>
          <p:cNvSpPr/>
          <p:nvPr/>
        </p:nvSpPr>
        <p:spPr>
          <a:xfrm>
            <a:off x="9735510" y="5095241"/>
            <a:ext cx="683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11</a:t>
            </a:r>
            <a:endParaRPr lang="en-US" sz="1200" dirty="0"/>
          </a:p>
        </p:txBody>
      </p:sp>
      <p:sp>
        <p:nvSpPr>
          <p:cNvPr id="77" name="Text 68"/>
          <p:cNvSpPr/>
          <p:nvPr/>
        </p:nvSpPr>
        <p:spPr>
          <a:xfrm>
            <a:off x="9816195" y="5308600"/>
            <a:ext cx="52235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O</a:t>
            </a:r>
            <a:endParaRPr lang="en-US" sz="1200" dirty="0"/>
          </a:p>
        </p:txBody>
      </p:sp>
      <p:sp>
        <p:nvSpPr>
          <p:cNvPr id="78" name="Text 69"/>
          <p:cNvSpPr/>
          <p:nvPr/>
        </p:nvSpPr>
        <p:spPr>
          <a:xfrm>
            <a:off x="9768570" y="5521961"/>
            <a:ext cx="6176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8 depts</a:t>
            </a:r>
            <a:endParaRPr lang="en-US" sz="1200" dirty="0"/>
          </a:p>
        </p:txBody>
      </p:sp>
      <p:sp>
        <p:nvSpPr>
          <p:cNvPr id="79" name="Shape 70"/>
          <p:cNvSpPr/>
          <p:nvPr/>
        </p:nvSpPr>
        <p:spPr>
          <a:xfrm>
            <a:off x="10548382" y="5042536"/>
            <a:ext cx="827643" cy="745490"/>
          </a:xfrm>
          <a:prstGeom prst="roundRect">
            <a:avLst>
              <a:gd name="adj" fmla="val 8092"/>
            </a:avLst>
          </a:prstGeom>
          <a:solidFill>
            <a:srgbClr val="F7FBFE"/>
          </a:solidFill>
          <a:ln w="6350">
            <a:solidFill>
              <a:srgbClr val="B9D9F0"/>
            </a:solidFill>
            <a:prstDash val="solid"/>
          </a:ln>
        </p:spPr>
      </p:sp>
      <p:sp>
        <p:nvSpPr>
          <p:cNvPr id="80" name="Text 71"/>
          <p:cNvSpPr/>
          <p:nvPr/>
        </p:nvSpPr>
        <p:spPr>
          <a:xfrm>
            <a:off x="10620304" y="5095241"/>
            <a:ext cx="683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Zone 12</a:t>
            </a:r>
            <a:endParaRPr lang="en-US" sz="1200" dirty="0"/>
          </a:p>
        </p:txBody>
      </p:sp>
      <p:sp>
        <p:nvSpPr>
          <p:cNvPr id="81" name="Text 72"/>
          <p:cNvSpPr/>
          <p:nvPr/>
        </p:nvSpPr>
        <p:spPr>
          <a:xfrm>
            <a:off x="10710323" y="5308600"/>
            <a:ext cx="503682"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SBU P</a:t>
            </a:r>
            <a:endParaRPr lang="en-US" sz="1200" dirty="0"/>
          </a:p>
        </p:txBody>
      </p:sp>
      <p:sp>
        <p:nvSpPr>
          <p:cNvPr id="82" name="Text 73"/>
          <p:cNvSpPr/>
          <p:nvPr/>
        </p:nvSpPr>
        <p:spPr>
          <a:xfrm>
            <a:off x="10653364" y="5521961"/>
            <a:ext cx="6176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FB0"/>
                </a:solidFill>
                <a:latin typeface="IBM Plex Sans" pitchFamily="34" charset="0"/>
                <a:ea typeface="IBM Plex Sans" pitchFamily="34" charset="-122"/>
                <a:cs typeface="IBM Plex Sans" pitchFamily="34" charset="-120"/>
              </a:rPr>
              <a:t>9 depts</a:t>
            </a:r>
            <a:endParaRPr lang="en-US" sz="1200" dirty="0"/>
          </a:p>
        </p:txBody>
      </p:sp>
      <p:sp>
        <p:nvSpPr>
          <p:cNvPr id="83" name="Text 74"/>
          <p:cNvSpPr/>
          <p:nvPr/>
        </p:nvSpPr>
        <p:spPr>
          <a:xfrm>
            <a:off x="812800" y="63398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84" name="Text 75"/>
          <p:cNvSpPr/>
          <p:nvPr/>
        </p:nvSpPr>
        <p:spPr>
          <a:xfrm>
            <a:off x="10058400" y="63398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Server maintenance</a:t>
            </a:r>
            <a:endParaRPr lang="en-US" sz="3200" dirty="0"/>
          </a:p>
        </p:txBody>
      </p:sp>
      <p:sp>
        <p:nvSpPr>
          <p:cNvPr id="7" name="Shape 3"/>
          <p:cNvSpPr/>
          <p:nvPr/>
        </p:nvSpPr>
        <p:spPr>
          <a:xfrm>
            <a:off x="812800" y="2042161"/>
            <a:ext cx="3379867" cy="2164080"/>
          </a:xfrm>
          <a:prstGeom prst="roundRect">
            <a:avLst>
              <a:gd name="adj" fmla="val 4695"/>
            </a:avLst>
          </a:prstGeom>
          <a:solidFill>
            <a:srgbClr val="0B5FB0"/>
          </a:solidFill>
          <a:ln/>
        </p:spPr>
      </p:sp>
      <p:sp>
        <p:nvSpPr>
          <p:cNvPr id="8" name="Text 4"/>
          <p:cNvSpPr/>
          <p:nvPr/>
        </p:nvSpPr>
        <p:spPr>
          <a:xfrm>
            <a:off x="1066800" y="2296161"/>
            <a:ext cx="2958023"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D6EAFA"/>
                </a:solidFill>
                <a:latin typeface="IBM Plex Sans" pitchFamily="34" charset="0"/>
                <a:ea typeface="IBM Plex Sans" pitchFamily="34" charset="-122"/>
                <a:cs typeface="IBM Plex Sans" pitchFamily="34" charset="-120"/>
              </a:rPr>
              <a:t>FLEET</a:t>
            </a:r>
            <a:endParaRPr lang="en-US" sz="1200" dirty="0"/>
          </a:p>
        </p:txBody>
      </p:sp>
      <p:sp>
        <p:nvSpPr>
          <p:cNvPr id="9" name="Text 5"/>
          <p:cNvSpPr/>
          <p:nvPr/>
        </p:nvSpPr>
        <p:spPr>
          <a:xfrm>
            <a:off x="1066800" y="2585721"/>
            <a:ext cx="2958023"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7FBFE"/>
                </a:solidFill>
                <a:latin typeface="IBM Plex Sans" pitchFamily="34" charset="0"/>
                <a:ea typeface="IBM Plex Sans" pitchFamily="34" charset="-122"/>
                <a:cs typeface="IBM Plex Sans" pitchFamily="34" charset="-120"/>
              </a:rPr>
              <a:t>85</a:t>
            </a:r>
            <a:endParaRPr lang="en-US" sz="4800" dirty="0"/>
          </a:p>
        </p:txBody>
      </p:sp>
      <p:sp>
        <p:nvSpPr>
          <p:cNvPr id="10" name="Text 6"/>
          <p:cNvSpPr/>
          <p:nvPr/>
        </p:nvSpPr>
        <p:spPr>
          <a:xfrm>
            <a:off x="1066800" y="3332482"/>
            <a:ext cx="295802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6EAFA"/>
                </a:solidFill>
                <a:latin typeface="IBM Plex Sans" pitchFamily="34" charset="0"/>
                <a:ea typeface="IBM Plex Sans" pitchFamily="34" charset="-122"/>
                <a:cs typeface="IBM Plex Sans" pitchFamily="34" charset="-120"/>
              </a:rPr>
              <a:t>physical servers under PCM, ISBG</a:t>
            </a:r>
            <a:endParaRPr lang="en-US" sz="1600" dirty="0"/>
          </a:p>
        </p:txBody>
      </p:sp>
      <p:sp>
        <p:nvSpPr>
          <p:cNvPr id="11" name="Shape 7"/>
          <p:cNvSpPr/>
          <p:nvPr/>
        </p:nvSpPr>
        <p:spPr>
          <a:xfrm>
            <a:off x="4399042" y="2045336"/>
            <a:ext cx="3383756" cy="2157730"/>
          </a:xfrm>
          <a:prstGeom prst="roundRect">
            <a:avLst>
              <a:gd name="adj" fmla="val 4562"/>
            </a:avLst>
          </a:prstGeom>
          <a:solidFill>
            <a:srgbClr val="F7FBFE"/>
          </a:solidFill>
          <a:ln w="6350">
            <a:solidFill>
              <a:srgbClr val="B9D9F0"/>
            </a:solidFill>
            <a:prstDash val="solid"/>
          </a:ln>
        </p:spPr>
      </p:sp>
      <p:sp>
        <p:nvSpPr>
          <p:cNvPr id="12" name="Text 8"/>
          <p:cNvSpPr/>
          <p:nvPr/>
        </p:nvSpPr>
        <p:spPr>
          <a:xfrm>
            <a:off x="4654947" y="2301239"/>
            <a:ext cx="2958105"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SERVER TYPES</a:t>
            </a:r>
            <a:endParaRPr lang="en-US" sz="1200" dirty="0"/>
          </a:p>
        </p:txBody>
      </p:sp>
      <p:sp>
        <p:nvSpPr>
          <p:cNvPr id="13" name="Text 9"/>
          <p:cNvSpPr/>
          <p:nvPr/>
        </p:nvSpPr>
        <p:spPr>
          <a:xfrm>
            <a:off x="4677807" y="2590800"/>
            <a:ext cx="2927625" cy="1244600"/>
          </a:xfrm>
          <a:prstGeom prst="rect">
            <a:avLst/>
          </a:prstGeom>
          <a:noFill/>
          <a:ln/>
        </p:spPr>
        <p:txBody>
          <a:bodyPr wrap="square" lIns="0" tIns="0" rIns="0" bIns="0" rtlCol="0" anchor="t">
            <a:normAutofit/>
          </a:bodyPr>
          <a:lstStyle/>
          <a:p>
            <a:pPr algn="l" marL="231140" indent="-231140">
              <a:lnSpc>
                <a:spcPts val="3200"/>
              </a:lnSpc>
              <a:buSzPct val="100000"/>
              <a:buChar char="•"/>
            </a:pPr>
            <a:r>
              <a:rPr lang="en-US" sz="2000" dirty="0">
                <a:solidFill>
                  <a:srgbClr val="0B2E5C"/>
                </a:solidFill>
                <a:latin typeface="IBM Plex Sans" pitchFamily="34" charset="0"/>
                <a:ea typeface="IBM Plex Sans" pitchFamily="34" charset="-122"/>
                <a:cs typeface="IBM Plex Sans" pitchFamily="34" charset="-120"/>
              </a:rPr>
              <a:t>Flat</a:t>
            </a:r>
            <a:endParaRPr lang="en-US" sz="2000" dirty="0"/>
          </a:p>
          <a:p>
            <a:pPr algn="l" marL="231140" indent="-231140">
              <a:lnSpc>
                <a:spcPts val="3200"/>
              </a:lnSpc>
              <a:buSzPct val="100000"/>
              <a:buChar char="•"/>
            </a:pPr>
            <a:r>
              <a:rPr lang="en-US" sz="2000" dirty="0">
                <a:solidFill>
                  <a:srgbClr val="0B2E5C"/>
                </a:solidFill>
                <a:latin typeface="IBM Plex Sans" pitchFamily="34" charset="0"/>
                <a:ea typeface="IBM Plex Sans" pitchFamily="34" charset="-122"/>
                <a:cs typeface="IBM Plex Sans" pitchFamily="34" charset="-120"/>
              </a:rPr>
              <a:t>Mount</a:t>
            </a:r>
            <a:endParaRPr lang="en-US" sz="2000" dirty="0"/>
          </a:p>
          <a:p>
            <a:pPr algn="l" marL="231140" indent="-231140">
              <a:lnSpc>
                <a:spcPts val="3200"/>
              </a:lnSpc>
              <a:buSzPct val="100000"/>
              <a:buChar char="•"/>
            </a:pPr>
            <a:r>
              <a:rPr lang="en-US" sz="2000" dirty="0">
                <a:solidFill>
                  <a:srgbClr val="0B2E5C"/>
                </a:solidFill>
                <a:latin typeface="IBM Plex Sans" pitchFamily="34" charset="0"/>
                <a:ea typeface="IBM Plex Sans" pitchFamily="34" charset="-122"/>
                <a:cs typeface="IBM Plex Sans" pitchFamily="34" charset="-120"/>
              </a:rPr>
              <a:t>Blade</a:t>
            </a:r>
            <a:endParaRPr lang="en-US" sz="2000" dirty="0"/>
          </a:p>
        </p:txBody>
      </p:sp>
      <p:sp>
        <p:nvSpPr>
          <p:cNvPr id="14" name="Shape 10"/>
          <p:cNvSpPr/>
          <p:nvPr/>
        </p:nvSpPr>
        <p:spPr>
          <a:xfrm>
            <a:off x="7992349" y="2045336"/>
            <a:ext cx="3383677" cy="2157730"/>
          </a:xfrm>
          <a:prstGeom prst="roundRect">
            <a:avLst>
              <a:gd name="adj" fmla="val 4562"/>
            </a:avLst>
          </a:prstGeom>
          <a:solidFill>
            <a:srgbClr val="F7FBFE"/>
          </a:solidFill>
          <a:ln w="6350">
            <a:solidFill>
              <a:srgbClr val="B9D9F0"/>
            </a:solidFill>
            <a:prstDash val="solid"/>
          </a:ln>
        </p:spPr>
      </p:sp>
      <p:sp>
        <p:nvSpPr>
          <p:cNvPr id="15" name="Text 11"/>
          <p:cNvSpPr/>
          <p:nvPr/>
        </p:nvSpPr>
        <p:spPr>
          <a:xfrm>
            <a:off x="8248253" y="2301239"/>
            <a:ext cx="2958023"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DISK PROTECTION (RAID)</a:t>
            </a:r>
            <a:endParaRPr lang="en-US" sz="1200" dirty="0"/>
          </a:p>
        </p:txBody>
      </p:sp>
      <p:sp>
        <p:nvSpPr>
          <p:cNvPr id="16" name="Text 12"/>
          <p:cNvSpPr/>
          <p:nvPr/>
        </p:nvSpPr>
        <p:spPr>
          <a:xfrm>
            <a:off x="8248253" y="2616200"/>
            <a:ext cx="29580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RAID 1</a:t>
            </a:r>
            <a:endParaRPr lang="en-US" sz="2000" dirty="0"/>
          </a:p>
        </p:txBody>
      </p:sp>
      <p:sp>
        <p:nvSpPr>
          <p:cNvPr id="17" name="Text 13"/>
          <p:cNvSpPr/>
          <p:nvPr/>
        </p:nvSpPr>
        <p:spPr>
          <a:xfrm>
            <a:off x="8248253" y="2946400"/>
            <a:ext cx="295802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Mirroring · 2 disks</a:t>
            </a:r>
            <a:endParaRPr lang="en-US" sz="1600" dirty="0"/>
          </a:p>
        </p:txBody>
      </p:sp>
      <p:sp>
        <p:nvSpPr>
          <p:cNvPr id="18" name="Text 14"/>
          <p:cNvSpPr/>
          <p:nvPr/>
        </p:nvSpPr>
        <p:spPr>
          <a:xfrm>
            <a:off x="8248253" y="3332482"/>
            <a:ext cx="29580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RAID 5</a:t>
            </a:r>
            <a:endParaRPr lang="en-US" sz="2000" dirty="0"/>
          </a:p>
        </p:txBody>
      </p:sp>
      <p:sp>
        <p:nvSpPr>
          <p:cNvPr id="19" name="Text 15"/>
          <p:cNvSpPr/>
          <p:nvPr/>
        </p:nvSpPr>
        <p:spPr>
          <a:xfrm>
            <a:off x="8248253" y="3662682"/>
            <a:ext cx="295802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Striping · 3+ disks</a:t>
            </a:r>
            <a:endParaRPr lang="en-US" sz="1600" dirty="0"/>
          </a:p>
        </p:txBody>
      </p:sp>
      <p:sp>
        <p:nvSpPr>
          <p:cNvPr id="20" name="Shape 16"/>
          <p:cNvSpPr/>
          <p:nvPr/>
        </p:nvSpPr>
        <p:spPr>
          <a:xfrm>
            <a:off x="812800" y="4511039"/>
            <a:ext cx="10566400" cy="762000"/>
          </a:xfrm>
          <a:prstGeom prst="roundRect">
            <a:avLst>
              <a:gd name="adj" fmla="val 13333"/>
            </a:avLst>
          </a:prstGeom>
          <a:solidFill>
            <a:srgbClr val="CFE6F7"/>
          </a:solidFill>
          <a:ln/>
        </p:spPr>
      </p:sp>
      <p:pic>
        <p:nvPicPr>
          <p:cNvPr id="21" name="Image 2" descr="Wrench">    </p:cNvPr>
          <p:cNvPicPr>
            <a:picLocks noChangeAspect="1"/>
          </p:cNvPicPr>
          <p:nvPr/>
        </p:nvPicPr>
        <p:blipFill>
          <a:blip r:embed="rId3"/>
          <a:srcRect l="0" r="0" t="0" b="0"/>
          <a:stretch/>
        </p:blipFill>
        <p:spPr>
          <a:xfrm>
            <a:off x="1066800" y="4714239"/>
            <a:ext cx="355600" cy="355600"/>
          </a:xfrm>
          <a:prstGeom prst="rect">
            <a:avLst/>
          </a:prstGeom>
        </p:spPr>
      </p:pic>
      <p:sp>
        <p:nvSpPr>
          <p:cNvPr id="22" name="Text 17"/>
          <p:cNvSpPr/>
          <p:nvPr/>
        </p:nvSpPr>
        <p:spPr>
          <a:xfrm>
            <a:off x="1574800" y="4749800"/>
            <a:ext cx="983691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Hot-swappable disks: a failed drive can be replaced without shutting the server down.</a:t>
            </a:r>
            <a:endParaRPr lang="en-US" sz="1600" dirty="0"/>
          </a:p>
        </p:txBody>
      </p:sp>
      <p:sp>
        <p:nvSpPr>
          <p:cNvPr id="23" name="Text 18"/>
          <p:cNvSpPr/>
          <p:nvPr/>
        </p:nvSpPr>
        <p:spPr>
          <a:xfrm>
            <a:off x="812800" y="63398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4" name="Text 19"/>
          <p:cNvSpPr/>
          <p:nvPr/>
        </p:nvSpPr>
        <p:spPr>
          <a:xfrm>
            <a:off x="10058400" y="63398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Server roles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899921"/>
          <a:ext cx="10556240" cy="3317240"/>
        </p:xfrm>
        <a:graphic>
          <a:graphicData uri="http://schemas.openxmlformats.org/drawingml/2006/table">
            <a:tbl>
              <a:tblPr/>
              <a:tblGrid>
                <a:gridCol w="2744622"/>
                <a:gridCol w="7811618"/>
              </a:tblGrid>
              <a:tr h="356870">
                <a:tc>
                  <a:txBody>
                    <a:bodyPr/>
                    <a:lstStyle/>
                    <a:p>
                      <a:pPr indent="0" marL="0">
                        <a:lnSpc>
                          <a:spcPts val="1820"/>
                        </a:lnSpc>
                        <a:buNone/>
                      </a:pPr>
                      <a:r>
                        <a:rPr lang="en-US" sz="1300" b="1" dirty="0">
                          <a:solidFill>
                            <a:srgbClr val="F7FBFE"/>
                          </a:solidFill>
                          <a:latin typeface="IBM Plex Sans" pitchFamily="34" charset="0"/>
                          <a:ea typeface="IBM Plex Sans" pitchFamily="34" charset="-122"/>
                          <a:cs typeface="IBM Plex Sans" pitchFamily="34" charset="-120"/>
                        </a:rPr>
                        <a:t>Role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C0C8"/>
                      </a:solidFill>
                      <a:prstDash val="solid"/>
                      <a:round/>
                      <a:headEnd type="none" w="med" len="med"/>
                      <a:tailEnd type="none" w="med" len="med"/>
                    </a:lnL>
                    <a:lnR w="12700" cap="flat" cmpd="sng" algn="ctr">
                      <a:solidFill>
                        <a:srgbClr val="0D284C"/>
                      </a:solidFill>
                      <a:prstDash val="solid"/>
                      <a:round/>
                      <a:headEnd type="none" w="med" len="med"/>
                      <a:tailEnd type="none" w="med" len="med"/>
                    </a:lnR>
                    <a:lnT w="12700" cap="flat" cmpd="sng" algn="ctr">
                      <a:solidFill>
                        <a:srgbClr val="B5C0C8"/>
                      </a:solidFill>
                      <a:prstDash val="solid"/>
                      <a:round/>
                      <a:headEnd type="none" w="med" len="med"/>
                      <a:tailEnd type="none" w="med" len="med"/>
                    </a:lnT>
                    <a:lnB w="12700" cap="flat" cmpd="sng" algn="ctr">
                      <a:solidFill>
                        <a:srgbClr val="0D284C"/>
                      </a:solidFill>
                      <a:prstDash val="solid"/>
                      <a:round/>
                      <a:headEnd type="none" w="med" len="med"/>
                      <a:tailEnd type="none" w="med" len="med"/>
                    </a:lnB>
                    <a:solidFill>
                      <a:srgbClr val="0B2E5C"/>
                    </a:solidFill>
                  </a:tcPr>
                </a:tc>
                <a:tc>
                  <a:txBody>
                    <a:bodyPr/>
                    <a:lstStyle/>
                    <a:p>
                      <a:pPr indent="0" marL="0">
                        <a:lnSpc>
                          <a:spcPts val="1820"/>
                        </a:lnSpc>
                        <a:buNone/>
                      </a:pPr>
                      <a:r>
                        <a:rPr lang="en-US" sz="1300" b="1" dirty="0">
                          <a:solidFill>
                            <a:srgbClr val="F7FBFE"/>
                          </a:solidFill>
                          <a:latin typeface="IBM Plex Sans" pitchFamily="34" charset="0"/>
                          <a:ea typeface="IBM Plex Sans" pitchFamily="34" charset="-122"/>
                          <a:cs typeface="IBM Plex Sans" pitchFamily="34" charset="-120"/>
                        </a:rPr>
                        <a:t>What it does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0D284C"/>
                      </a:solidFill>
                      <a:prstDash val="solid"/>
                      <a:round/>
                      <a:headEnd type="none" w="med" len="med"/>
                      <a:tailEnd type="none" w="med" len="med"/>
                    </a:lnL>
                    <a:lnR w="12700" cap="flat" cmpd="sng" algn="ctr">
                      <a:solidFill>
                        <a:srgbClr val="0D284C"/>
                      </a:solidFill>
                      <a:prstDash val="solid"/>
                      <a:round/>
                      <a:headEnd type="none" w="med" len="med"/>
                      <a:tailEnd type="none" w="med" len="med"/>
                    </a:lnR>
                    <a:lnT w="12700" cap="flat" cmpd="sng" algn="ctr">
                      <a:solidFill>
                        <a:srgbClr val="B5C0C8"/>
                      </a:solidFill>
                      <a:prstDash val="solid"/>
                      <a:round/>
                      <a:headEnd type="none" w="med" len="med"/>
                      <a:tailEnd type="none" w="med" len="med"/>
                    </a:lnT>
                    <a:lnB w="12700" cap="flat" cmpd="sng" algn="ctr">
                      <a:solidFill>
                        <a:srgbClr val="0D284C"/>
                      </a:solidFill>
                      <a:prstDash val="solid"/>
                      <a:round/>
                      <a:headEnd type="none" w="med" len="med"/>
                      <a:tailEnd type="none" w="med" len="med"/>
                    </a:lnB>
                    <a:solidFill>
                      <a:srgbClr val="0B2E5C"/>
                    </a:solidFill>
                  </a:tcPr>
                </a:tc>
              </a:tr>
              <a:tr h="588010">
                <a:tc>
                  <a:txBody>
                    <a:bodyPr/>
                    <a:lstStyle/>
                    <a:p>
                      <a:pPr indent="0" marL="0">
                        <a:lnSpc>
                          <a:spcPts val="1820"/>
                        </a:lnSpc>
                        <a:buNone/>
                      </a:pPr>
                      <a:r>
                        <a:rPr lang="en-US" sz="1300" dirty="0">
                          <a:solidFill>
                            <a:srgbClr val="0B5FB0"/>
                          </a:solidFill>
                          <a:latin typeface="IBM Plex Sans" pitchFamily="34" charset="0"/>
                          <a:ea typeface="IBM Plex Sans" pitchFamily="34" charset="-122"/>
                          <a:cs typeface="IBM Plex Sans" pitchFamily="34" charset="-120"/>
                        </a:rPr>
                        <a:t>Active Directory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C0C8"/>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0D284C"/>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c>
                  <a:txBody>
                    <a:bodyPr/>
                    <a:lstStyle/>
                    <a:p>
                      <a:pPr indent="0" marL="0">
                        <a:lnSpc>
                          <a:spcPts val="1820"/>
                        </a:lnSpc>
                        <a:buNone/>
                      </a:pPr>
                      <a:r>
                        <a:rPr lang="en-US" sz="1300" dirty="0">
                          <a:solidFill>
                            <a:srgbClr val="26384D"/>
                          </a:solidFill>
                          <a:latin typeface="IBM Plex Sans" pitchFamily="34" charset="0"/>
                          <a:ea typeface="IBM Plex Sans" pitchFamily="34" charset="-122"/>
                          <a:cs typeface="IBM Plex Sans" pitchFamily="34" charset="-120"/>
                        </a:rPr>
                        <a:t>Stores users, computers and shared folders. Adding or removing a user needs the PCM head's permission; senior officials have no policy restrictions.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8CA"/>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0D284C"/>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r>
              <a:tr h="588010">
                <a:tc>
                  <a:txBody>
                    <a:bodyPr/>
                    <a:lstStyle/>
                    <a:p>
                      <a:pPr indent="0" marL="0">
                        <a:lnSpc>
                          <a:spcPts val="1820"/>
                        </a:lnSpc>
                        <a:buNone/>
                      </a:pPr>
                      <a:r>
                        <a:rPr lang="en-US" sz="1300" dirty="0">
                          <a:solidFill>
                            <a:srgbClr val="0B5FB0"/>
                          </a:solidFill>
                          <a:latin typeface="IBM Plex Sans" pitchFamily="34" charset="0"/>
                          <a:ea typeface="IBM Plex Sans" pitchFamily="34" charset="-122"/>
                          <a:cs typeface="IBM Plex Sans" pitchFamily="34" charset="-120"/>
                        </a:rPr>
                        <a:t>DHCP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C0C8"/>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c>
                  <a:txBody>
                    <a:bodyPr/>
                    <a:lstStyle/>
                    <a:p>
                      <a:pPr indent="0" marL="0">
                        <a:lnSpc>
                          <a:spcPts val="1820"/>
                        </a:lnSpc>
                        <a:buNone/>
                      </a:pPr>
                      <a:r>
                        <a:rPr lang="en-US" sz="1300" dirty="0">
                          <a:solidFill>
                            <a:srgbClr val="26384D"/>
                          </a:solidFill>
                          <a:latin typeface="IBM Plex Sans" pitchFamily="34" charset="0"/>
                          <a:ea typeface="IBM Plex Sans" pitchFamily="34" charset="-122"/>
                          <a:cs typeface="IBM Plex Sans" pitchFamily="34" charset="-120"/>
                        </a:rPr>
                        <a:t>Assigns IP addresses to client PCs on a 30-day lease, so an idle PC's IP can go to a different PC. Static IPs are set manually, for servers only.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AEBCC6"/>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r>
              <a:tr h="356870">
                <a:tc>
                  <a:txBody>
                    <a:bodyPr/>
                    <a:lstStyle/>
                    <a:p>
                      <a:pPr indent="0" marL="0">
                        <a:lnSpc>
                          <a:spcPts val="1820"/>
                        </a:lnSpc>
                        <a:buNone/>
                      </a:pPr>
                      <a:r>
                        <a:rPr lang="en-US" sz="1300" dirty="0">
                          <a:solidFill>
                            <a:srgbClr val="0B5FB0"/>
                          </a:solidFill>
                          <a:latin typeface="IBM Plex Sans" pitchFamily="34" charset="0"/>
                          <a:ea typeface="IBM Plex Sans" pitchFamily="34" charset="-122"/>
                          <a:cs typeface="IBM Plex Sans" pitchFamily="34" charset="-120"/>
                        </a:rPr>
                        <a:t>DNS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C0C8"/>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c>
                  <a:txBody>
                    <a:bodyPr/>
                    <a:lstStyle/>
                    <a:p>
                      <a:pPr indent="0" marL="0">
                        <a:lnSpc>
                          <a:spcPts val="1820"/>
                        </a:lnSpc>
                        <a:buNone/>
                      </a:pPr>
                      <a:r>
                        <a:rPr lang="en-US" sz="1300" dirty="0">
                          <a:solidFill>
                            <a:srgbClr val="26384D"/>
                          </a:solidFill>
                          <a:latin typeface="IBM Plex Sans" pitchFamily="34" charset="0"/>
                          <a:ea typeface="IBM Plex Sans" pitchFamily="34" charset="-122"/>
                          <a:cs typeface="IBM Plex Sans" pitchFamily="34" charset="-120"/>
                        </a:rPr>
                        <a:t>Resolves host names to IP addresses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8CA"/>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r>
              <a:tr h="356870">
                <a:tc>
                  <a:txBody>
                    <a:bodyPr/>
                    <a:lstStyle/>
                    <a:p>
                      <a:pPr indent="0" marL="0">
                        <a:lnSpc>
                          <a:spcPts val="1820"/>
                        </a:lnSpc>
                        <a:buNone/>
                      </a:pPr>
                      <a:r>
                        <a:rPr lang="en-US" sz="1300" dirty="0">
                          <a:solidFill>
                            <a:srgbClr val="0B5FB0"/>
                          </a:solidFill>
                          <a:latin typeface="IBM Plex Sans" pitchFamily="34" charset="0"/>
                          <a:ea typeface="IBM Plex Sans" pitchFamily="34" charset="-122"/>
                          <a:cs typeface="IBM Plex Sans" pitchFamily="34" charset="-120"/>
                        </a:rPr>
                        <a:t>Hyper-V</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C0C8"/>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c>
                  <a:txBody>
                    <a:bodyPr/>
                    <a:lstStyle/>
                    <a:p>
                      <a:pPr indent="0" marL="0">
                        <a:lnSpc>
                          <a:spcPts val="1820"/>
                        </a:lnSpc>
                        <a:buNone/>
                      </a:pPr>
                      <a:r>
                        <a:rPr lang="en-US" sz="1300" dirty="0">
                          <a:solidFill>
                            <a:srgbClr val="26384D"/>
                          </a:solidFill>
                          <a:latin typeface="IBM Plex Sans" pitchFamily="34" charset="0"/>
                          <a:ea typeface="IBM Plex Sans" pitchFamily="34" charset="-122"/>
                          <a:cs typeface="IBM Plex Sans" pitchFamily="34" charset="-120"/>
                        </a:rPr>
                        <a:t>Runs several operating systems on one server, for example a virtual server for Active Directory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AEBCC6"/>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r>
              <a:tr h="356870">
                <a:tc>
                  <a:txBody>
                    <a:bodyPr/>
                    <a:lstStyle/>
                    <a:p>
                      <a:pPr indent="0" marL="0">
                        <a:lnSpc>
                          <a:spcPts val="1820"/>
                        </a:lnSpc>
                        <a:buNone/>
                      </a:pPr>
                      <a:r>
                        <a:rPr lang="en-US" sz="1300" dirty="0">
                          <a:solidFill>
                            <a:srgbClr val="0B5FB0"/>
                          </a:solidFill>
                          <a:latin typeface="IBM Plex Sans" pitchFamily="34" charset="0"/>
                          <a:ea typeface="IBM Plex Sans" pitchFamily="34" charset="-122"/>
                          <a:cs typeface="IBM Plex Sans" pitchFamily="34" charset="-120"/>
                        </a:rPr>
                        <a:t>Windows Update service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C0C8"/>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c>
                  <a:txBody>
                    <a:bodyPr/>
                    <a:lstStyle/>
                    <a:p>
                      <a:pPr indent="0" marL="0">
                        <a:lnSpc>
                          <a:spcPts val="1820"/>
                        </a:lnSpc>
                        <a:buNone/>
                      </a:pPr>
                      <a:r>
                        <a:rPr lang="en-US" sz="1300" dirty="0">
                          <a:solidFill>
                            <a:srgbClr val="26384D"/>
                          </a:solidFill>
                          <a:latin typeface="IBM Plex Sans" pitchFamily="34" charset="0"/>
                          <a:ea typeface="IBM Plex Sans" pitchFamily="34" charset="-122"/>
                          <a:cs typeface="IBM Plex Sans" pitchFamily="34" charset="-120"/>
                        </a:rPr>
                        <a:t>Delivers Windows updates to PCs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8CA"/>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r>
              <a:tr h="356870">
                <a:tc>
                  <a:txBody>
                    <a:bodyPr/>
                    <a:lstStyle/>
                    <a:p>
                      <a:pPr indent="0" marL="0">
                        <a:lnSpc>
                          <a:spcPts val="1820"/>
                        </a:lnSpc>
                        <a:buNone/>
                      </a:pPr>
                      <a:r>
                        <a:rPr lang="en-US" sz="1300" dirty="0">
                          <a:solidFill>
                            <a:srgbClr val="0B5FB0"/>
                          </a:solidFill>
                          <a:latin typeface="IBM Plex Sans" pitchFamily="34" charset="0"/>
                          <a:ea typeface="IBM Plex Sans" pitchFamily="34" charset="-122"/>
                          <a:cs typeface="IBM Plex Sans" pitchFamily="34" charset="-120"/>
                        </a:rPr>
                        <a:t>Windows Deployment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C0C8"/>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c>
                  <a:txBody>
                    <a:bodyPr/>
                    <a:lstStyle/>
                    <a:p>
                      <a:pPr indent="0" marL="0">
                        <a:lnSpc>
                          <a:spcPts val="1820"/>
                        </a:lnSpc>
                        <a:buNone/>
                      </a:pPr>
                      <a:r>
                        <a:rPr lang="en-US" sz="1300" dirty="0">
                          <a:solidFill>
                            <a:srgbClr val="26384D"/>
                          </a:solidFill>
                          <a:latin typeface="IBM Plex Sans" pitchFamily="34" charset="0"/>
                          <a:ea typeface="IBM Plex Sans" pitchFamily="34" charset="-122"/>
                          <a:cs typeface="IBM Plex Sans" pitchFamily="34" charset="-120"/>
                        </a:rPr>
                        <a:t>Installs the OS on PCs over the network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AEBCC6"/>
                      </a:solidFill>
                      <a:prstDash val="solid"/>
                      <a:round/>
                      <a:headEnd type="none" w="med" len="med"/>
                      <a:tailEnd type="none" w="med" len="med"/>
                    </a:lnL>
                    <a:lnR w="12700" cap="flat" cmpd="sng" algn="ctr">
                      <a:solidFill>
                        <a:srgbClr val="AEBCC6"/>
                      </a:solidFill>
                      <a:prstDash val="solid"/>
                      <a:round/>
                      <a:headEnd type="none" w="med" len="med"/>
                      <a:tailEnd type="none" w="med" len="med"/>
                    </a:lnR>
                    <a:lnT w="12700" cap="flat" cmpd="sng" algn="ctr">
                      <a:solidFill>
                        <a:srgbClr val="C5C8CA"/>
                      </a:solidFill>
                      <a:prstDash val="solid"/>
                      <a:round/>
                      <a:headEnd type="none" w="med" len="med"/>
                      <a:tailEnd type="none" w="med" len="med"/>
                    </a:lnT>
                    <a:lnB w="12700" cap="flat" cmpd="sng" algn="ctr">
                      <a:solidFill>
                        <a:srgbClr val="AEBCC6"/>
                      </a:solidFill>
                      <a:prstDash val="solid"/>
                      <a:round/>
                      <a:headEnd type="none" w="med" len="med"/>
                      <a:tailEnd type="none" w="med" len="med"/>
                    </a:lnB>
                    <a:solidFill>
                      <a:srgbClr val="D9ECF9"/>
                    </a:solidFill>
                  </a:tcPr>
                </a:tc>
              </a:tr>
              <a:tr h="356870">
                <a:tc>
                  <a:txBody>
                    <a:bodyPr/>
                    <a:lstStyle/>
                    <a:p>
                      <a:pPr indent="0" marL="0">
                        <a:lnSpc>
                          <a:spcPts val="1820"/>
                        </a:lnSpc>
                        <a:buNone/>
                      </a:pPr>
                      <a:r>
                        <a:rPr lang="en-US" sz="1300" dirty="0">
                          <a:solidFill>
                            <a:srgbClr val="0B5FB0"/>
                          </a:solidFill>
                          <a:latin typeface="IBM Plex Sans" pitchFamily="34" charset="0"/>
                          <a:ea typeface="IBM Plex Sans" pitchFamily="34" charset="-122"/>
                          <a:cs typeface="IBM Plex Sans" pitchFamily="34" charset="-120"/>
                        </a:rPr>
                        <a:t>Web server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C0C8"/>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c>
                  <a:txBody>
                    <a:bodyPr/>
                    <a:lstStyle/>
                    <a:p>
                      <a:pPr indent="0" marL="0">
                        <a:lnSpc>
                          <a:spcPts val="1820"/>
                        </a:lnSpc>
                        <a:buNone/>
                      </a:pPr>
                      <a:r>
                        <a:rPr lang="en-US" sz="1300" dirty="0">
                          <a:solidFill>
                            <a:srgbClr val="26384D"/>
                          </a:solidFill>
                          <a:latin typeface="IBM Plex Sans" pitchFamily="34" charset="0"/>
                          <a:ea typeface="IBM Plex Sans" pitchFamily="34" charset="-122"/>
                          <a:cs typeface="IBM Plex Sans" pitchFamily="34" charset="-120"/>
                        </a:rPr>
                        <a:t>Hosts web applications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8CA"/>
                      </a:solidFill>
                      <a:prstDash val="solid"/>
                      <a:round/>
                      <a:headEnd type="none" w="med" len="med"/>
                      <a:tailEnd type="none" w="med" len="med"/>
                    </a:lnL>
                    <a:lnR w="12700" cap="flat" cmpd="sng" algn="ctr">
                      <a:solidFill>
                        <a:srgbClr val="C5C8CA"/>
                      </a:solidFill>
                      <a:prstDash val="solid"/>
                      <a:round/>
                      <a:headEnd type="none" w="med" len="med"/>
                      <a:tailEnd type="none" w="med" len="med"/>
                    </a:lnR>
                    <a:lnT w="12700" cap="flat" cmpd="sng" algn="ctr">
                      <a:solidFill>
                        <a:srgbClr val="AEBCC6"/>
                      </a:solidFill>
                      <a:prstDash val="solid"/>
                      <a:round/>
                      <a:headEnd type="none" w="med" len="med"/>
                      <a:tailEnd type="none" w="med" len="med"/>
                    </a:lnT>
                    <a:lnB w="12700" cap="flat" cmpd="sng" algn="ctr">
                      <a:solidFill>
                        <a:srgbClr val="C5C8CA"/>
                      </a:solidFill>
                      <a:prstDash val="solid"/>
                      <a:round/>
                      <a:headEnd type="none" w="med" len="med"/>
                      <a:tailEnd type="none" w="med" len="med"/>
                    </a:lnB>
                    <a:solidFill>
                      <a:srgbClr val="F7FBFE"/>
                    </a:solidFill>
                  </a:tcPr>
                </a:tc>
              </a:tr>
            </a:tbl>
          </a:graphicData>
        </a:graphic>
      </p:graphicFrame>
      <p:sp>
        <p:nvSpPr>
          <p:cNvPr id="8" name="Text 3"/>
          <p:cNvSpPr/>
          <p:nvPr/>
        </p:nvSpPr>
        <p:spPr>
          <a:xfrm>
            <a:off x="812800" y="63398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9" name="Text 4"/>
          <p:cNvSpPr/>
          <p:nvPr/>
        </p:nvSpPr>
        <p:spPr>
          <a:xfrm>
            <a:off x="10058400" y="63398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Antivirus support with Trend Micro</a:t>
            </a:r>
            <a:endParaRPr lang="en-US" sz="3200" dirty="0"/>
          </a:p>
        </p:txBody>
      </p:sp>
      <p:sp>
        <p:nvSpPr>
          <p:cNvPr id="7" name="Shape 3"/>
          <p:cNvSpPr/>
          <p:nvPr/>
        </p:nvSpPr>
        <p:spPr>
          <a:xfrm>
            <a:off x="812800" y="1889761"/>
            <a:ext cx="2519680" cy="1249680"/>
          </a:xfrm>
          <a:prstGeom prst="roundRect">
            <a:avLst>
              <a:gd name="adj" fmla="val 8130"/>
            </a:avLst>
          </a:prstGeom>
          <a:solidFill>
            <a:srgbClr val="0B5FB0"/>
          </a:solidFill>
          <a:ln/>
        </p:spPr>
      </p:sp>
      <p:sp>
        <p:nvSpPr>
          <p:cNvPr id="8" name="Text 4"/>
          <p:cNvSpPr/>
          <p:nvPr/>
        </p:nvSpPr>
        <p:spPr>
          <a:xfrm>
            <a:off x="965200" y="2042161"/>
            <a:ext cx="2281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BFE"/>
                </a:solidFill>
                <a:latin typeface="IBM Plex Sans" pitchFamily="34" charset="0"/>
                <a:ea typeface="IBM Plex Sans" pitchFamily="34" charset="-122"/>
                <a:cs typeface="IBM Plex Sans" pitchFamily="34" charset="-120"/>
              </a:rPr>
              <a:t>Apex One server</a:t>
            </a:r>
            <a:endParaRPr lang="en-US" sz="1600" dirty="0"/>
          </a:p>
        </p:txBody>
      </p:sp>
      <p:sp>
        <p:nvSpPr>
          <p:cNvPr id="9" name="Text 5"/>
          <p:cNvSpPr/>
          <p:nvPr/>
        </p:nvSpPr>
        <p:spPr>
          <a:xfrm>
            <a:off x="965200" y="2336800"/>
            <a:ext cx="22813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Primary endpoint protection for about 4,800 PCs</a:t>
            </a:r>
            <a:endParaRPr lang="en-US" sz="1200" dirty="0"/>
          </a:p>
        </p:txBody>
      </p:sp>
      <p:sp>
        <p:nvSpPr>
          <p:cNvPr id="10" name="Shape 6"/>
          <p:cNvSpPr/>
          <p:nvPr/>
        </p:nvSpPr>
        <p:spPr>
          <a:xfrm>
            <a:off x="3488055" y="1892936"/>
            <a:ext cx="2523490" cy="1243330"/>
          </a:xfrm>
          <a:prstGeom prst="roundRect">
            <a:avLst>
              <a:gd name="adj" fmla="val 7916"/>
            </a:avLst>
          </a:prstGeom>
          <a:solidFill>
            <a:srgbClr val="F7FBFE"/>
          </a:solidFill>
          <a:ln w="6350">
            <a:solidFill>
              <a:srgbClr val="B9D9F0"/>
            </a:solidFill>
            <a:prstDash val="solid"/>
          </a:ln>
        </p:spPr>
      </p:sp>
      <p:sp>
        <p:nvSpPr>
          <p:cNvPr id="11" name="Text 7"/>
          <p:cNvSpPr/>
          <p:nvPr/>
        </p:nvSpPr>
        <p:spPr>
          <a:xfrm>
            <a:off x="3642360" y="2047239"/>
            <a:ext cx="2281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Apex Central server</a:t>
            </a:r>
            <a:endParaRPr lang="en-US" sz="1600" dirty="0"/>
          </a:p>
        </p:txBody>
      </p:sp>
      <p:sp>
        <p:nvSpPr>
          <p:cNvPr id="12" name="Text 8"/>
          <p:cNvSpPr/>
          <p:nvPr/>
        </p:nvSpPr>
        <p:spPr>
          <a:xfrm>
            <a:off x="3642360" y="2341882"/>
            <a:ext cx="22813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Centralized management of the antivirus setup</a:t>
            </a:r>
            <a:endParaRPr lang="en-US" sz="1200" dirty="0"/>
          </a:p>
        </p:txBody>
      </p:sp>
      <p:sp>
        <p:nvSpPr>
          <p:cNvPr id="13" name="Shape 9"/>
          <p:cNvSpPr/>
          <p:nvPr/>
        </p:nvSpPr>
        <p:spPr>
          <a:xfrm>
            <a:off x="6170295" y="1892936"/>
            <a:ext cx="2523490" cy="1243330"/>
          </a:xfrm>
          <a:prstGeom prst="roundRect">
            <a:avLst>
              <a:gd name="adj" fmla="val 7916"/>
            </a:avLst>
          </a:prstGeom>
          <a:solidFill>
            <a:srgbClr val="F7FBFE"/>
          </a:solidFill>
          <a:ln w="6350">
            <a:solidFill>
              <a:srgbClr val="B9D9F0"/>
            </a:solidFill>
            <a:prstDash val="solid"/>
          </a:ln>
        </p:spPr>
      </p:sp>
      <p:sp>
        <p:nvSpPr>
          <p:cNvPr id="14" name="Text 10"/>
          <p:cNvSpPr/>
          <p:nvPr/>
        </p:nvSpPr>
        <p:spPr>
          <a:xfrm>
            <a:off x="6324600" y="2047239"/>
            <a:ext cx="2281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SQL database server</a:t>
            </a:r>
            <a:endParaRPr lang="en-US" sz="1600" dirty="0"/>
          </a:p>
        </p:txBody>
      </p:sp>
      <p:sp>
        <p:nvSpPr>
          <p:cNvPr id="15" name="Text 11"/>
          <p:cNvSpPr/>
          <p:nvPr/>
        </p:nvSpPr>
        <p:spPr>
          <a:xfrm>
            <a:off x="6324600" y="2341882"/>
            <a:ext cx="22813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Microsoft SQL Server on a VM; stores Apex One data</a:t>
            </a:r>
            <a:endParaRPr lang="en-US" sz="1200" dirty="0"/>
          </a:p>
        </p:txBody>
      </p:sp>
      <p:sp>
        <p:nvSpPr>
          <p:cNvPr id="16" name="Shape 12"/>
          <p:cNvSpPr/>
          <p:nvPr/>
        </p:nvSpPr>
        <p:spPr>
          <a:xfrm>
            <a:off x="8852535" y="1892936"/>
            <a:ext cx="2523490" cy="1243330"/>
          </a:xfrm>
          <a:prstGeom prst="roundRect">
            <a:avLst>
              <a:gd name="adj" fmla="val 7916"/>
            </a:avLst>
          </a:prstGeom>
          <a:solidFill>
            <a:srgbClr val="F7FBFE"/>
          </a:solidFill>
          <a:ln w="6350">
            <a:solidFill>
              <a:srgbClr val="B9D9F0"/>
            </a:solidFill>
            <a:prstDash val="solid"/>
          </a:ln>
        </p:spPr>
      </p:sp>
      <p:sp>
        <p:nvSpPr>
          <p:cNvPr id="17" name="Text 13"/>
          <p:cNvSpPr/>
          <p:nvPr/>
        </p:nvSpPr>
        <p:spPr>
          <a:xfrm>
            <a:off x="9006840" y="2047239"/>
            <a:ext cx="2281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Backup server</a:t>
            </a:r>
            <a:endParaRPr lang="en-US" sz="1600" dirty="0"/>
          </a:p>
        </p:txBody>
      </p:sp>
      <p:sp>
        <p:nvSpPr>
          <p:cNvPr id="18" name="Text 14"/>
          <p:cNvSpPr/>
          <p:nvPr/>
        </p:nvSpPr>
        <p:spPr>
          <a:xfrm>
            <a:off x="9006840" y="2341882"/>
            <a:ext cx="228132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Powered on once a month to back up the antivirus, then shut down</a:t>
            </a:r>
            <a:endParaRPr lang="en-US" sz="1200" dirty="0"/>
          </a:p>
        </p:txBody>
      </p:sp>
      <p:sp>
        <p:nvSpPr>
          <p:cNvPr id="19" name="Text 15"/>
          <p:cNvSpPr/>
          <p:nvPr/>
        </p:nvSpPr>
        <p:spPr>
          <a:xfrm>
            <a:off x="812800" y="32918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WHAT THE ANTIVIRUS TEAM DOES</a:t>
            </a:r>
            <a:endParaRPr lang="en-US" sz="1200" dirty="0"/>
          </a:p>
        </p:txBody>
      </p:sp>
      <p:sp>
        <p:nvSpPr>
          <p:cNvPr id="20" name="Shape 16"/>
          <p:cNvSpPr/>
          <p:nvPr/>
        </p:nvSpPr>
        <p:spPr>
          <a:xfrm>
            <a:off x="815975" y="3660775"/>
            <a:ext cx="5200650" cy="735330"/>
          </a:xfrm>
          <a:prstGeom prst="roundRect">
            <a:avLst>
              <a:gd name="adj" fmla="val 13385"/>
            </a:avLst>
          </a:prstGeom>
          <a:solidFill>
            <a:srgbClr val="F7FBFE"/>
          </a:solidFill>
          <a:ln w="6350">
            <a:solidFill>
              <a:srgbClr val="B9D9F0"/>
            </a:solidFill>
            <a:prstDash val="solid"/>
          </a:ln>
        </p:spPr>
      </p:sp>
      <p:pic>
        <p:nvPicPr>
          <p:cNvPr id="21" name="Image 2" descr="Settings">    </p:cNvPr>
          <p:cNvPicPr>
            <a:picLocks noChangeAspect="1"/>
          </p:cNvPicPr>
          <p:nvPr/>
        </p:nvPicPr>
        <p:blipFill>
          <a:blip r:embed="rId3"/>
          <a:srcRect l="0" r="0" t="0" b="0"/>
          <a:stretch/>
        </p:blipFill>
        <p:spPr>
          <a:xfrm>
            <a:off x="1021080" y="3850639"/>
            <a:ext cx="355600" cy="355600"/>
          </a:xfrm>
          <a:prstGeom prst="rect">
            <a:avLst/>
          </a:prstGeom>
        </p:spPr>
      </p:pic>
      <p:sp>
        <p:nvSpPr>
          <p:cNvPr id="22" name="Text 17"/>
          <p:cNvSpPr/>
          <p:nvPr/>
        </p:nvSpPr>
        <p:spPr>
          <a:xfrm>
            <a:off x="1529080" y="3815082"/>
            <a:ext cx="441091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Disable antivirus temporarily when a user installs software or transfers data</a:t>
            </a:r>
            <a:endParaRPr lang="en-US" sz="1200" dirty="0"/>
          </a:p>
        </p:txBody>
      </p:sp>
      <p:sp>
        <p:nvSpPr>
          <p:cNvPr id="23" name="Shape 18"/>
          <p:cNvSpPr/>
          <p:nvPr/>
        </p:nvSpPr>
        <p:spPr>
          <a:xfrm>
            <a:off x="6175375" y="3660775"/>
            <a:ext cx="5200650" cy="735330"/>
          </a:xfrm>
          <a:prstGeom prst="roundRect">
            <a:avLst>
              <a:gd name="adj" fmla="val 13385"/>
            </a:avLst>
          </a:prstGeom>
          <a:solidFill>
            <a:srgbClr val="F7FBFE"/>
          </a:solidFill>
          <a:ln w="6350">
            <a:solidFill>
              <a:srgbClr val="B9D9F0"/>
            </a:solidFill>
            <a:prstDash val="solid"/>
          </a:ln>
        </p:spPr>
      </p:sp>
      <p:pic>
        <p:nvPicPr>
          <p:cNvPr id="24" name="Image 3" descr="Users">    </p:cNvPr>
          <p:cNvPicPr>
            <a:picLocks noChangeAspect="1"/>
          </p:cNvPicPr>
          <p:nvPr/>
        </p:nvPicPr>
        <p:blipFill>
          <a:blip r:embed="rId4"/>
          <a:srcRect l="0" r="0" t="0" b="0"/>
          <a:stretch/>
        </p:blipFill>
        <p:spPr>
          <a:xfrm>
            <a:off x="6380480" y="3850639"/>
            <a:ext cx="355600" cy="355600"/>
          </a:xfrm>
          <a:prstGeom prst="rect">
            <a:avLst/>
          </a:prstGeom>
        </p:spPr>
      </p:pic>
      <p:sp>
        <p:nvSpPr>
          <p:cNvPr id="25" name="Text 19"/>
          <p:cNvSpPr/>
          <p:nvPr/>
        </p:nvSpPr>
        <p:spPr>
          <a:xfrm>
            <a:off x="6888480" y="3921761"/>
            <a:ext cx="44109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Push the agent to users and apply the policy</a:t>
            </a:r>
            <a:endParaRPr lang="en-US" sz="1200" dirty="0"/>
          </a:p>
        </p:txBody>
      </p:sp>
      <p:sp>
        <p:nvSpPr>
          <p:cNvPr id="26" name="Shape 20"/>
          <p:cNvSpPr/>
          <p:nvPr/>
        </p:nvSpPr>
        <p:spPr>
          <a:xfrm>
            <a:off x="815975" y="4554857"/>
            <a:ext cx="5200650" cy="664210"/>
          </a:xfrm>
          <a:prstGeom prst="roundRect">
            <a:avLst>
              <a:gd name="adj" fmla="val 14818"/>
            </a:avLst>
          </a:prstGeom>
          <a:solidFill>
            <a:srgbClr val="F7FBFE"/>
          </a:solidFill>
          <a:ln w="6350">
            <a:solidFill>
              <a:srgbClr val="B9D9F0"/>
            </a:solidFill>
            <a:prstDash val="solid"/>
          </a:ln>
        </p:spPr>
      </p:sp>
      <p:pic>
        <p:nvPicPr>
          <p:cNvPr id="27" name="Image 4" descr="Lock">    </p:cNvPr>
          <p:cNvPicPr>
            <a:picLocks noChangeAspect="1"/>
          </p:cNvPicPr>
          <p:nvPr/>
        </p:nvPicPr>
        <p:blipFill>
          <a:blip r:embed="rId5"/>
          <a:srcRect l="0" r="0" t="0" b="0"/>
          <a:stretch/>
        </p:blipFill>
        <p:spPr>
          <a:xfrm>
            <a:off x="1021080" y="4709161"/>
            <a:ext cx="355600" cy="355600"/>
          </a:xfrm>
          <a:prstGeom prst="rect">
            <a:avLst/>
          </a:prstGeom>
        </p:spPr>
      </p:pic>
      <p:sp>
        <p:nvSpPr>
          <p:cNvPr id="28" name="Text 21"/>
          <p:cNvSpPr/>
          <p:nvPr/>
        </p:nvSpPr>
        <p:spPr>
          <a:xfrm>
            <a:off x="1529080" y="4780282"/>
            <a:ext cx="44109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Enable or disable USB ports for users</a:t>
            </a:r>
            <a:endParaRPr lang="en-US" sz="1200" dirty="0"/>
          </a:p>
        </p:txBody>
      </p:sp>
      <p:sp>
        <p:nvSpPr>
          <p:cNvPr id="29" name="Shape 22"/>
          <p:cNvSpPr/>
          <p:nvPr/>
        </p:nvSpPr>
        <p:spPr>
          <a:xfrm>
            <a:off x="6175375" y="4554857"/>
            <a:ext cx="5200650" cy="664210"/>
          </a:xfrm>
          <a:prstGeom prst="roundRect">
            <a:avLst>
              <a:gd name="adj" fmla="val 14818"/>
            </a:avLst>
          </a:prstGeom>
          <a:solidFill>
            <a:srgbClr val="F7FBFE"/>
          </a:solidFill>
          <a:ln w="6350">
            <a:solidFill>
              <a:srgbClr val="B9D9F0"/>
            </a:solidFill>
            <a:prstDash val="solid"/>
          </a:ln>
        </p:spPr>
      </p:sp>
      <p:pic>
        <p:nvPicPr>
          <p:cNvPr id="30" name="Image 5" descr="Key">    </p:cNvPr>
          <p:cNvPicPr>
            <a:picLocks noChangeAspect="1"/>
          </p:cNvPicPr>
          <p:nvPr/>
        </p:nvPicPr>
        <p:blipFill>
          <a:blip r:embed="rId6"/>
          <a:srcRect l="0" r="0" t="0" b="0"/>
          <a:stretch/>
        </p:blipFill>
        <p:spPr>
          <a:xfrm>
            <a:off x="6380480" y="4709161"/>
            <a:ext cx="355600" cy="355600"/>
          </a:xfrm>
          <a:prstGeom prst="rect">
            <a:avLst/>
          </a:prstGeom>
        </p:spPr>
      </p:pic>
      <p:sp>
        <p:nvSpPr>
          <p:cNvPr id="31" name="Text 23"/>
          <p:cNvSpPr/>
          <p:nvPr/>
        </p:nvSpPr>
        <p:spPr>
          <a:xfrm>
            <a:off x="6888480" y="4780282"/>
            <a:ext cx="44109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Set CD/DVD permissions</a:t>
            </a:r>
            <a:endParaRPr lang="en-US" sz="1200" dirty="0"/>
          </a:p>
        </p:txBody>
      </p:sp>
      <p:sp>
        <p:nvSpPr>
          <p:cNvPr id="32" name="Text 24"/>
          <p:cNvSpPr/>
          <p:nvPr/>
        </p:nvSpPr>
        <p:spPr>
          <a:xfrm>
            <a:off x="812800" y="63398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33" name="Text 25"/>
          <p:cNvSpPr/>
          <p:nvPr/>
        </p:nvSpPr>
        <p:spPr>
          <a:xfrm>
            <a:off x="10058400" y="63398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Other PCM activities</a:t>
            </a:r>
            <a:endParaRPr lang="en-US" sz="3200" dirty="0"/>
          </a:p>
        </p:txBody>
      </p:sp>
      <p:sp>
        <p:nvSpPr>
          <p:cNvPr id="7" name="Text 3"/>
          <p:cNvSpPr/>
          <p:nvPr/>
        </p:nvSpPr>
        <p:spPr>
          <a:xfrm>
            <a:off x="812800" y="188976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IT ASSET MAINTENANCE: THREE CATEGORIES</a:t>
            </a:r>
            <a:endParaRPr lang="en-US" sz="1200" dirty="0"/>
          </a:p>
        </p:txBody>
      </p:sp>
      <p:sp>
        <p:nvSpPr>
          <p:cNvPr id="8" name="Shape 4"/>
          <p:cNvSpPr/>
          <p:nvPr/>
        </p:nvSpPr>
        <p:spPr>
          <a:xfrm>
            <a:off x="812800" y="2255521"/>
            <a:ext cx="3379867" cy="1300480"/>
          </a:xfrm>
          <a:prstGeom prst="roundRect">
            <a:avLst>
              <a:gd name="adj" fmla="val 7813"/>
            </a:avLst>
          </a:prstGeom>
          <a:solidFill>
            <a:srgbClr val="0B5FB0"/>
          </a:solidFill>
          <a:ln/>
        </p:spPr>
      </p:sp>
      <p:sp>
        <p:nvSpPr>
          <p:cNvPr id="9" name="Text 5"/>
          <p:cNvSpPr/>
          <p:nvPr/>
        </p:nvSpPr>
        <p:spPr>
          <a:xfrm>
            <a:off x="1016000" y="2433321"/>
            <a:ext cx="306267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BFE"/>
                </a:solidFill>
                <a:latin typeface="IBM Plex Sans" pitchFamily="34" charset="0"/>
                <a:ea typeface="IBM Plex Sans" pitchFamily="34" charset="-122"/>
                <a:cs typeface="IBM Plex Sans" pitchFamily="34" charset="-120"/>
              </a:rPr>
              <a:t>AMC</a:t>
            </a:r>
            <a:endParaRPr lang="en-US" sz="1600" dirty="0"/>
          </a:p>
        </p:txBody>
      </p:sp>
      <p:sp>
        <p:nvSpPr>
          <p:cNvPr id="10" name="Text 6"/>
          <p:cNvSpPr/>
          <p:nvPr/>
        </p:nvSpPr>
        <p:spPr>
          <a:xfrm>
            <a:off x="1016000" y="2727961"/>
            <a:ext cx="306267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Annual Maintenance Contract with IND Innovations, covering IT assets manufactured after 2017</a:t>
            </a:r>
            <a:endParaRPr lang="en-US" sz="1200" dirty="0"/>
          </a:p>
        </p:txBody>
      </p:sp>
      <p:sp>
        <p:nvSpPr>
          <p:cNvPr id="11" name="Shape 7"/>
          <p:cNvSpPr/>
          <p:nvPr/>
        </p:nvSpPr>
        <p:spPr>
          <a:xfrm>
            <a:off x="4399042" y="2258696"/>
            <a:ext cx="3383756" cy="1294130"/>
          </a:xfrm>
          <a:prstGeom prst="roundRect">
            <a:avLst>
              <a:gd name="adj" fmla="val 7605"/>
            </a:avLst>
          </a:prstGeom>
          <a:solidFill>
            <a:srgbClr val="F7FBFE"/>
          </a:solidFill>
          <a:ln w="6350">
            <a:solidFill>
              <a:srgbClr val="B9D9F0"/>
            </a:solidFill>
            <a:prstDash val="solid"/>
          </a:ln>
        </p:spPr>
      </p:sp>
      <p:sp>
        <p:nvSpPr>
          <p:cNvPr id="12" name="Text 8"/>
          <p:cNvSpPr/>
          <p:nvPr/>
        </p:nvSpPr>
        <p:spPr>
          <a:xfrm>
            <a:off x="4604147" y="2438400"/>
            <a:ext cx="306275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Warranty</a:t>
            </a:r>
            <a:endParaRPr lang="en-US" sz="1600" dirty="0"/>
          </a:p>
        </p:txBody>
      </p:sp>
      <p:sp>
        <p:nvSpPr>
          <p:cNvPr id="13" name="Text 9"/>
          <p:cNvSpPr/>
          <p:nvPr/>
        </p:nvSpPr>
        <p:spPr>
          <a:xfrm>
            <a:off x="4604147" y="2733039"/>
            <a:ext cx="30627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Where AMC is not applied, repairs and replacements are claimed under warranty</a:t>
            </a:r>
            <a:endParaRPr lang="en-US" sz="1200" dirty="0"/>
          </a:p>
        </p:txBody>
      </p:sp>
      <p:sp>
        <p:nvSpPr>
          <p:cNvPr id="14" name="Shape 10"/>
          <p:cNvSpPr/>
          <p:nvPr/>
        </p:nvSpPr>
        <p:spPr>
          <a:xfrm>
            <a:off x="7992349" y="2258696"/>
            <a:ext cx="3383677" cy="1294130"/>
          </a:xfrm>
          <a:prstGeom prst="roundRect">
            <a:avLst>
              <a:gd name="adj" fmla="val 7605"/>
            </a:avLst>
          </a:prstGeom>
          <a:solidFill>
            <a:srgbClr val="F7FBFE"/>
          </a:solidFill>
          <a:ln w="6350">
            <a:solidFill>
              <a:srgbClr val="B9D9F0"/>
            </a:solidFill>
            <a:prstDash val="solid"/>
          </a:ln>
        </p:spPr>
      </p:sp>
      <p:sp>
        <p:nvSpPr>
          <p:cNvPr id="15" name="Text 11"/>
          <p:cNvSpPr/>
          <p:nvPr/>
        </p:nvSpPr>
        <p:spPr>
          <a:xfrm>
            <a:off x="8197453" y="2438400"/>
            <a:ext cx="306267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On call</a:t>
            </a:r>
            <a:endParaRPr lang="en-US" sz="1600" dirty="0"/>
          </a:p>
        </p:txBody>
      </p:sp>
      <p:sp>
        <p:nvSpPr>
          <p:cNvPr id="16" name="Text 12"/>
          <p:cNvSpPr/>
          <p:nvPr/>
        </p:nvSpPr>
        <p:spPr>
          <a:xfrm>
            <a:off x="8197453" y="2733039"/>
            <a:ext cx="306267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Not under AMC or warranty, and manufactured before 2017. Support is still given, but spare parts are not replaced</a:t>
            </a:r>
            <a:endParaRPr lang="en-US" sz="1200" dirty="0"/>
          </a:p>
        </p:txBody>
      </p:sp>
      <p:sp>
        <p:nvSpPr>
          <p:cNvPr id="17" name="Shape 13"/>
          <p:cNvSpPr/>
          <p:nvPr/>
        </p:nvSpPr>
        <p:spPr>
          <a:xfrm>
            <a:off x="815975" y="3711575"/>
            <a:ext cx="6134338" cy="1558290"/>
          </a:xfrm>
          <a:prstGeom prst="roundRect">
            <a:avLst>
              <a:gd name="adj" fmla="val 6316"/>
            </a:avLst>
          </a:prstGeom>
          <a:solidFill>
            <a:srgbClr val="F7FBFE"/>
          </a:solidFill>
          <a:ln w="6350">
            <a:solidFill>
              <a:srgbClr val="B9D9F0"/>
            </a:solidFill>
            <a:prstDash val="solid"/>
          </a:ln>
        </p:spPr>
      </p:sp>
      <p:sp>
        <p:nvSpPr>
          <p:cNvPr id="18" name="Text 14"/>
          <p:cNvSpPr/>
          <p:nvPr/>
        </p:nvSpPr>
        <p:spPr>
          <a:xfrm>
            <a:off x="1021080" y="3891282"/>
            <a:ext cx="589585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VDI and non-VDI support</a:t>
            </a:r>
            <a:endParaRPr lang="en-US" sz="1600" dirty="0"/>
          </a:p>
        </p:txBody>
      </p:sp>
      <p:sp>
        <p:nvSpPr>
          <p:cNvPr id="19" name="Text 15"/>
          <p:cNvSpPr/>
          <p:nvPr/>
        </p:nvSpPr>
        <p:spPr>
          <a:xfrm>
            <a:off x="1021080" y="4185921"/>
            <a:ext cx="58958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PCM supports both kinds of system. These tasks are done by the VDI team:</a:t>
            </a:r>
            <a:endParaRPr lang="en-US" sz="1200" dirty="0"/>
          </a:p>
        </p:txBody>
      </p:sp>
      <p:sp>
        <p:nvSpPr>
          <p:cNvPr id="20" name="Text 16"/>
          <p:cNvSpPr/>
          <p:nvPr/>
        </p:nvSpPr>
        <p:spPr>
          <a:xfrm>
            <a:off x="1119886" y="4450079"/>
            <a:ext cx="5789426" cy="665480"/>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26384D"/>
                </a:solidFill>
                <a:latin typeface="IBM Plex Sans" pitchFamily="34" charset="0"/>
                <a:ea typeface="IBM Plex Sans" pitchFamily="34" charset="-122"/>
                <a:cs typeface="IBM Plex Sans" pitchFamily="34" charset="-120"/>
              </a:rPr>
              <a:t>Giving VDI access to new users and removing existing users</a:t>
            </a:r>
            <a:endParaRPr lang="en-US" sz="1200" dirty="0"/>
          </a:p>
          <a:p>
            <a:pPr algn="l" marL="155194" indent="-155194">
              <a:lnSpc>
                <a:spcPts val="1680"/>
              </a:lnSpc>
              <a:buSzPct val="100000"/>
              <a:buChar char="•"/>
            </a:pPr>
            <a:r>
              <a:rPr lang="en-US" sz="1200" dirty="0">
                <a:solidFill>
                  <a:srgbClr val="26384D"/>
                </a:solidFill>
                <a:latin typeface="IBM Plex Sans" pitchFamily="34" charset="0"/>
                <a:ea typeface="IBM Plex Sans" pitchFamily="34" charset="-122"/>
                <a:cs typeface="IBM Plex Sans" pitchFamily="34" charset="-120"/>
              </a:rPr>
              <a:t>Creating drives for VDI systems</a:t>
            </a:r>
            <a:endParaRPr lang="en-US" sz="1200" dirty="0"/>
          </a:p>
          <a:p>
            <a:pPr algn="l" marL="155194" indent="-155194">
              <a:lnSpc>
                <a:spcPts val="1680"/>
              </a:lnSpc>
              <a:buSzPct val="100000"/>
              <a:buChar char="•"/>
            </a:pPr>
            <a:r>
              <a:rPr lang="en-US" sz="1200" dirty="0">
                <a:solidFill>
                  <a:srgbClr val="26384D"/>
                </a:solidFill>
                <a:latin typeface="IBM Plex Sans" pitchFamily="34" charset="0"/>
                <a:ea typeface="IBM Plex Sans" pitchFamily="34" charset="-122"/>
                <a:cs typeface="IBM Plex Sans" pitchFamily="34" charset="-120"/>
              </a:rPr>
              <a:t>Giving and removing user restrictions</a:t>
            </a:r>
            <a:endParaRPr lang="en-US" sz="1200" dirty="0"/>
          </a:p>
        </p:txBody>
      </p:sp>
      <p:sp>
        <p:nvSpPr>
          <p:cNvPr id="21" name="Shape 17"/>
          <p:cNvSpPr/>
          <p:nvPr/>
        </p:nvSpPr>
        <p:spPr>
          <a:xfrm>
            <a:off x="7156688" y="3708400"/>
            <a:ext cx="4222512" cy="1564640"/>
          </a:xfrm>
          <a:prstGeom prst="roundRect">
            <a:avLst>
              <a:gd name="adj" fmla="val 6494"/>
            </a:avLst>
          </a:prstGeom>
          <a:solidFill>
            <a:srgbClr val="0B2E5C"/>
          </a:solidFill>
          <a:ln/>
        </p:spPr>
      </p:sp>
      <p:sp>
        <p:nvSpPr>
          <p:cNvPr id="22" name="Text 18"/>
          <p:cNvSpPr/>
          <p:nvPr/>
        </p:nvSpPr>
        <p:spPr>
          <a:xfrm>
            <a:off x="7359888" y="3886200"/>
            <a:ext cx="393059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BFE"/>
                </a:solidFill>
                <a:latin typeface="IBM Plex Sans" pitchFamily="34" charset="0"/>
                <a:ea typeface="IBM Plex Sans" pitchFamily="34" charset="-122"/>
                <a:cs typeface="IBM Plex Sans" pitchFamily="34" charset="-120"/>
              </a:rPr>
              <a:t>Non-maintainability certificate</a:t>
            </a:r>
            <a:endParaRPr lang="en-US" sz="1600" dirty="0"/>
          </a:p>
        </p:txBody>
      </p:sp>
      <p:sp>
        <p:nvSpPr>
          <p:cNvPr id="23" name="Text 19"/>
          <p:cNvSpPr/>
          <p:nvPr/>
        </p:nvSpPr>
        <p:spPr>
          <a:xfrm>
            <a:off x="7359888" y="4180842"/>
            <a:ext cx="393059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Issued for IT assets of the BG Complex that can no longer be supported or repaired (write-off)</a:t>
            </a:r>
            <a:endParaRPr lang="en-US" sz="1200" dirty="0"/>
          </a:p>
        </p:txBody>
      </p:sp>
      <p:sp>
        <p:nvSpPr>
          <p:cNvPr id="24" name="Text 20"/>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5" name="Text 21"/>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Network Monitoring Center (NMC)</a:t>
            </a:r>
            <a:endParaRPr lang="en-US" sz="3200" dirty="0"/>
          </a:p>
        </p:txBody>
      </p:sp>
      <p:sp>
        <p:nvSpPr>
          <p:cNvPr id="7" name="Text 3"/>
          <p:cNvSpPr/>
          <p:nvPr/>
        </p:nvSpPr>
        <p:spPr>
          <a:xfrm>
            <a:off x="812800" y="1940564"/>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607A"/>
                </a:solidFill>
                <a:latin typeface="IBM Plex Sans" pitchFamily="34" charset="0"/>
                <a:ea typeface="IBM Plex Sans" pitchFamily="34" charset="-122"/>
                <a:cs typeface="IBM Plex Sans" pitchFamily="34" charset="-120"/>
              </a:rPr>
              <a:t>The NMC watches over BEL's network and acts on faults, new connections and hardware problems.</a:t>
            </a:r>
            <a:endParaRPr lang="en-US" sz="1600" dirty="0"/>
          </a:p>
        </p:txBody>
      </p:sp>
      <p:sp>
        <p:nvSpPr>
          <p:cNvPr id="8" name="Shape 4"/>
          <p:cNvSpPr/>
          <p:nvPr/>
        </p:nvSpPr>
        <p:spPr>
          <a:xfrm>
            <a:off x="815975" y="2431417"/>
            <a:ext cx="3380264" cy="1639570"/>
          </a:xfrm>
          <a:prstGeom prst="roundRect">
            <a:avLst>
              <a:gd name="adj" fmla="val 6003"/>
            </a:avLst>
          </a:prstGeom>
          <a:solidFill>
            <a:srgbClr val="F7FBFE"/>
          </a:solidFill>
          <a:ln w="6350">
            <a:solidFill>
              <a:srgbClr val="B9D9F0"/>
            </a:solidFill>
            <a:prstDash val="solid"/>
          </a:ln>
        </p:spPr>
      </p:sp>
      <p:pic>
        <p:nvPicPr>
          <p:cNvPr id="9" name="Image 2" descr="Link">    </p:cNvPr>
          <p:cNvPicPr>
            <a:picLocks noChangeAspect="1"/>
          </p:cNvPicPr>
          <p:nvPr/>
        </p:nvPicPr>
        <p:blipFill>
          <a:blip r:embed="rId3"/>
          <a:srcRect l="0" r="0" t="0" b="0"/>
          <a:stretch/>
        </p:blipFill>
        <p:spPr>
          <a:xfrm>
            <a:off x="1021080" y="2636521"/>
            <a:ext cx="355600" cy="355600"/>
          </a:xfrm>
          <a:prstGeom prst="rect">
            <a:avLst/>
          </a:prstGeom>
        </p:spPr>
      </p:pic>
      <p:sp>
        <p:nvSpPr>
          <p:cNvPr id="10" name="Text 5"/>
          <p:cNvSpPr/>
          <p:nvPr/>
        </p:nvSpPr>
        <p:spPr>
          <a:xfrm>
            <a:off x="1021080" y="3093721"/>
            <a:ext cx="305915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New connections</a:t>
            </a:r>
            <a:endParaRPr lang="en-US" sz="1600" dirty="0"/>
          </a:p>
        </p:txBody>
      </p:sp>
      <p:sp>
        <p:nvSpPr>
          <p:cNvPr id="11" name="Text 6"/>
          <p:cNvSpPr/>
          <p:nvPr/>
        </p:nvSpPr>
        <p:spPr>
          <a:xfrm>
            <a:off x="1021080" y="3439164"/>
            <a:ext cx="305915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Providing network connections to users and departments</a:t>
            </a:r>
            <a:endParaRPr lang="en-US" sz="1200" dirty="0"/>
          </a:p>
        </p:txBody>
      </p:sp>
      <p:sp>
        <p:nvSpPr>
          <p:cNvPr id="12" name="Shape 7"/>
          <p:cNvSpPr/>
          <p:nvPr/>
        </p:nvSpPr>
        <p:spPr>
          <a:xfrm>
            <a:off x="4405789" y="2431417"/>
            <a:ext cx="3380343" cy="1639570"/>
          </a:xfrm>
          <a:prstGeom prst="roundRect">
            <a:avLst>
              <a:gd name="adj" fmla="val 6003"/>
            </a:avLst>
          </a:prstGeom>
          <a:solidFill>
            <a:srgbClr val="F7FBFE"/>
          </a:solidFill>
          <a:ln w="6350">
            <a:solidFill>
              <a:srgbClr val="B9D9F0"/>
            </a:solidFill>
            <a:prstDash val="solid"/>
          </a:ln>
        </p:spPr>
      </p:sp>
      <p:pic>
        <p:nvPicPr>
          <p:cNvPr id="13" name="Image 3" descr="Activity">    </p:cNvPr>
          <p:cNvPicPr>
            <a:picLocks noChangeAspect="1"/>
          </p:cNvPicPr>
          <p:nvPr/>
        </p:nvPicPr>
        <p:blipFill>
          <a:blip r:embed="rId4"/>
          <a:srcRect l="0" r="0" t="0" b="0"/>
          <a:stretch/>
        </p:blipFill>
        <p:spPr>
          <a:xfrm>
            <a:off x="4610894" y="2636521"/>
            <a:ext cx="355600" cy="355600"/>
          </a:xfrm>
          <a:prstGeom prst="rect">
            <a:avLst/>
          </a:prstGeom>
        </p:spPr>
      </p:pic>
      <p:sp>
        <p:nvSpPr>
          <p:cNvPr id="14" name="Text 8"/>
          <p:cNvSpPr/>
          <p:nvPr/>
        </p:nvSpPr>
        <p:spPr>
          <a:xfrm>
            <a:off x="4610894" y="3093721"/>
            <a:ext cx="305923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Network issue resolution</a:t>
            </a:r>
            <a:endParaRPr lang="en-US" sz="1600" dirty="0"/>
          </a:p>
        </p:txBody>
      </p:sp>
      <p:sp>
        <p:nvSpPr>
          <p:cNvPr id="15" name="Text 9"/>
          <p:cNvSpPr/>
          <p:nvPr/>
        </p:nvSpPr>
        <p:spPr>
          <a:xfrm>
            <a:off x="4610894" y="3439164"/>
            <a:ext cx="305923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Finding and fixing faults reported by users or raised by monitoring</a:t>
            </a:r>
            <a:endParaRPr lang="en-US" sz="1200" dirty="0"/>
          </a:p>
        </p:txBody>
      </p:sp>
      <p:sp>
        <p:nvSpPr>
          <p:cNvPr id="16" name="Shape 10"/>
          <p:cNvSpPr/>
          <p:nvPr/>
        </p:nvSpPr>
        <p:spPr>
          <a:xfrm>
            <a:off x="7995682" y="2431417"/>
            <a:ext cx="3380343" cy="1639570"/>
          </a:xfrm>
          <a:prstGeom prst="roundRect">
            <a:avLst>
              <a:gd name="adj" fmla="val 6003"/>
            </a:avLst>
          </a:prstGeom>
          <a:solidFill>
            <a:srgbClr val="F7FBFE"/>
          </a:solidFill>
          <a:ln w="6350">
            <a:solidFill>
              <a:srgbClr val="B9D9F0"/>
            </a:solidFill>
            <a:prstDash val="solid"/>
          </a:ln>
        </p:spPr>
      </p:sp>
      <p:pic>
        <p:nvPicPr>
          <p:cNvPr id="17" name="Image 4" descr="Wrench">    </p:cNvPr>
          <p:cNvPicPr>
            <a:picLocks noChangeAspect="1"/>
          </p:cNvPicPr>
          <p:nvPr/>
        </p:nvPicPr>
        <p:blipFill>
          <a:blip r:embed="rId5"/>
          <a:srcRect l="0" r="0" t="0" b="0"/>
          <a:stretch/>
        </p:blipFill>
        <p:spPr>
          <a:xfrm>
            <a:off x="8200787" y="2636521"/>
            <a:ext cx="355600" cy="355600"/>
          </a:xfrm>
          <a:prstGeom prst="rect">
            <a:avLst/>
          </a:prstGeom>
        </p:spPr>
      </p:pic>
      <p:sp>
        <p:nvSpPr>
          <p:cNvPr id="18" name="Text 11"/>
          <p:cNvSpPr/>
          <p:nvPr/>
        </p:nvSpPr>
        <p:spPr>
          <a:xfrm>
            <a:off x="8200787" y="3093721"/>
            <a:ext cx="305923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Network hardware issues</a:t>
            </a:r>
            <a:endParaRPr lang="en-US" sz="1600" dirty="0"/>
          </a:p>
        </p:txBody>
      </p:sp>
      <p:sp>
        <p:nvSpPr>
          <p:cNvPr id="19" name="Text 12"/>
          <p:cNvSpPr/>
          <p:nvPr/>
        </p:nvSpPr>
        <p:spPr>
          <a:xfrm>
            <a:off x="8200787" y="3439164"/>
            <a:ext cx="305923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Switches, routers and other network equipment</a:t>
            </a:r>
            <a:endParaRPr lang="en-US" sz="1200" dirty="0"/>
          </a:p>
        </p:txBody>
      </p:sp>
      <p:sp>
        <p:nvSpPr>
          <p:cNvPr id="20" name="Text 13"/>
          <p:cNvSpPr/>
          <p:nvPr/>
        </p:nvSpPr>
        <p:spPr>
          <a:xfrm>
            <a:off x="812800" y="4277364"/>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ALSO PART OF NMC WORK</a:t>
            </a:r>
            <a:endParaRPr lang="en-US" sz="1200" dirty="0"/>
          </a:p>
        </p:txBody>
      </p:sp>
      <p:sp>
        <p:nvSpPr>
          <p:cNvPr id="21" name="Text 14"/>
          <p:cNvSpPr/>
          <p:nvPr/>
        </p:nvSpPr>
        <p:spPr>
          <a:xfrm>
            <a:off x="812800" y="4566921"/>
            <a:ext cx="2165826" cy="365760"/>
          </a:xfrm>
          <a:prstGeom prst="roundRect">
            <a:avLst>
              <a:gd name="adj" fmla="val 50000"/>
            </a:avLst>
          </a:prstGeom>
          <a:solidFill>
            <a:srgbClr val="CFE6F7"/>
          </a:solidFill>
          <a:ln/>
        </p:spPr>
        <p:txBody>
          <a:bodyPr wrap="none" lIns="0" tIns="0" rIns="0" bIns="0" rtlCol="0" anchor="ctr">
            <a:normAutofit/>
          </a:bodyPr>
          <a:lstStyle/>
          <a:p>
            <a:pPr algn="ctr" indent="0" marL="0">
              <a:lnSpc>
                <a:spcPts val="1680"/>
              </a:lnSpc>
              <a:buNone/>
            </a:pPr>
            <a:r>
              <a:rPr lang="en-US" sz="1200" dirty="0">
                <a:solidFill>
                  <a:srgbClr val="0B2E5C"/>
                </a:solidFill>
                <a:latin typeface="IBM Plex Sans" pitchFamily="34" charset="0"/>
                <a:ea typeface="IBM Plex Sans" pitchFamily="34" charset="-122"/>
                <a:cs typeface="IBM Plex Sans" pitchFamily="34" charset="-120"/>
              </a:rPr>
              <a:t>Device and link monitoring</a:t>
            </a:r>
            <a:endParaRPr lang="en-US" sz="1200" dirty="0"/>
          </a:p>
        </p:txBody>
      </p:sp>
      <p:sp>
        <p:nvSpPr>
          <p:cNvPr id="22" name="Text 15"/>
          <p:cNvSpPr/>
          <p:nvPr/>
        </p:nvSpPr>
        <p:spPr>
          <a:xfrm>
            <a:off x="3080226" y="4566921"/>
            <a:ext cx="2256552" cy="365760"/>
          </a:xfrm>
          <a:prstGeom prst="roundRect">
            <a:avLst>
              <a:gd name="adj" fmla="val 50000"/>
            </a:avLst>
          </a:prstGeom>
          <a:solidFill>
            <a:srgbClr val="CFE6F7"/>
          </a:solidFill>
          <a:ln/>
        </p:spPr>
        <p:txBody>
          <a:bodyPr wrap="none" lIns="0" tIns="0" rIns="0" bIns="0" rtlCol="0" anchor="ctr">
            <a:normAutofit/>
          </a:bodyPr>
          <a:lstStyle/>
          <a:p>
            <a:pPr algn="ctr" indent="0" marL="0">
              <a:lnSpc>
                <a:spcPts val="1680"/>
              </a:lnSpc>
              <a:buNone/>
            </a:pPr>
            <a:r>
              <a:rPr lang="en-US" sz="1200" dirty="0">
                <a:solidFill>
                  <a:srgbClr val="0B2E5C"/>
                </a:solidFill>
                <a:latin typeface="IBM Plex Sans" pitchFamily="34" charset="0"/>
                <a:ea typeface="IBM Plex Sans" pitchFamily="34" charset="-122"/>
                <a:cs typeface="IBM Plex Sans" pitchFamily="34" charset="-120"/>
              </a:rPr>
              <a:t>Fault logging and escalation</a:t>
            </a:r>
            <a:endParaRPr lang="en-US" sz="1200" dirty="0"/>
          </a:p>
        </p:txBody>
      </p:sp>
      <p:sp>
        <p:nvSpPr>
          <p:cNvPr id="23" name="Text 16"/>
          <p:cNvSpPr/>
          <p:nvPr/>
        </p:nvSpPr>
        <p:spPr>
          <a:xfrm>
            <a:off x="5438378" y="4566921"/>
            <a:ext cx="1885553" cy="365760"/>
          </a:xfrm>
          <a:prstGeom prst="roundRect">
            <a:avLst>
              <a:gd name="adj" fmla="val 50000"/>
            </a:avLst>
          </a:prstGeom>
          <a:solidFill>
            <a:srgbClr val="CFE6F7"/>
          </a:solidFill>
          <a:ln/>
        </p:spPr>
        <p:txBody>
          <a:bodyPr wrap="none" lIns="0" tIns="0" rIns="0" bIns="0" rtlCol="0" anchor="ctr">
            <a:normAutofit/>
          </a:bodyPr>
          <a:lstStyle/>
          <a:p>
            <a:pPr algn="ctr" indent="0" marL="0">
              <a:lnSpc>
                <a:spcPts val="1680"/>
              </a:lnSpc>
              <a:buNone/>
            </a:pPr>
            <a:r>
              <a:rPr lang="en-US" sz="1200" dirty="0">
                <a:solidFill>
                  <a:srgbClr val="0B2E5C"/>
                </a:solidFill>
                <a:latin typeface="IBM Plex Sans" pitchFamily="34" charset="0"/>
                <a:ea typeface="IBM Plex Sans" pitchFamily="34" charset="-122"/>
                <a:cs typeface="IBM Plex Sans" pitchFamily="34" charset="-120"/>
              </a:rPr>
              <a:t>Configuration backups</a:t>
            </a:r>
            <a:endParaRPr lang="en-US" sz="1200" dirty="0"/>
          </a:p>
        </p:txBody>
      </p:sp>
      <p:sp>
        <p:nvSpPr>
          <p:cNvPr id="24" name="Text 17"/>
          <p:cNvSpPr/>
          <p:nvPr/>
        </p:nvSpPr>
        <p:spPr>
          <a:xfrm>
            <a:off x="7425531" y="4566921"/>
            <a:ext cx="1387554" cy="365760"/>
          </a:xfrm>
          <a:prstGeom prst="roundRect">
            <a:avLst>
              <a:gd name="adj" fmla="val 50000"/>
            </a:avLst>
          </a:prstGeom>
          <a:solidFill>
            <a:srgbClr val="CFE6F7"/>
          </a:solidFill>
          <a:ln/>
        </p:spPr>
        <p:txBody>
          <a:bodyPr wrap="none" lIns="0" tIns="0" rIns="0" bIns="0" rtlCol="0" anchor="ctr">
            <a:normAutofit/>
          </a:bodyPr>
          <a:lstStyle/>
          <a:p>
            <a:pPr algn="ctr" indent="0" marL="0">
              <a:lnSpc>
                <a:spcPts val="1680"/>
              </a:lnSpc>
              <a:buNone/>
            </a:pPr>
            <a:r>
              <a:rPr lang="en-US" sz="1200" dirty="0">
                <a:solidFill>
                  <a:srgbClr val="0B2E5C"/>
                </a:solidFill>
                <a:latin typeface="IBM Plex Sans" pitchFamily="34" charset="0"/>
                <a:ea typeface="IBM Plex Sans" pitchFamily="34" charset="-122"/>
                <a:cs typeface="IBM Plex Sans" pitchFamily="34" charset="-120"/>
              </a:rPr>
              <a:t>Uptime reports</a:t>
            </a:r>
            <a:endParaRPr lang="en-US" sz="1200" dirty="0"/>
          </a:p>
        </p:txBody>
      </p:sp>
      <p:sp>
        <p:nvSpPr>
          <p:cNvPr id="25" name="Text 18"/>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6" name="Text 19"/>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The network in BEL</a:t>
            </a:r>
            <a:endParaRPr lang="en-US" sz="3200" dirty="0"/>
          </a:p>
        </p:txBody>
      </p:sp>
      <p:sp>
        <p:nvSpPr>
          <p:cNvPr id="7" name="Shape 3"/>
          <p:cNvSpPr/>
          <p:nvPr/>
        </p:nvSpPr>
        <p:spPr>
          <a:xfrm>
            <a:off x="812800" y="1889764"/>
            <a:ext cx="5176520" cy="934720"/>
          </a:xfrm>
          <a:prstGeom prst="roundRect">
            <a:avLst>
              <a:gd name="adj" fmla="val 10870"/>
            </a:avLst>
          </a:prstGeom>
          <a:solidFill>
            <a:srgbClr val="0B5FB0"/>
          </a:solidFill>
          <a:ln/>
        </p:spPr>
      </p:sp>
      <p:sp>
        <p:nvSpPr>
          <p:cNvPr id="8" name="Text 4"/>
          <p:cNvSpPr/>
          <p:nvPr/>
        </p:nvSpPr>
        <p:spPr>
          <a:xfrm>
            <a:off x="1066800" y="2067564"/>
            <a:ext cx="48085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BFE"/>
                </a:solidFill>
                <a:latin typeface="IBM Plex Sans" pitchFamily="34" charset="0"/>
                <a:ea typeface="IBM Plex Sans" pitchFamily="34" charset="-122"/>
                <a:cs typeface="IBM Plex Sans" pitchFamily="34" charset="-120"/>
              </a:rPr>
              <a:t>Intranet</a:t>
            </a:r>
            <a:endParaRPr lang="en-US" sz="2000" dirty="0"/>
          </a:p>
        </p:txBody>
      </p:sp>
      <p:sp>
        <p:nvSpPr>
          <p:cNvPr id="9" name="Text 5"/>
          <p:cNvSpPr/>
          <p:nvPr/>
        </p:nvSpPr>
        <p:spPr>
          <a:xfrm>
            <a:off x="1066800" y="2423164"/>
            <a:ext cx="48085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ERP, internal mail, IP telephony and video conferencing</a:t>
            </a:r>
            <a:endParaRPr lang="en-US" sz="1200" dirty="0"/>
          </a:p>
        </p:txBody>
      </p:sp>
      <p:sp>
        <p:nvSpPr>
          <p:cNvPr id="10" name="Shape 6"/>
          <p:cNvSpPr/>
          <p:nvPr/>
        </p:nvSpPr>
        <p:spPr>
          <a:xfrm>
            <a:off x="6195695" y="1892939"/>
            <a:ext cx="5180330" cy="928370"/>
          </a:xfrm>
          <a:prstGeom prst="roundRect">
            <a:avLst>
              <a:gd name="adj" fmla="val 10602"/>
            </a:avLst>
          </a:prstGeom>
          <a:solidFill>
            <a:srgbClr val="F7FBFE"/>
          </a:solidFill>
          <a:ln w="6350">
            <a:solidFill>
              <a:srgbClr val="B9D9F0"/>
            </a:solidFill>
            <a:prstDash val="solid"/>
          </a:ln>
        </p:spPr>
      </p:sp>
      <p:sp>
        <p:nvSpPr>
          <p:cNvPr id="11" name="Text 7"/>
          <p:cNvSpPr/>
          <p:nvPr/>
        </p:nvSpPr>
        <p:spPr>
          <a:xfrm>
            <a:off x="6451600" y="2072642"/>
            <a:ext cx="48085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Internet</a:t>
            </a:r>
            <a:endParaRPr lang="en-US" sz="2000" dirty="0"/>
          </a:p>
        </p:txBody>
      </p:sp>
      <p:sp>
        <p:nvSpPr>
          <p:cNvPr id="12" name="Text 8"/>
          <p:cNvSpPr/>
          <p:nvPr/>
        </p:nvSpPr>
        <p:spPr>
          <a:xfrm>
            <a:off x="6451600" y="2428242"/>
            <a:ext cx="48085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External mail, web browsing and e-procurement</a:t>
            </a:r>
            <a:endParaRPr lang="en-US" sz="1200" dirty="0"/>
          </a:p>
        </p:txBody>
      </p:sp>
      <p:sp>
        <p:nvSpPr>
          <p:cNvPr id="13" name="Text 9"/>
          <p:cNvSpPr/>
          <p:nvPr/>
        </p:nvSpPr>
        <p:spPr>
          <a:xfrm>
            <a:off x="812800" y="297687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5FB0"/>
                </a:solidFill>
                <a:latin typeface="IBM Plex Sans" pitchFamily="34" charset="0"/>
                <a:ea typeface="IBM Plex Sans" pitchFamily="34" charset="-122"/>
                <a:cs typeface="IBM Plex Sans" pitchFamily="34" charset="-120"/>
              </a:rPr>
              <a:t>THE INTRANET IS DIVIDED INTO 3 ZONES</a:t>
            </a:r>
            <a:endParaRPr lang="en-US" sz="1200" dirty="0"/>
          </a:p>
        </p:txBody>
      </p:sp>
      <p:sp>
        <p:nvSpPr>
          <p:cNvPr id="14" name="Shape 10"/>
          <p:cNvSpPr/>
          <p:nvPr/>
        </p:nvSpPr>
        <p:spPr>
          <a:xfrm>
            <a:off x="812800" y="3342642"/>
            <a:ext cx="3379867" cy="1229360"/>
          </a:xfrm>
          <a:prstGeom prst="roundRect">
            <a:avLst>
              <a:gd name="adj" fmla="val 8264"/>
            </a:avLst>
          </a:prstGeom>
          <a:solidFill>
            <a:srgbClr val="0B2E5C"/>
          </a:solidFill>
          <a:ln/>
        </p:spPr>
      </p:sp>
      <p:sp>
        <p:nvSpPr>
          <p:cNvPr id="15" name="Text 11"/>
          <p:cNvSpPr/>
          <p:nvPr/>
        </p:nvSpPr>
        <p:spPr>
          <a:xfrm>
            <a:off x="1066800" y="3520442"/>
            <a:ext cx="29580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BFE"/>
                </a:solidFill>
                <a:latin typeface="IBM Plex Sans" pitchFamily="34" charset="0"/>
                <a:ea typeface="IBM Plex Sans" pitchFamily="34" charset="-122"/>
                <a:cs typeface="IBM Plex Sans" pitchFamily="34" charset="-120"/>
              </a:rPr>
              <a:t>MCE zone</a:t>
            </a:r>
            <a:endParaRPr lang="en-US" sz="2000" dirty="0"/>
          </a:p>
        </p:txBody>
      </p:sp>
      <p:sp>
        <p:nvSpPr>
          <p:cNvPr id="16" name="Text 12"/>
          <p:cNvSpPr/>
          <p:nvPr/>
        </p:nvSpPr>
        <p:spPr>
          <a:xfrm>
            <a:off x="1066800" y="3876042"/>
            <a:ext cx="29580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B14A"/>
                </a:solidFill>
                <a:latin typeface="IBM Plex Sans" pitchFamily="34" charset="0"/>
                <a:ea typeface="IBM Plex Sans" pitchFamily="34" charset="-122"/>
                <a:cs typeface="IBM Plex Sans" pitchFamily="34" charset="-120"/>
              </a:rPr>
              <a:t>172.193.x.x</a:t>
            </a:r>
            <a:endParaRPr lang="en-US" sz="1600" dirty="0"/>
          </a:p>
        </p:txBody>
      </p:sp>
      <p:sp>
        <p:nvSpPr>
          <p:cNvPr id="17" name="Text 13"/>
          <p:cNvSpPr/>
          <p:nvPr/>
        </p:nvSpPr>
        <p:spPr>
          <a:xfrm>
            <a:off x="1066800" y="4170679"/>
            <a:ext cx="29580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Main zone: connects all the other zones</a:t>
            </a:r>
            <a:endParaRPr lang="en-US" sz="1200" dirty="0"/>
          </a:p>
        </p:txBody>
      </p:sp>
      <p:sp>
        <p:nvSpPr>
          <p:cNvPr id="18" name="Shape 14"/>
          <p:cNvSpPr/>
          <p:nvPr/>
        </p:nvSpPr>
        <p:spPr>
          <a:xfrm>
            <a:off x="4399042" y="3345817"/>
            <a:ext cx="3383756" cy="1223010"/>
          </a:xfrm>
          <a:prstGeom prst="roundRect">
            <a:avLst>
              <a:gd name="adj" fmla="val 8048"/>
            </a:avLst>
          </a:prstGeom>
          <a:solidFill>
            <a:srgbClr val="F7FBFE"/>
          </a:solidFill>
          <a:ln w="6350">
            <a:solidFill>
              <a:srgbClr val="B9D9F0"/>
            </a:solidFill>
            <a:prstDash val="solid"/>
          </a:ln>
        </p:spPr>
      </p:sp>
      <p:sp>
        <p:nvSpPr>
          <p:cNvPr id="19" name="Text 15"/>
          <p:cNvSpPr/>
          <p:nvPr/>
        </p:nvSpPr>
        <p:spPr>
          <a:xfrm>
            <a:off x="4654947" y="3525521"/>
            <a:ext cx="295810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MS-DC zone</a:t>
            </a:r>
            <a:endParaRPr lang="en-US" sz="2000" dirty="0"/>
          </a:p>
        </p:txBody>
      </p:sp>
      <p:sp>
        <p:nvSpPr>
          <p:cNvPr id="20" name="Text 16"/>
          <p:cNvSpPr/>
          <p:nvPr/>
        </p:nvSpPr>
        <p:spPr>
          <a:xfrm>
            <a:off x="4654947" y="3881121"/>
            <a:ext cx="295810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5FB0"/>
                </a:solidFill>
                <a:latin typeface="IBM Plex Sans" pitchFamily="34" charset="0"/>
                <a:ea typeface="IBM Plex Sans" pitchFamily="34" charset="-122"/>
                <a:cs typeface="IBM Plex Sans" pitchFamily="34" charset="-120"/>
              </a:rPr>
              <a:t>172.195.x.x</a:t>
            </a:r>
            <a:endParaRPr lang="en-US" sz="1600" dirty="0"/>
          </a:p>
        </p:txBody>
      </p:sp>
      <p:sp>
        <p:nvSpPr>
          <p:cNvPr id="21" name="Text 17"/>
          <p:cNvSpPr/>
          <p:nvPr/>
        </p:nvSpPr>
        <p:spPr>
          <a:xfrm>
            <a:off x="4654947" y="4175764"/>
            <a:ext cx="29581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Connects its own departments</a:t>
            </a:r>
            <a:endParaRPr lang="en-US" sz="1200" dirty="0"/>
          </a:p>
        </p:txBody>
      </p:sp>
      <p:sp>
        <p:nvSpPr>
          <p:cNvPr id="22" name="Shape 18"/>
          <p:cNvSpPr/>
          <p:nvPr/>
        </p:nvSpPr>
        <p:spPr>
          <a:xfrm>
            <a:off x="7992349" y="3345817"/>
            <a:ext cx="3383677" cy="1223010"/>
          </a:xfrm>
          <a:prstGeom prst="roundRect">
            <a:avLst>
              <a:gd name="adj" fmla="val 8048"/>
            </a:avLst>
          </a:prstGeom>
          <a:solidFill>
            <a:srgbClr val="F7FBFE"/>
          </a:solidFill>
          <a:ln w="6350">
            <a:solidFill>
              <a:srgbClr val="B9D9F0"/>
            </a:solidFill>
            <a:prstDash val="solid"/>
          </a:ln>
        </p:spPr>
      </p:sp>
      <p:sp>
        <p:nvSpPr>
          <p:cNvPr id="23" name="Text 19"/>
          <p:cNvSpPr/>
          <p:nvPr/>
        </p:nvSpPr>
        <p:spPr>
          <a:xfrm>
            <a:off x="8248253" y="3525521"/>
            <a:ext cx="29580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EW&amp;A-DC zone</a:t>
            </a:r>
            <a:endParaRPr lang="en-US" sz="2000" dirty="0"/>
          </a:p>
        </p:txBody>
      </p:sp>
      <p:sp>
        <p:nvSpPr>
          <p:cNvPr id="24" name="Text 20"/>
          <p:cNvSpPr/>
          <p:nvPr/>
        </p:nvSpPr>
        <p:spPr>
          <a:xfrm>
            <a:off x="8248253" y="3881121"/>
            <a:ext cx="29580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5FB0"/>
                </a:solidFill>
                <a:latin typeface="IBM Plex Sans" pitchFamily="34" charset="0"/>
                <a:ea typeface="IBM Plex Sans" pitchFamily="34" charset="-122"/>
                <a:cs typeface="IBM Plex Sans" pitchFamily="34" charset="-120"/>
              </a:rPr>
              <a:t>172.194.x.x</a:t>
            </a:r>
            <a:endParaRPr lang="en-US" sz="1600" dirty="0"/>
          </a:p>
        </p:txBody>
      </p:sp>
      <p:sp>
        <p:nvSpPr>
          <p:cNvPr id="25" name="Text 21"/>
          <p:cNvSpPr/>
          <p:nvPr/>
        </p:nvSpPr>
        <p:spPr>
          <a:xfrm>
            <a:off x="8248253" y="4175764"/>
            <a:ext cx="29580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Connects its own departments</a:t>
            </a:r>
            <a:endParaRPr lang="en-US" sz="1200" dirty="0"/>
          </a:p>
        </p:txBody>
      </p:sp>
      <p:sp>
        <p:nvSpPr>
          <p:cNvPr id="26" name="Text 22"/>
          <p:cNvSpPr/>
          <p:nvPr/>
        </p:nvSpPr>
        <p:spPr>
          <a:xfrm>
            <a:off x="812800" y="4724400"/>
            <a:ext cx="10566400" cy="629920"/>
          </a:xfrm>
          <a:prstGeom prst="roundRect">
            <a:avLst>
              <a:gd name="adj" fmla="val 12097"/>
            </a:avLst>
          </a:prstGeom>
          <a:solidFill>
            <a:srgbClr val="CFE6F7"/>
          </a:solidFill>
          <a:ln/>
        </p:spPr>
        <p:txBody>
          <a:bodyPr wrap="square" lIns="130082" tIns="79282" rIns="0" bIns="53882" rtlCol="0" anchor="t">
            <a:normAutofit/>
          </a:bodyPr>
          <a:lstStyle/>
          <a:p>
            <a:pPr algn="l" indent="0" marL="0">
              <a:lnSpc>
                <a:spcPts val="1680"/>
              </a:lnSpc>
              <a:buNone/>
            </a:pPr>
            <a:r>
              <a:rPr lang="en-US" sz="1200" b="1" dirty="0">
                <a:solidFill>
                  <a:srgbClr val="26384D"/>
                </a:solidFill>
                <a:latin typeface="IBM Plex Sans" pitchFamily="34" charset="0"/>
                <a:ea typeface="IBM Plex Sans" pitchFamily="34" charset="-122"/>
                <a:cs typeface="IBM Plex Sans" pitchFamily="34" charset="-120"/>
              </a:rPr>
              <a:t>Ring topology:</a:t>
            </a:r>
            <a:r>
              <a:rPr lang="en-US" sz="1200" dirty="0">
                <a:solidFill>
                  <a:srgbClr val="26384D"/>
                </a:solidFill>
                <a:latin typeface="IBM Plex Sans" pitchFamily="34" charset="0"/>
                <a:ea typeface="IBM Plex Sans" pitchFamily="34" charset="-122"/>
                <a:cs typeface="IBM Plex Sans" pitchFamily="34" charset="-120"/>
              </a:rPr>
              <a:t> the zones are connected in a closed loop, each linked to two neighbours. If one link fails, traffic goes the other way round. Departments connect to their own zone; MCE serves many.</a:t>
            </a:r>
            <a:endParaRPr lang="en-US" sz="1200" dirty="0"/>
          </a:p>
        </p:txBody>
      </p:sp>
      <p:sp>
        <p:nvSpPr>
          <p:cNvPr id="27" name="Text 23"/>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8" name="Text 24"/>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Intranet network architecture</a:t>
            </a:r>
            <a:endParaRPr lang="en-US" sz="3200" dirty="0"/>
          </a:p>
        </p:txBody>
      </p:sp>
      <p:sp>
        <p:nvSpPr>
          <p:cNvPr id="7" name="Text 3"/>
          <p:cNvSpPr/>
          <p:nvPr/>
        </p:nvSpPr>
        <p:spPr>
          <a:xfrm>
            <a:off x="815975" y="1892939"/>
            <a:ext cx="3380264" cy="369570"/>
          </a:xfrm>
          <a:prstGeom prst="roundRect">
            <a:avLst>
              <a:gd name="adj" fmla="val 19759"/>
            </a:avLst>
          </a:prstGeom>
          <a:solidFill>
            <a:srgbClr val="F7FBFE"/>
          </a:solidFill>
          <a:ln w="6350">
            <a:solidFill>
              <a:srgbClr val="B9D9F0"/>
            </a:solidFill>
            <a:prstDash val="solid"/>
          </a:ln>
        </p:spPr>
        <p:txBody>
          <a:bodyPr wrap="square" lIns="60680" tIns="56717" rIns="60680" bIns="31317" rtlCol="0" anchor="t">
            <a:normAutofit/>
          </a:bodyPr>
          <a:lstStyle/>
          <a:p>
            <a:pPr algn="ctr" indent="0" marL="0">
              <a:lnSpc>
                <a:spcPts val="1680"/>
              </a:lnSpc>
              <a:buNone/>
            </a:pPr>
            <a:r>
              <a:rPr lang="en-US" sz="1200" dirty="0">
                <a:solidFill>
                  <a:srgbClr val="0B2E5C"/>
                </a:solidFill>
                <a:latin typeface="IBM Plex Sans" pitchFamily="34" charset="0"/>
                <a:ea typeface="IBM Plex Sans" pitchFamily="34" charset="-122"/>
                <a:cs typeface="IBM Plex Sans" pitchFamily="34" charset="-120"/>
              </a:rPr>
              <a:t>SAP server and VC (data centre)</a:t>
            </a:r>
            <a:endParaRPr lang="en-US" sz="1200" dirty="0"/>
          </a:p>
        </p:txBody>
      </p:sp>
      <p:sp>
        <p:nvSpPr>
          <p:cNvPr id="8" name="Text 4"/>
          <p:cNvSpPr/>
          <p:nvPr/>
        </p:nvSpPr>
        <p:spPr>
          <a:xfrm>
            <a:off x="4405789" y="1892939"/>
            <a:ext cx="3380343" cy="369570"/>
          </a:xfrm>
          <a:prstGeom prst="roundRect">
            <a:avLst>
              <a:gd name="adj" fmla="val 19759"/>
            </a:avLst>
          </a:prstGeom>
          <a:solidFill>
            <a:srgbClr val="F7FBFE"/>
          </a:solidFill>
          <a:ln w="6350">
            <a:solidFill>
              <a:srgbClr val="B9D9F0"/>
            </a:solidFill>
            <a:prstDash val="solid"/>
          </a:ln>
        </p:spPr>
        <p:txBody>
          <a:bodyPr wrap="square" lIns="60679" tIns="56717" rIns="60679" bIns="31317" rtlCol="0" anchor="t">
            <a:normAutofit/>
          </a:bodyPr>
          <a:lstStyle/>
          <a:p>
            <a:pPr algn="ctr" indent="0" marL="0">
              <a:lnSpc>
                <a:spcPts val="1680"/>
              </a:lnSpc>
              <a:buNone/>
            </a:pPr>
            <a:r>
              <a:rPr lang="en-US" sz="1200" dirty="0">
                <a:solidFill>
                  <a:srgbClr val="0B2E5C"/>
                </a:solidFill>
                <a:latin typeface="IBM Plex Sans" pitchFamily="34" charset="0"/>
                <a:ea typeface="IBM Plex Sans" pitchFamily="34" charset="-122"/>
                <a:cs typeface="IBM Plex Sans" pitchFamily="34" charset="-120"/>
              </a:rPr>
              <a:t>SIP server (voice)</a:t>
            </a:r>
            <a:endParaRPr lang="en-US" sz="1200" dirty="0"/>
          </a:p>
        </p:txBody>
      </p:sp>
      <p:sp>
        <p:nvSpPr>
          <p:cNvPr id="9" name="Text 5"/>
          <p:cNvSpPr/>
          <p:nvPr/>
        </p:nvSpPr>
        <p:spPr>
          <a:xfrm>
            <a:off x="7995682" y="1892939"/>
            <a:ext cx="3380343" cy="369570"/>
          </a:xfrm>
          <a:prstGeom prst="roundRect">
            <a:avLst>
              <a:gd name="adj" fmla="val 19759"/>
            </a:avLst>
          </a:prstGeom>
          <a:solidFill>
            <a:srgbClr val="F7FBFE"/>
          </a:solidFill>
          <a:ln w="6350">
            <a:solidFill>
              <a:srgbClr val="B9D9F0"/>
            </a:solidFill>
            <a:prstDash val="solid"/>
          </a:ln>
        </p:spPr>
        <p:txBody>
          <a:bodyPr wrap="square" lIns="60679" tIns="56717" rIns="60679" bIns="31317" rtlCol="0" anchor="t">
            <a:normAutofit/>
          </a:bodyPr>
          <a:lstStyle/>
          <a:p>
            <a:pPr algn="ctr" indent="0" marL="0">
              <a:lnSpc>
                <a:spcPts val="1680"/>
              </a:lnSpc>
              <a:buNone/>
            </a:pPr>
            <a:r>
              <a:rPr lang="en-US" sz="1200" dirty="0">
                <a:solidFill>
                  <a:srgbClr val="0B2E5C"/>
                </a:solidFill>
                <a:latin typeface="IBM Plex Sans" pitchFamily="34" charset="0"/>
                <a:ea typeface="IBM Plex Sans" pitchFamily="34" charset="-122"/>
                <a:cs typeface="IBM Plex Sans" pitchFamily="34" charset="-120"/>
              </a:rPr>
              <a:t>VDI-DC (virtual desktops)</a:t>
            </a:r>
            <a:endParaRPr lang="en-US" sz="1200" dirty="0"/>
          </a:p>
        </p:txBody>
      </p:sp>
      <p:pic>
        <p:nvPicPr>
          <p:cNvPr id="10" name="Image 2" descr="connector">    </p:cNvPr>
          <p:cNvPicPr>
            <a:picLocks noChangeAspect="1"/>
          </p:cNvPicPr>
          <p:nvPr/>
        </p:nvPicPr>
        <p:blipFill>
          <a:blip r:embed="rId3"/>
          <a:srcRect l="0" r="0" t="0" b="0"/>
          <a:stretch/>
        </p:blipFill>
        <p:spPr>
          <a:xfrm>
            <a:off x="6032500" y="2418079"/>
            <a:ext cx="127000" cy="381000"/>
          </a:xfrm>
          <a:prstGeom prst="rect">
            <a:avLst/>
          </a:prstGeom>
        </p:spPr>
      </p:pic>
      <p:pic>
        <p:nvPicPr>
          <p:cNvPr id="11" name="Image 3" descr="connector">    </p:cNvPr>
          <p:cNvPicPr>
            <a:picLocks noChangeAspect="1"/>
          </p:cNvPicPr>
          <p:nvPr/>
        </p:nvPicPr>
        <p:blipFill>
          <a:blip r:embed="rId4"/>
          <a:srcRect l="0" r="0" t="0" b="0"/>
          <a:stretch/>
        </p:blipFill>
        <p:spPr>
          <a:xfrm>
            <a:off x="2622550" y="2926079"/>
            <a:ext cx="3568700" cy="2032000"/>
          </a:xfrm>
          <a:prstGeom prst="rect">
            <a:avLst/>
          </a:prstGeom>
        </p:spPr>
      </p:pic>
      <p:pic>
        <p:nvPicPr>
          <p:cNvPr id="12" name="Image 4" descr="connector">    </p:cNvPr>
          <p:cNvPicPr>
            <a:picLocks noChangeAspect="1"/>
          </p:cNvPicPr>
          <p:nvPr/>
        </p:nvPicPr>
        <p:blipFill>
          <a:blip r:embed="rId5"/>
          <a:srcRect l="0" r="0" t="0" b="0"/>
          <a:stretch/>
        </p:blipFill>
        <p:spPr>
          <a:xfrm>
            <a:off x="6000750" y="2926079"/>
            <a:ext cx="3568700" cy="2032000"/>
          </a:xfrm>
          <a:prstGeom prst="rect">
            <a:avLst/>
          </a:prstGeom>
        </p:spPr>
      </p:pic>
      <p:pic>
        <p:nvPicPr>
          <p:cNvPr id="13" name="Image 5" descr="connector">    </p:cNvPr>
          <p:cNvPicPr>
            <a:picLocks noChangeAspect="1"/>
          </p:cNvPicPr>
          <p:nvPr/>
        </p:nvPicPr>
        <p:blipFill>
          <a:blip r:embed="rId6"/>
          <a:srcRect l="0" r="0" t="0" b="0"/>
          <a:stretch/>
        </p:blipFill>
        <p:spPr>
          <a:xfrm>
            <a:off x="2622550" y="4767579"/>
            <a:ext cx="6946900" cy="190500"/>
          </a:xfrm>
          <a:prstGeom prst="rect">
            <a:avLst/>
          </a:prstGeom>
        </p:spPr>
      </p:pic>
      <p:pic>
        <p:nvPicPr>
          <p:cNvPr id="14" name="Image 6" descr="connector">    </p:cNvPr>
          <p:cNvPicPr>
            <a:picLocks noChangeAspect="1"/>
          </p:cNvPicPr>
          <p:nvPr/>
        </p:nvPicPr>
        <p:blipFill>
          <a:blip r:embed="rId7"/>
          <a:srcRect l="0" r="0" t="0" b="0"/>
          <a:stretch/>
        </p:blipFill>
        <p:spPr>
          <a:xfrm>
            <a:off x="2711450" y="3059429"/>
            <a:ext cx="3505200" cy="1968500"/>
          </a:xfrm>
          <a:prstGeom prst="rect">
            <a:avLst/>
          </a:prstGeom>
        </p:spPr>
      </p:pic>
      <p:pic>
        <p:nvPicPr>
          <p:cNvPr id="15" name="Image 7" descr="connector">    </p:cNvPr>
          <p:cNvPicPr>
            <a:picLocks noChangeAspect="1"/>
          </p:cNvPicPr>
          <p:nvPr/>
        </p:nvPicPr>
        <p:blipFill>
          <a:blip r:embed="rId8"/>
          <a:srcRect l="0" r="0" t="0" b="0"/>
          <a:stretch/>
        </p:blipFill>
        <p:spPr>
          <a:xfrm>
            <a:off x="5975350" y="3059429"/>
            <a:ext cx="3505200" cy="1968500"/>
          </a:xfrm>
          <a:prstGeom prst="rect">
            <a:avLst/>
          </a:prstGeom>
        </p:spPr>
      </p:pic>
      <p:pic>
        <p:nvPicPr>
          <p:cNvPr id="16" name="Image 8" descr="connector">    </p:cNvPr>
          <p:cNvPicPr>
            <a:picLocks noChangeAspect="1"/>
          </p:cNvPicPr>
          <p:nvPr/>
        </p:nvPicPr>
        <p:blipFill>
          <a:blip r:embed="rId9"/>
          <a:srcRect l="0" r="0" t="0" b="0"/>
          <a:stretch/>
        </p:blipFill>
        <p:spPr>
          <a:xfrm>
            <a:off x="2654300" y="4913629"/>
            <a:ext cx="6883400" cy="127000"/>
          </a:xfrm>
          <a:prstGeom prst="rect">
            <a:avLst/>
          </a:prstGeom>
        </p:spPr>
      </p:pic>
      <p:pic>
        <p:nvPicPr>
          <p:cNvPr id="17" name="Image 9" descr="connector">    </p:cNvPr>
          <p:cNvPicPr>
            <a:picLocks noChangeAspect="1"/>
          </p:cNvPicPr>
          <p:nvPr/>
        </p:nvPicPr>
        <p:blipFill>
          <a:blip r:embed="rId10"/>
          <a:srcRect l="0" r="0" t="0" b="0"/>
          <a:stretch/>
        </p:blipFill>
        <p:spPr>
          <a:xfrm>
            <a:off x="7810500" y="2957829"/>
            <a:ext cx="558800" cy="127000"/>
          </a:xfrm>
          <a:prstGeom prst="rect">
            <a:avLst/>
          </a:prstGeom>
        </p:spPr>
      </p:pic>
      <p:pic>
        <p:nvPicPr>
          <p:cNvPr id="18" name="Image 10" descr="connector">    </p:cNvPr>
          <p:cNvPicPr>
            <a:picLocks noChangeAspect="1"/>
          </p:cNvPicPr>
          <p:nvPr/>
        </p:nvPicPr>
        <p:blipFill>
          <a:blip r:embed="rId11"/>
          <a:srcRect l="0" r="0" t="0" b="0"/>
          <a:stretch/>
        </p:blipFill>
        <p:spPr>
          <a:xfrm>
            <a:off x="2654300" y="5148579"/>
            <a:ext cx="127000" cy="317500"/>
          </a:xfrm>
          <a:prstGeom prst="rect">
            <a:avLst/>
          </a:prstGeom>
        </p:spPr>
      </p:pic>
      <p:pic>
        <p:nvPicPr>
          <p:cNvPr id="19" name="Image 11" descr="connector">    </p:cNvPr>
          <p:cNvPicPr>
            <a:picLocks noChangeAspect="1"/>
          </p:cNvPicPr>
          <p:nvPr/>
        </p:nvPicPr>
        <p:blipFill>
          <a:blip r:embed="rId12"/>
          <a:srcRect l="0" r="0" t="0" b="0"/>
          <a:stretch/>
        </p:blipFill>
        <p:spPr>
          <a:xfrm>
            <a:off x="9410700" y="5148579"/>
            <a:ext cx="127000" cy="317500"/>
          </a:xfrm>
          <a:prstGeom prst="rect">
            <a:avLst/>
          </a:prstGeom>
        </p:spPr>
      </p:pic>
      <p:sp>
        <p:nvSpPr>
          <p:cNvPr id="20" name="Shape 6"/>
          <p:cNvSpPr/>
          <p:nvPr/>
        </p:nvSpPr>
        <p:spPr>
          <a:xfrm>
            <a:off x="4318000" y="2672079"/>
            <a:ext cx="3556000" cy="698500"/>
          </a:xfrm>
          <a:prstGeom prst="roundRect">
            <a:avLst>
              <a:gd name="adj" fmla="val 14545"/>
            </a:avLst>
          </a:prstGeom>
          <a:solidFill>
            <a:srgbClr val="0B2E5C"/>
          </a:solidFill>
          <a:ln/>
        </p:spPr>
      </p:sp>
      <p:sp>
        <p:nvSpPr>
          <p:cNvPr id="21" name="Text 7"/>
          <p:cNvSpPr/>
          <p:nvPr/>
        </p:nvSpPr>
        <p:spPr>
          <a:xfrm>
            <a:off x="4944142" y="2792729"/>
            <a:ext cx="2303717"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7FBFE"/>
                </a:solidFill>
                <a:latin typeface="IBM Plex Sans" pitchFamily="34" charset="0"/>
                <a:ea typeface="IBM Plex Sans" pitchFamily="34" charset="-122"/>
                <a:cs typeface="IBM Plex Sans" pitchFamily="34" charset="-120"/>
              </a:rPr>
              <a:t>MCE-DC (main zone)</a:t>
            </a:r>
            <a:endParaRPr lang="en-US" sz="1600" dirty="0"/>
          </a:p>
        </p:txBody>
      </p:sp>
      <p:sp>
        <p:nvSpPr>
          <p:cNvPr id="22" name="Text 8"/>
          <p:cNvSpPr/>
          <p:nvPr/>
        </p:nvSpPr>
        <p:spPr>
          <a:xfrm>
            <a:off x="4683260" y="3036571"/>
            <a:ext cx="28254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2B14A"/>
                </a:solidFill>
                <a:latin typeface="IBM Plex Sans" pitchFamily="34" charset="0"/>
                <a:ea typeface="IBM Plex Sans" pitchFamily="34" charset="-122"/>
                <a:cs typeface="IBM Plex Sans" pitchFamily="34" charset="-120"/>
              </a:rPr>
              <a:t>172.193.x.x · core switch · firewall</a:t>
            </a:r>
            <a:endParaRPr lang="en-US" sz="1200" dirty="0"/>
          </a:p>
        </p:txBody>
      </p:sp>
      <p:sp>
        <p:nvSpPr>
          <p:cNvPr id="23" name="Shape 9"/>
          <p:cNvSpPr/>
          <p:nvPr/>
        </p:nvSpPr>
        <p:spPr>
          <a:xfrm>
            <a:off x="1066800" y="4513579"/>
            <a:ext cx="3302000" cy="698500"/>
          </a:xfrm>
          <a:prstGeom prst="roundRect">
            <a:avLst>
              <a:gd name="adj" fmla="val 14545"/>
            </a:avLst>
          </a:prstGeom>
          <a:solidFill>
            <a:srgbClr val="0B5FB0"/>
          </a:solidFill>
          <a:ln/>
        </p:spPr>
      </p:sp>
      <p:sp>
        <p:nvSpPr>
          <p:cNvPr id="24" name="Text 10"/>
          <p:cNvSpPr/>
          <p:nvPr/>
        </p:nvSpPr>
        <p:spPr>
          <a:xfrm>
            <a:off x="2153730" y="4634229"/>
            <a:ext cx="1128141"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7FBFE"/>
                </a:solidFill>
                <a:latin typeface="IBM Plex Sans" pitchFamily="34" charset="0"/>
                <a:ea typeface="IBM Plex Sans" pitchFamily="34" charset="-122"/>
                <a:cs typeface="IBM Plex Sans" pitchFamily="34" charset="-120"/>
              </a:rPr>
              <a:t>EW&amp;A-DC</a:t>
            </a:r>
            <a:endParaRPr lang="en-US" sz="1600" dirty="0"/>
          </a:p>
        </p:txBody>
      </p:sp>
      <p:sp>
        <p:nvSpPr>
          <p:cNvPr id="25" name="Text 11"/>
          <p:cNvSpPr/>
          <p:nvPr/>
        </p:nvSpPr>
        <p:spPr>
          <a:xfrm>
            <a:off x="1305060" y="4878071"/>
            <a:ext cx="28254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172.194.x.x · core switch · firewall</a:t>
            </a:r>
            <a:endParaRPr lang="en-US" sz="1200" dirty="0"/>
          </a:p>
        </p:txBody>
      </p:sp>
      <p:sp>
        <p:nvSpPr>
          <p:cNvPr id="26" name="Shape 12"/>
          <p:cNvSpPr/>
          <p:nvPr/>
        </p:nvSpPr>
        <p:spPr>
          <a:xfrm>
            <a:off x="7823200" y="4513579"/>
            <a:ext cx="3302000" cy="698500"/>
          </a:xfrm>
          <a:prstGeom prst="roundRect">
            <a:avLst>
              <a:gd name="adj" fmla="val 14545"/>
            </a:avLst>
          </a:prstGeom>
          <a:solidFill>
            <a:srgbClr val="0B5FB0"/>
          </a:solidFill>
          <a:ln/>
        </p:spPr>
      </p:sp>
      <p:sp>
        <p:nvSpPr>
          <p:cNvPr id="27" name="Text 13"/>
          <p:cNvSpPr/>
          <p:nvPr/>
        </p:nvSpPr>
        <p:spPr>
          <a:xfrm>
            <a:off x="9087112" y="4634229"/>
            <a:ext cx="774097"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7FBFE"/>
                </a:solidFill>
                <a:latin typeface="IBM Plex Sans" pitchFamily="34" charset="0"/>
                <a:ea typeface="IBM Plex Sans" pitchFamily="34" charset="-122"/>
                <a:cs typeface="IBM Plex Sans" pitchFamily="34" charset="-120"/>
              </a:rPr>
              <a:t>MS-DC</a:t>
            </a:r>
            <a:endParaRPr lang="en-US" sz="1600" dirty="0"/>
          </a:p>
        </p:txBody>
      </p:sp>
      <p:sp>
        <p:nvSpPr>
          <p:cNvPr id="28" name="Text 14"/>
          <p:cNvSpPr/>
          <p:nvPr/>
        </p:nvSpPr>
        <p:spPr>
          <a:xfrm>
            <a:off x="8061460" y="4878071"/>
            <a:ext cx="28254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172.195.x.x · core switch · firewall</a:t>
            </a:r>
            <a:endParaRPr lang="en-US" sz="1200" dirty="0"/>
          </a:p>
        </p:txBody>
      </p:sp>
      <p:sp>
        <p:nvSpPr>
          <p:cNvPr id="29" name="Text 15"/>
          <p:cNvSpPr/>
          <p:nvPr/>
        </p:nvSpPr>
        <p:spPr>
          <a:xfrm>
            <a:off x="3914775" y="3672204"/>
            <a:ext cx="819150" cy="217170"/>
          </a:xfrm>
          <a:custGeom>
            <a:avLst/>
            <a:gdLst/>
            <a:ahLst/>
            <a:cxnLst/>
            <a:rect l="l" t="t" r="r" b="b"/>
            <a:pathLst>
              <a:path w="819150" h="217170">
                <a:moveTo>
                  <a:pt x="108585" y="0"/>
                </a:moveTo>
                <a:lnTo>
                  <a:pt x="710565" y="0"/>
                </a:lnTo>
                <a:arcTo hR="108585" wR="108585" stAng="16200000" swAng="5400000"/>
                <a:lnTo>
                  <a:pt x="819150" y="108585"/>
                </a:lnTo>
                <a:arcTo hR="108585" wR="108585" stAng="0" swAng="5400000"/>
                <a:lnTo>
                  <a:pt x="108585" y="217170"/>
                </a:lnTo>
                <a:arcTo hR="108585" wR="108585" stAng="5400000" swAng="5400000"/>
                <a:lnTo>
                  <a:pt x="0" y="108585"/>
                </a:lnTo>
                <a:arcTo hR="108585" wR="108585" stAng="10800000" swAng="5400000"/>
                <a:close/>
              </a:path>
            </a:pathLst>
          </a:custGeom>
          <a:solidFill>
            <a:srgbClr val="F7FBFE"/>
          </a:solidFill>
          <a:ln w="6350">
            <a:solidFill>
              <a:srgbClr val="0B5FB0"/>
            </a:solidFill>
            <a:prstDash val="solid"/>
          </a:ln>
        </p:spPr>
        <p:txBody>
          <a:bodyPr wrap="square" lIns="0" tIns="1905"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2 x 100G</a:t>
            </a:r>
            <a:endParaRPr lang="en-US" sz="1200" dirty="0"/>
          </a:p>
        </p:txBody>
      </p:sp>
      <p:sp>
        <p:nvSpPr>
          <p:cNvPr id="30" name="Text 16"/>
          <p:cNvSpPr/>
          <p:nvPr/>
        </p:nvSpPr>
        <p:spPr>
          <a:xfrm>
            <a:off x="7458075" y="3672204"/>
            <a:ext cx="819150" cy="217170"/>
          </a:xfrm>
          <a:custGeom>
            <a:avLst/>
            <a:gdLst/>
            <a:ahLst/>
            <a:cxnLst/>
            <a:rect l="l" t="t" r="r" b="b"/>
            <a:pathLst>
              <a:path w="819150" h="217170">
                <a:moveTo>
                  <a:pt x="108585" y="0"/>
                </a:moveTo>
                <a:lnTo>
                  <a:pt x="710565" y="0"/>
                </a:lnTo>
                <a:arcTo hR="108585" wR="108585" stAng="16200000" swAng="5400000"/>
                <a:lnTo>
                  <a:pt x="819150" y="108585"/>
                </a:lnTo>
                <a:arcTo hR="108585" wR="108585" stAng="0" swAng="5400000"/>
                <a:lnTo>
                  <a:pt x="108585" y="217170"/>
                </a:lnTo>
                <a:arcTo hR="108585" wR="108585" stAng="5400000" swAng="5400000"/>
                <a:lnTo>
                  <a:pt x="0" y="108585"/>
                </a:lnTo>
                <a:arcTo hR="108585" wR="108585" stAng="10800000" swAng="5400000"/>
                <a:close/>
              </a:path>
            </a:pathLst>
          </a:custGeom>
          <a:solidFill>
            <a:srgbClr val="F7FBFE"/>
          </a:solidFill>
          <a:ln w="6350">
            <a:solidFill>
              <a:srgbClr val="0B5FB0"/>
            </a:solidFill>
            <a:prstDash val="solid"/>
          </a:ln>
        </p:spPr>
        <p:txBody>
          <a:bodyPr wrap="square" lIns="0" tIns="1905"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2 x 100G</a:t>
            </a:r>
            <a:endParaRPr lang="en-US" sz="1200" dirty="0"/>
          </a:p>
        </p:txBody>
      </p:sp>
      <p:sp>
        <p:nvSpPr>
          <p:cNvPr id="31" name="Text 17"/>
          <p:cNvSpPr/>
          <p:nvPr/>
        </p:nvSpPr>
        <p:spPr>
          <a:xfrm>
            <a:off x="5686425" y="4554854"/>
            <a:ext cx="819150" cy="217170"/>
          </a:xfrm>
          <a:custGeom>
            <a:avLst/>
            <a:gdLst/>
            <a:ahLst/>
            <a:cxnLst/>
            <a:rect l="l" t="t" r="r" b="b"/>
            <a:pathLst>
              <a:path w="819150" h="217170">
                <a:moveTo>
                  <a:pt x="108585" y="0"/>
                </a:moveTo>
                <a:lnTo>
                  <a:pt x="710565" y="0"/>
                </a:lnTo>
                <a:arcTo hR="108585" wR="108585" stAng="16200000" swAng="5400000"/>
                <a:lnTo>
                  <a:pt x="819150" y="108585"/>
                </a:lnTo>
                <a:arcTo hR="108585" wR="108585" stAng="0" swAng="5400000"/>
                <a:lnTo>
                  <a:pt x="108585" y="217170"/>
                </a:lnTo>
                <a:arcTo hR="108585" wR="108585" stAng="5400000" swAng="5400000"/>
                <a:lnTo>
                  <a:pt x="0" y="108585"/>
                </a:lnTo>
                <a:arcTo hR="108585" wR="108585" stAng="10800000" swAng="5400000"/>
                <a:close/>
              </a:path>
            </a:pathLst>
          </a:custGeom>
          <a:solidFill>
            <a:srgbClr val="F7FBFE"/>
          </a:solidFill>
          <a:ln w="6350">
            <a:solidFill>
              <a:srgbClr val="0B5FB0"/>
            </a:solidFill>
            <a:prstDash val="solid"/>
          </a:ln>
        </p:spPr>
        <p:txBody>
          <a:bodyPr wrap="square" lIns="0" tIns="1905" rIns="0" bIns="0" rtlCol="0" anchor="t">
            <a:normAutofit/>
          </a:bodyPr>
          <a:lstStyle/>
          <a:p>
            <a:pPr algn="ctr" indent="0" marL="0">
              <a:lnSpc>
                <a:spcPts val="1680"/>
              </a:lnSpc>
              <a:buNone/>
            </a:pPr>
            <a:r>
              <a:rPr lang="en-US" sz="1200" b="1" dirty="0">
                <a:solidFill>
                  <a:srgbClr val="0B2E5C"/>
                </a:solidFill>
                <a:latin typeface="IBM Plex Sans" pitchFamily="34" charset="0"/>
                <a:ea typeface="IBM Plex Sans" pitchFamily="34" charset="-122"/>
                <a:cs typeface="IBM Plex Sans" pitchFamily="34" charset="-120"/>
              </a:rPr>
              <a:t>2 x 100G</a:t>
            </a:r>
            <a:endParaRPr lang="en-US" sz="1200" dirty="0"/>
          </a:p>
        </p:txBody>
      </p:sp>
      <p:sp>
        <p:nvSpPr>
          <p:cNvPr id="32" name="Text 18"/>
          <p:cNvSpPr/>
          <p:nvPr/>
        </p:nvSpPr>
        <p:spPr>
          <a:xfrm>
            <a:off x="8308975" y="2732404"/>
            <a:ext cx="2787650" cy="582930"/>
          </a:xfrm>
          <a:prstGeom prst="roundRect">
            <a:avLst>
              <a:gd name="adj" fmla="val 12527"/>
            </a:avLst>
          </a:prstGeom>
          <a:solidFill>
            <a:srgbClr val="F7FBFE"/>
          </a:solidFill>
          <a:ln w="6350">
            <a:solidFill>
              <a:srgbClr val="B9D9F0"/>
            </a:solidFill>
            <a:prstDash val="solid"/>
          </a:ln>
        </p:spPr>
        <p:txBody>
          <a:bodyPr wrap="square" lIns="107517" tIns="56717" rIns="31622" bIns="31317"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Access switches, 10G downlinks, PCs and VoIP phones</a:t>
            </a:r>
            <a:endParaRPr lang="en-US" sz="1200" dirty="0"/>
          </a:p>
        </p:txBody>
      </p:sp>
      <p:sp>
        <p:nvSpPr>
          <p:cNvPr id="33" name="Text 19"/>
          <p:cNvSpPr/>
          <p:nvPr/>
        </p:nvSpPr>
        <p:spPr>
          <a:xfrm>
            <a:off x="1069975" y="5405754"/>
            <a:ext cx="3295650" cy="582930"/>
          </a:xfrm>
          <a:prstGeom prst="roundRect">
            <a:avLst>
              <a:gd name="adj" fmla="val 12527"/>
            </a:avLst>
          </a:prstGeom>
          <a:solidFill>
            <a:srgbClr val="F7FBFE"/>
          </a:solidFill>
          <a:ln w="6350">
            <a:solidFill>
              <a:srgbClr val="B9D9F0"/>
            </a:solidFill>
            <a:prstDash val="solid"/>
          </a:ln>
        </p:spPr>
        <p:txBody>
          <a:bodyPr wrap="square" lIns="107517" tIns="56717" rIns="16382" bIns="31317"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Access switches, 10G downlinks, PCs and VoIP phones</a:t>
            </a:r>
            <a:endParaRPr lang="en-US" sz="1200" dirty="0"/>
          </a:p>
        </p:txBody>
      </p:sp>
      <p:sp>
        <p:nvSpPr>
          <p:cNvPr id="34" name="Text 20"/>
          <p:cNvSpPr/>
          <p:nvPr/>
        </p:nvSpPr>
        <p:spPr>
          <a:xfrm>
            <a:off x="7826375" y="5405754"/>
            <a:ext cx="3295650" cy="582930"/>
          </a:xfrm>
          <a:prstGeom prst="roundRect">
            <a:avLst>
              <a:gd name="adj" fmla="val 12527"/>
            </a:avLst>
          </a:prstGeom>
          <a:solidFill>
            <a:srgbClr val="F7FBFE"/>
          </a:solidFill>
          <a:ln w="6350">
            <a:solidFill>
              <a:srgbClr val="B9D9F0"/>
            </a:solidFill>
            <a:prstDash val="solid"/>
          </a:ln>
        </p:spPr>
        <p:txBody>
          <a:bodyPr wrap="square" lIns="107517" tIns="56717" rIns="16382" bIns="31317"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Access switches, 10G downlinks, PCs and VoIP phones</a:t>
            </a:r>
            <a:endParaRPr lang="en-US" sz="1200" dirty="0"/>
          </a:p>
        </p:txBody>
      </p:sp>
      <p:sp>
        <p:nvSpPr>
          <p:cNvPr id="35" name="Shape 21"/>
          <p:cNvSpPr/>
          <p:nvPr/>
        </p:nvSpPr>
        <p:spPr>
          <a:xfrm>
            <a:off x="1085850" y="2545079"/>
            <a:ext cx="0" cy="213360"/>
          </a:xfrm>
          <a:prstGeom prst="line">
            <a:avLst/>
          </a:prstGeom>
          <a:noFill/>
          <a:ln w="38100">
            <a:solidFill>
              <a:srgbClr val="0B5FB0"/>
            </a:solidFill>
            <a:prstDash val="solid"/>
          </a:ln>
        </p:spPr>
      </p:sp>
      <p:sp>
        <p:nvSpPr>
          <p:cNvPr id="36" name="Text 22"/>
          <p:cNvSpPr/>
          <p:nvPr/>
        </p:nvSpPr>
        <p:spPr>
          <a:xfrm>
            <a:off x="1203960" y="2545079"/>
            <a:ext cx="28673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Data + VC network: 2 x 100G links</a:t>
            </a:r>
            <a:endParaRPr lang="en-US" sz="1200" dirty="0"/>
          </a:p>
        </p:txBody>
      </p:sp>
      <p:sp>
        <p:nvSpPr>
          <p:cNvPr id="37" name="Shape 23"/>
          <p:cNvSpPr/>
          <p:nvPr/>
        </p:nvSpPr>
        <p:spPr>
          <a:xfrm>
            <a:off x="1085850" y="3116579"/>
            <a:ext cx="0" cy="213360"/>
          </a:xfrm>
          <a:prstGeom prst="line">
            <a:avLst/>
          </a:prstGeom>
          <a:noFill/>
          <a:ln w="38100">
            <a:solidFill>
              <a:srgbClr val="4FA3E0"/>
            </a:solidFill>
            <a:prstDash val="dash"/>
          </a:ln>
        </p:spPr>
      </p:sp>
      <p:sp>
        <p:nvSpPr>
          <p:cNvPr id="38" name="Text 24"/>
          <p:cNvSpPr/>
          <p:nvPr/>
        </p:nvSpPr>
        <p:spPr>
          <a:xfrm>
            <a:off x="1203960" y="3116579"/>
            <a:ext cx="28673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VoIP network: separate, 2 x 40G links</a:t>
            </a:r>
            <a:endParaRPr lang="en-US" sz="1200" dirty="0"/>
          </a:p>
        </p:txBody>
      </p:sp>
      <p:sp>
        <p:nvSpPr>
          <p:cNvPr id="39" name="Text 25"/>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40" name="Text 26"/>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The architecture in brief</a:t>
            </a:r>
            <a:endParaRPr lang="en-US" sz="3200" dirty="0"/>
          </a:p>
        </p:txBody>
      </p:sp>
      <p:sp>
        <p:nvSpPr>
          <p:cNvPr id="7" name="Shape 3"/>
          <p:cNvSpPr/>
          <p:nvPr/>
        </p:nvSpPr>
        <p:spPr>
          <a:xfrm>
            <a:off x="812800" y="1991364"/>
            <a:ext cx="5181600" cy="1417320"/>
          </a:xfrm>
          <a:prstGeom prst="roundRect">
            <a:avLst>
              <a:gd name="adj" fmla="val 7168"/>
            </a:avLst>
          </a:prstGeom>
          <a:solidFill>
            <a:srgbClr val="0B5FB0"/>
          </a:solidFill>
          <a:ln/>
        </p:spPr>
      </p:sp>
      <p:sp>
        <p:nvSpPr>
          <p:cNvPr id="8" name="Text 4"/>
          <p:cNvSpPr/>
          <p:nvPr/>
        </p:nvSpPr>
        <p:spPr>
          <a:xfrm>
            <a:off x="1066800" y="2219964"/>
            <a:ext cx="481380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BFE"/>
                </a:solidFill>
                <a:latin typeface="IBM Plex Sans" pitchFamily="34" charset="0"/>
                <a:ea typeface="IBM Plex Sans" pitchFamily="34" charset="-122"/>
                <a:cs typeface="IBM Plex Sans" pitchFamily="34" charset="-120"/>
              </a:rPr>
              <a:t>Three zones, each with a core</a:t>
            </a:r>
            <a:endParaRPr lang="en-US" sz="1600" dirty="0"/>
          </a:p>
        </p:txBody>
      </p:sp>
      <p:sp>
        <p:nvSpPr>
          <p:cNvPr id="9" name="Text 5"/>
          <p:cNvSpPr/>
          <p:nvPr/>
        </p:nvSpPr>
        <p:spPr>
          <a:xfrm>
            <a:off x="1066800" y="2540000"/>
            <a:ext cx="481380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MCE-DC, EW&amp;A-DC and MS-DC each have a core switch and a firewall. MCE-DC is the main zone, and the data-centre servers are attached to it.</a:t>
            </a:r>
            <a:endParaRPr lang="en-US" sz="1200" dirty="0"/>
          </a:p>
        </p:txBody>
      </p:sp>
      <p:sp>
        <p:nvSpPr>
          <p:cNvPr id="10" name="Shape 6"/>
          <p:cNvSpPr/>
          <p:nvPr/>
        </p:nvSpPr>
        <p:spPr>
          <a:xfrm>
            <a:off x="6200775" y="1994539"/>
            <a:ext cx="5175250" cy="1410970"/>
          </a:xfrm>
          <a:prstGeom prst="roundRect">
            <a:avLst>
              <a:gd name="adj" fmla="val 6976"/>
            </a:avLst>
          </a:prstGeom>
          <a:solidFill>
            <a:srgbClr val="F7FBFE"/>
          </a:solidFill>
          <a:ln w="6350">
            <a:solidFill>
              <a:srgbClr val="B9D9F0"/>
            </a:solidFill>
            <a:prstDash val="solid"/>
          </a:ln>
        </p:spPr>
      </p:sp>
      <p:sp>
        <p:nvSpPr>
          <p:cNvPr id="11" name="Text 7"/>
          <p:cNvSpPr/>
          <p:nvPr/>
        </p:nvSpPr>
        <p:spPr>
          <a:xfrm>
            <a:off x="6456680" y="2225042"/>
            <a:ext cx="480334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High-speed core ring</a:t>
            </a:r>
            <a:endParaRPr lang="en-US" sz="1600" dirty="0"/>
          </a:p>
        </p:txBody>
      </p:sp>
      <p:sp>
        <p:nvSpPr>
          <p:cNvPr id="12" name="Text 8"/>
          <p:cNvSpPr/>
          <p:nvPr/>
        </p:nvSpPr>
        <p:spPr>
          <a:xfrm>
            <a:off x="6456680" y="2545079"/>
            <a:ext cx="48033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The zones are joined by 2 x 100G links in a triangle. If one link fails, traffic uses the other route.</a:t>
            </a:r>
            <a:endParaRPr lang="en-US" sz="1200" dirty="0"/>
          </a:p>
        </p:txBody>
      </p:sp>
      <p:sp>
        <p:nvSpPr>
          <p:cNvPr id="13" name="Shape 9"/>
          <p:cNvSpPr/>
          <p:nvPr/>
        </p:nvSpPr>
        <p:spPr>
          <a:xfrm>
            <a:off x="815975" y="3615054"/>
            <a:ext cx="5175250" cy="1207770"/>
          </a:xfrm>
          <a:prstGeom prst="roundRect">
            <a:avLst>
              <a:gd name="adj" fmla="val 8149"/>
            </a:avLst>
          </a:prstGeom>
          <a:solidFill>
            <a:srgbClr val="F7FBFE"/>
          </a:solidFill>
          <a:ln w="6350">
            <a:solidFill>
              <a:srgbClr val="B9D9F0"/>
            </a:solidFill>
            <a:prstDash val="solid"/>
          </a:ln>
        </p:spPr>
      </p:sp>
      <p:sp>
        <p:nvSpPr>
          <p:cNvPr id="14" name="Text 10"/>
          <p:cNvSpPr/>
          <p:nvPr/>
        </p:nvSpPr>
        <p:spPr>
          <a:xfrm>
            <a:off x="1071880" y="3845564"/>
            <a:ext cx="480334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Users reach the core through access switches</a:t>
            </a:r>
            <a:endParaRPr lang="en-US" sz="1600" dirty="0"/>
          </a:p>
        </p:txBody>
      </p:sp>
      <p:sp>
        <p:nvSpPr>
          <p:cNvPr id="15" name="Text 11"/>
          <p:cNvSpPr/>
          <p:nvPr/>
        </p:nvSpPr>
        <p:spPr>
          <a:xfrm>
            <a:off x="1071880" y="4165600"/>
            <a:ext cx="48033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PCs and VoIP phones plug into access switches, which connect to their zone's core over 10G downlinks.</a:t>
            </a:r>
            <a:endParaRPr lang="en-US" sz="1200" dirty="0"/>
          </a:p>
        </p:txBody>
      </p:sp>
      <p:sp>
        <p:nvSpPr>
          <p:cNvPr id="16" name="Shape 12"/>
          <p:cNvSpPr/>
          <p:nvPr/>
        </p:nvSpPr>
        <p:spPr>
          <a:xfrm>
            <a:off x="6200775" y="3615054"/>
            <a:ext cx="5175250" cy="1207770"/>
          </a:xfrm>
          <a:prstGeom prst="roundRect">
            <a:avLst>
              <a:gd name="adj" fmla="val 8149"/>
            </a:avLst>
          </a:prstGeom>
          <a:solidFill>
            <a:srgbClr val="F7FBFE"/>
          </a:solidFill>
          <a:ln w="6350">
            <a:solidFill>
              <a:srgbClr val="B9D9F0"/>
            </a:solidFill>
            <a:prstDash val="solid"/>
          </a:ln>
        </p:spPr>
      </p:sp>
      <p:sp>
        <p:nvSpPr>
          <p:cNvPr id="17" name="Text 13"/>
          <p:cNvSpPr/>
          <p:nvPr/>
        </p:nvSpPr>
        <p:spPr>
          <a:xfrm>
            <a:off x="6456680" y="3845564"/>
            <a:ext cx="480334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Separate VoIP network</a:t>
            </a:r>
            <a:endParaRPr lang="en-US" sz="1600" dirty="0"/>
          </a:p>
        </p:txBody>
      </p:sp>
      <p:sp>
        <p:nvSpPr>
          <p:cNvPr id="18" name="Text 14"/>
          <p:cNvSpPr/>
          <p:nvPr/>
        </p:nvSpPr>
        <p:spPr>
          <a:xfrm>
            <a:off x="6456680" y="4165600"/>
            <a:ext cx="48033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Voice has its own core switches and 2 x 40G links, so calls and data traffic do not compete.</a:t>
            </a:r>
            <a:endParaRPr lang="en-US" sz="1200" dirty="0"/>
          </a:p>
        </p:txBody>
      </p:sp>
      <p:sp>
        <p:nvSpPr>
          <p:cNvPr id="19" name="Text 15"/>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20" name="Text 16"/>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Air gap and data diode</a:t>
            </a:r>
            <a:endParaRPr lang="en-US" sz="3200" dirty="0"/>
          </a:p>
        </p:txBody>
      </p:sp>
      <p:sp>
        <p:nvSpPr>
          <p:cNvPr id="7" name="Text 3"/>
          <p:cNvSpPr/>
          <p:nvPr/>
        </p:nvSpPr>
        <p:spPr>
          <a:xfrm>
            <a:off x="812800" y="1940564"/>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BEL keeps the intranet and internet as physically separate networks (an air gap). A data diode lets data move between them in one direction only.</a:t>
            </a:r>
            <a:endParaRPr lang="en-US" sz="1600" dirty="0"/>
          </a:p>
        </p:txBody>
      </p:sp>
      <p:pic>
        <p:nvPicPr>
          <p:cNvPr id="8" name="Image 2" descr="connector">    </p:cNvPr>
          <p:cNvPicPr>
            <a:picLocks noChangeAspect="1"/>
          </p:cNvPicPr>
          <p:nvPr/>
        </p:nvPicPr>
        <p:blipFill>
          <a:blip r:embed="rId3"/>
          <a:srcRect l="0" r="0" t="0" b="0"/>
          <a:stretch/>
        </p:blipFill>
        <p:spPr>
          <a:xfrm>
            <a:off x="3257550" y="3157221"/>
            <a:ext cx="1663700" cy="190500"/>
          </a:xfrm>
          <a:prstGeom prst="rect">
            <a:avLst/>
          </a:prstGeom>
        </p:spPr>
      </p:pic>
      <p:pic>
        <p:nvPicPr>
          <p:cNvPr id="9" name="Image 3" descr="connector">    </p:cNvPr>
          <p:cNvPicPr>
            <a:picLocks noChangeAspect="1"/>
          </p:cNvPicPr>
          <p:nvPr/>
        </p:nvPicPr>
        <p:blipFill>
          <a:blip r:embed="rId4"/>
          <a:srcRect l="0" r="0" t="0" b="0"/>
          <a:stretch/>
        </p:blipFill>
        <p:spPr>
          <a:xfrm>
            <a:off x="7270750" y="3157221"/>
            <a:ext cx="1663700" cy="190500"/>
          </a:xfrm>
          <a:prstGeom prst="rect">
            <a:avLst/>
          </a:prstGeom>
        </p:spPr>
      </p:pic>
      <p:pic>
        <p:nvPicPr>
          <p:cNvPr id="10" name="Image 4" descr="connector">    </p:cNvPr>
          <p:cNvPicPr>
            <a:picLocks noChangeAspect="1"/>
          </p:cNvPicPr>
          <p:nvPr/>
        </p:nvPicPr>
        <p:blipFill>
          <a:blip r:embed="rId5"/>
          <a:srcRect l="0" r="0" t="0" b="0"/>
          <a:stretch/>
        </p:blipFill>
        <p:spPr>
          <a:xfrm>
            <a:off x="3289300" y="3792221"/>
            <a:ext cx="5613400" cy="127000"/>
          </a:xfrm>
          <a:prstGeom prst="rect">
            <a:avLst/>
          </a:prstGeom>
        </p:spPr>
      </p:pic>
      <p:sp>
        <p:nvSpPr>
          <p:cNvPr id="11" name="Shape 4"/>
          <p:cNvSpPr/>
          <p:nvPr/>
        </p:nvSpPr>
        <p:spPr>
          <a:xfrm>
            <a:off x="815975" y="2906396"/>
            <a:ext cx="2533650" cy="692150"/>
          </a:xfrm>
          <a:prstGeom prst="roundRect">
            <a:avLst>
              <a:gd name="adj" fmla="val 14220"/>
            </a:avLst>
          </a:prstGeom>
          <a:solidFill>
            <a:srgbClr val="F7FBFE"/>
          </a:solidFill>
          <a:ln w="6350">
            <a:solidFill>
              <a:srgbClr val="B9D9F0"/>
            </a:solidFill>
            <a:prstDash val="solid"/>
          </a:ln>
        </p:spPr>
      </p:sp>
      <p:sp>
        <p:nvSpPr>
          <p:cNvPr id="12" name="Text 5"/>
          <p:cNvSpPr/>
          <p:nvPr/>
        </p:nvSpPr>
        <p:spPr>
          <a:xfrm>
            <a:off x="1192697" y="3023871"/>
            <a:ext cx="1780127"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Source network</a:t>
            </a:r>
            <a:endParaRPr lang="en-US" sz="1600" dirty="0"/>
          </a:p>
        </p:txBody>
      </p:sp>
      <p:sp>
        <p:nvSpPr>
          <p:cNvPr id="13" name="Text 6"/>
          <p:cNvSpPr/>
          <p:nvPr/>
        </p:nvSpPr>
        <p:spPr>
          <a:xfrm>
            <a:off x="1625600" y="3267714"/>
            <a:ext cx="9144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Sends data</a:t>
            </a:r>
            <a:endParaRPr lang="en-US" sz="1200" dirty="0"/>
          </a:p>
        </p:txBody>
      </p:sp>
      <p:sp>
        <p:nvSpPr>
          <p:cNvPr id="14" name="Shape 7"/>
          <p:cNvSpPr/>
          <p:nvPr/>
        </p:nvSpPr>
        <p:spPr>
          <a:xfrm>
            <a:off x="4826000" y="2903221"/>
            <a:ext cx="2540000" cy="698500"/>
          </a:xfrm>
          <a:prstGeom prst="roundRect">
            <a:avLst>
              <a:gd name="adj" fmla="val 14545"/>
            </a:avLst>
          </a:prstGeom>
          <a:solidFill>
            <a:srgbClr val="0B2E5C"/>
          </a:solidFill>
          <a:ln/>
        </p:spPr>
      </p:sp>
      <p:sp>
        <p:nvSpPr>
          <p:cNvPr id="15" name="Text 8"/>
          <p:cNvSpPr/>
          <p:nvPr/>
        </p:nvSpPr>
        <p:spPr>
          <a:xfrm>
            <a:off x="5485265" y="3023871"/>
            <a:ext cx="1221391"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7FBFE"/>
                </a:solidFill>
                <a:latin typeface="IBM Plex Sans" pitchFamily="34" charset="0"/>
                <a:ea typeface="IBM Plex Sans" pitchFamily="34" charset="-122"/>
                <a:cs typeface="IBM Plex Sans" pitchFamily="34" charset="-120"/>
              </a:rPr>
              <a:t>Data diode</a:t>
            </a:r>
            <a:endParaRPr lang="en-US" sz="1600" dirty="0"/>
          </a:p>
        </p:txBody>
      </p:sp>
      <p:sp>
        <p:nvSpPr>
          <p:cNvPr id="16" name="Text 9"/>
          <p:cNvSpPr/>
          <p:nvPr/>
        </p:nvSpPr>
        <p:spPr>
          <a:xfrm>
            <a:off x="5149310" y="3267714"/>
            <a:ext cx="189338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2B14A"/>
                </a:solidFill>
                <a:latin typeface="IBM Plex Sans" pitchFamily="34" charset="0"/>
                <a:ea typeface="IBM Plex Sans" pitchFamily="34" charset="-122"/>
                <a:cs typeface="IBM Plex Sans" pitchFamily="34" charset="-120"/>
              </a:rPr>
              <a:t>One-way hardware link</a:t>
            </a:r>
            <a:endParaRPr lang="en-US" sz="1200" dirty="0"/>
          </a:p>
        </p:txBody>
      </p:sp>
      <p:sp>
        <p:nvSpPr>
          <p:cNvPr id="17" name="Shape 10"/>
          <p:cNvSpPr/>
          <p:nvPr/>
        </p:nvSpPr>
        <p:spPr>
          <a:xfrm>
            <a:off x="8842375" y="2906396"/>
            <a:ext cx="2533650" cy="692150"/>
          </a:xfrm>
          <a:prstGeom prst="roundRect">
            <a:avLst>
              <a:gd name="adj" fmla="val 14220"/>
            </a:avLst>
          </a:prstGeom>
          <a:solidFill>
            <a:srgbClr val="F7FBFE"/>
          </a:solidFill>
          <a:ln w="6350">
            <a:solidFill>
              <a:srgbClr val="B9D9F0"/>
            </a:solidFill>
            <a:prstDash val="solid"/>
          </a:ln>
        </p:spPr>
      </p:sp>
      <p:sp>
        <p:nvSpPr>
          <p:cNvPr id="18" name="Text 11"/>
          <p:cNvSpPr/>
          <p:nvPr/>
        </p:nvSpPr>
        <p:spPr>
          <a:xfrm>
            <a:off x="8961343" y="3023871"/>
            <a:ext cx="2295715"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0B2E5C"/>
                </a:solidFill>
                <a:latin typeface="IBM Plex Sans" pitchFamily="34" charset="0"/>
                <a:ea typeface="IBM Plex Sans" pitchFamily="34" charset="-122"/>
                <a:cs typeface="IBM Plex Sans" pitchFamily="34" charset="-120"/>
              </a:rPr>
              <a:t>Destination network</a:t>
            </a:r>
            <a:endParaRPr lang="en-US" sz="1600" dirty="0"/>
          </a:p>
        </p:txBody>
      </p:sp>
      <p:sp>
        <p:nvSpPr>
          <p:cNvPr id="19" name="Text 12"/>
          <p:cNvSpPr/>
          <p:nvPr/>
        </p:nvSpPr>
        <p:spPr>
          <a:xfrm>
            <a:off x="9539986" y="3267714"/>
            <a:ext cx="113842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Receives data</a:t>
            </a:r>
            <a:endParaRPr lang="en-US" sz="1200" dirty="0"/>
          </a:p>
        </p:txBody>
      </p:sp>
      <p:sp>
        <p:nvSpPr>
          <p:cNvPr id="20" name="Text 13"/>
          <p:cNvSpPr/>
          <p:nvPr/>
        </p:nvSpPr>
        <p:spPr>
          <a:xfrm>
            <a:off x="4787900" y="3931921"/>
            <a:ext cx="26162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No return path</a:t>
            </a:r>
            <a:endParaRPr lang="en-US" sz="1200" dirty="0"/>
          </a:p>
        </p:txBody>
      </p:sp>
      <p:sp>
        <p:nvSpPr>
          <p:cNvPr id="21" name="Shape 14"/>
          <p:cNvSpPr/>
          <p:nvPr/>
        </p:nvSpPr>
        <p:spPr>
          <a:xfrm>
            <a:off x="815975" y="4379596"/>
            <a:ext cx="3380264" cy="1156970"/>
          </a:xfrm>
          <a:prstGeom prst="roundRect">
            <a:avLst>
              <a:gd name="adj" fmla="val 8507"/>
            </a:avLst>
          </a:prstGeom>
          <a:solidFill>
            <a:srgbClr val="F7FBFE"/>
          </a:solidFill>
          <a:ln w="6350">
            <a:solidFill>
              <a:srgbClr val="B9D9F0"/>
            </a:solidFill>
            <a:prstDash val="solid"/>
          </a:ln>
        </p:spPr>
      </p:sp>
      <p:sp>
        <p:nvSpPr>
          <p:cNvPr id="22" name="Text 15"/>
          <p:cNvSpPr/>
          <p:nvPr/>
        </p:nvSpPr>
        <p:spPr>
          <a:xfrm>
            <a:off x="1021080" y="4584700"/>
            <a:ext cx="305915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5FB0"/>
                </a:solidFill>
                <a:latin typeface="IBM Plex Sans" pitchFamily="34" charset="0"/>
                <a:ea typeface="IBM Plex Sans" pitchFamily="34" charset="-122"/>
                <a:cs typeface="IBM Plex Sans" pitchFamily="34" charset="-120"/>
              </a:rPr>
              <a:t>1. Send</a:t>
            </a:r>
            <a:endParaRPr lang="en-US" sz="1600" dirty="0"/>
          </a:p>
        </p:txBody>
      </p:sp>
      <p:sp>
        <p:nvSpPr>
          <p:cNvPr id="23" name="Text 16"/>
          <p:cNvSpPr/>
          <p:nvPr/>
        </p:nvSpPr>
        <p:spPr>
          <a:xfrm>
            <a:off x="1021080" y="4904742"/>
            <a:ext cx="305915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The sender converts the data into a light signal</a:t>
            </a:r>
            <a:endParaRPr lang="en-US" sz="1200" dirty="0"/>
          </a:p>
        </p:txBody>
      </p:sp>
      <p:sp>
        <p:nvSpPr>
          <p:cNvPr id="24" name="Shape 17"/>
          <p:cNvSpPr/>
          <p:nvPr/>
        </p:nvSpPr>
        <p:spPr>
          <a:xfrm>
            <a:off x="4405789" y="4379596"/>
            <a:ext cx="3380343" cy="1156970"/>
          </a:xfrm>
          <a:prstGeom prst="roundRect">
            <a:avLst>
              <a:gd name="adj" fmla="val 8507"/>
            </a:avLst>
          </a:prstGeom>
          <a:solidFill>
            <a:srgbClr val="F7FBFE"/>
          </a:solidFill>
          <a:ln w="6350">
            <a:solidFill>
              <a:srgbClr val="B9D9F0"/>
            </a:solidFill>
            <a:prstDash val="solid"/>
          </a:ln>
        </p:spPr>
      </p:sp>
      <p:sp>
        <p:nvSpPr>
          <p:cNvPr id="25" name="Text 18"/>
          <p:cNvSpPr/>
          <p:nvPr/>
        </p:nvSpPr>
        <p:spPr>
          <a:xfrm>
            <a:off x="4610894" y="4584700"/>
            <a:ext cx="305923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5FB0"/>
                </a:solidFill>
                <a:latin typeface="IBM Plex Sans" pitchFamily="34" charset="0"/>
                <a:ea typeface="IBM Plex Sans" pitchFamily="34" charset="-122"/>
                <a:cs typeface="IBM Plex Sans" pitchFamily="34" charset="-120"/>
              </a:rPr>
              <a:t>2. One-way link</a:t>
            </a:r>
            <a:endParaRPr lang="en-US" sz="1600" dirty="0"/>
          </a:p>
        </p:txBody>
      </p:sp>
      <p:sp>
        <p:nvSpPr>
          <p:cNvPr id="26" name="Text 19"/>
          <p:cNvSpPr/>
          <p:nvPr/>
        </p:nvSpPr>
        <p:spPr>
          <a:xfrm>
            <a:off x="4610894" y="4904742"/>
            <a:ext cx="305923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One side can only send and the other can only receive</a:t>
            </a:r>
            <a:endParaRPr lang="en-US" sz="1200" dirty="0"/>
          </a:p>
        </p:txBody>
      </p:sp>
      <p:sp>
        <p:nvSpPr>
          <p:cNvPr id="27" name="Shape 20"/>
          <p:cNvSpPr/>
          <p:nvPr/>
        </p:nvSpPr>
        <p:spPr>
          <a:xfrm>
            <a:off x="7995682" y="4379596"/>
            <a:ext cx="3380343" cy="1156970"/>
          </a:xfrm>
          <a:prstGeom prst="roundRect">
            <a:avLst>
              <a:gd name="adj" fmla="val 8507"/>
            </a:avLst>
          </a:prstGeom>
          <a:solidFill>
            <a:srgbClr val="F7FBFE"/>
          </a:solidFill>
          <a:ln w="6350">
            <a:solidFill>
              <a:srgbClr val="B9D9F0"/>
            </a:solidFill>
            <a:prstDash val="solid"/>
          </a:ln>
        </p:spPr>
      </p:sp>
      <p:sp>
        <p:nvSpPr>
          <p:cNvPr id="28" name="Text 21"/>
          <p:cNvSpPr/>
          <p:nvPr/>
        </p:nvSpPr>
        <p:spPr>
          <a:xfrm>
            <a:off x="8200787" y="4584700"/>
            <a:ext cx="305923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5FB0"/>
                </a:solidFill>
                <a:latin typeface="IBM Plex Sans" pitchFamily="34" charset="0"/>
                <a:ea typeface="IBM Plex Sans" pitchFamily="34" charset="-122"/>
                <a:cs typeface="IBM Plex Sans" pitchFamily="34" charset="-120"/>
              </a:rPr>
              <a:t>3. Receive</a:t>
            </a:r>
            <a:endParaRPr lang="en-US" sz="1600" dirty="0"/>
          </a:p>
        </p:txBody>
      </p:sp>
      <p:sp>
        <p:nvSpPr>
          <p:cNvPr id="29" name="Text 22"/>
          <p:cNvSpPr/>
          <p:nvPr/>
        </p:nvSpPr>
        <p:spPr>
          <a:xfrm>
            <a:off x="8200787" y="4904742"/>
            <a:ext cx="305923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6384D"/>
                </a:solidFill>
                <a:latin typeface="IBM Plex Sans" pitchFamily="34" charset="0"/>
                <a:ea typeface="IBM Plex Sans" pitchFamily="34" charset="-122"/>
                <a:cs typeface="IBM Plex Sans" pitchFamily="34" charset="-120"/>
              </a:rPr>
              <a:t>The receiver turns the light back into data</a:t>
            </a:r>
            <a:endParaRPr lang="en-US" sz="1200" dirty="0"/>
          </a:p>
        </p:txBody>
      </p:sp>
      <p:sp>
        <p:nvSpPr>
          <p:cNvPr id="30" name="Text 23"/>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31" name="Text 24"/>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NMC tools and special networks</a:t>
            </a:r>
            <a:endParaRPr lang="en-US" sz="3200" dirty="0"/>
          </a:p>
        </p:txBody>
      </p:sp>
      <p:sp>
        <p:nvSpPr>
          <p:cNvPr id="7" name="Shape 3"/>
          <p:cNvSpPr/>
          <p:nvPr/>
        </p:nvSpPr>
        <p:spPr>
          <a:xfrm>
            <a:off x="812800" y="1991364"/>
            <a:ext cx="5176520" cy="2407920"/>
          </a:xfrm>
          <a:prstGeom prst="roundRect">
            <a:avLst>
              <a:gd name="adj" fmla="val 4219"/>
            </a:avLst>
          </a:prstGeom>
          <a:solidFill>
            <a:srgbClr val="0B5FB0"/>
          </a:solidFill>
          <a:ln/>
        </p:spPr>
      </p:sp>
      <p:sp>
        <p:nvSpPr>
          <p:cNvPr id="8" name="Text 4"/>
          <p:cNvSpPr/>
          <p:nvPr/>
        </p:nvSpPr>
        <p:spPr>
          <a:xfrm>
            <a:off x="1066800" y="2245364"/>
            <a:ext cx="48085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BFE"/>
                </a:solidFill>
                <a:latin typeface="IBM Plex Sans" pitchFamily="34" charset="0"/>
                <a:ea typeface="IBM Plex Sans" pitchFamily="34" charset="-122"/>
                <a:cs typeface="IBM Plex Sans" pitchFamily="34" charset="-120"/>
              </a:rPr>
              <a:t>NNMi</a:t>
            </a:r>
            <a:endParaRPr lang="en-US" sz="2000" dirty="0"/>
          </a:p>
        </p:txBody>
      </p:sp>
      <p:sp>
        <p:nvSpPr>
          <p:cNvPr id="9" name="Text 5"/>
          <p:cNvSpPr/>
          <p:nvPr/>
        </p:nvSpPr>
        <p:spPr>
          <a:xfrm>
            <a:off x="1066800" y="2575564"/>
            <a:ext cx="48085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Network Node Manager i</a:t>
            </a:r>
            <a:endParaRPr lang="en-US" sz="1200" dirty="0"/>
          </a:p>
        </p:txBody>
      </p:sp>
      <p:sp>
        <p:nvSpPr>
          <p:cNvPr id="10" name="Text 6"/>
          <p:cNvSpPr/>
          <p:nvPr/>
        </p:nvSpPr>
        <p:spPr>
          <a:xfrm>
            <a:off x="1124458" y="2915921"/>
            <a:ext cx="4743298" cy="1244600"/>
          </a:xfrm>
          <a:prstGeom prst="rect">
            <a:avLst/>
          </a:prstGeom>
          <a:noFill/>
          <a:ln/>
        </p:spPr>
        <p:txBody>
          <a:bodyPr wrap="square" lIns="0" tIns="0" rIns="0" bIns="0" rtlCol="0" anchor="t">
            <a:normAutofit/>
          </a:bodyPr>
          <a:lstStyle/>
          <a:p>
            <a:pPr algn="l" marL="196342" indent="-196342">
              <a:lnSpc>
                <a:spcPts val="2400"/>
              </a:lnSpc>
              <a:buSzPct val="100000"/>
              <a:buChar char="•"/>
            </a:pPr>
            <a:r>
              <a:rPr lang="en-US" sz="1600" dirty="0">
                <a:solidFill>
                  <a:srgbClr val="F7FBFE"/>
                </a:solidFill>
                <a:latin typeface="IBM Plex Sans" pitchFamily="34" charset="0"/>
                <a:ea typeface="IBM Plex Sans" pitchFamily="34" charset="-122"/>
                <a:cs typeface="IBM Plex Sans" pitchFamily="34" charset="-120"/>
              </a:rPr>
              <a:t>Discovers devices and maps the network</a:t>
            </a:r>
            <a:endParaRPr lang="en-US" sz="1600" dirty="0"/>
          </a:p>
          <a:p>
            <a:pPr algn="l" marL="196342" indent="-196342">
              <a:lnSpc>
                <a:spcPts val="2400"/>
              </a:lnSpc>
              <a:buSzPct val="100000"/>
              <a:buChar char="•"/>
            </a:pPr>
            <a:r>
              <a:rPr lang="en-US" sz="1600" dirty="0">
                <a:solidFill>
                  <a:srgbClr val="F7FBFE"/>
                </a:solidFill>
                <a:latin typeface="IBM Plex Sans" pitchFamily="34" charset="0"/>
                <a:ea typeface="IBM Plex Sans" pitchFamily="34" charset="-122"/>
                <a:cs typeface="IBM Plex Sans" pitchFamily="34" charset="-120"/>
              </a:rPr>
              <a:t>Monitors the health of devices and links</a:t>
            </a:r>
            <a:endParaRPr lang="en-US" sz="1600" dirty="0"/>
          </a:p>
          <a:p>
            <a:pPr algn="l" marL="196342" indent="-196342">
              <a:lnSpc>
                <a:spcPts val="2400"/>
              </a:lnSpc>
              <a:buSzPct val="100000"/>
              <a:buChar char="•"/>
            </a:pPr>
            <a:r>
              <a:rPr lang="en-US" sz="1600" dirty="0">
                <a:solidFill>
                  <a:srgbClr val="F7FBFE"/>
                </a:solidFill>
                <a:latin typeface="IBM Plex Sans" pitchFamily="34" charset="0"/>
                <a:ea typeface="IBM Plex Sans" pitchFamily="34" charset="-122"/>
                <a:cs typeface="IBM Plex Sans" pitchFamily="34" charset="-120"/>
              </a:rPr>
              <a:t>Alerts the team when a device or link goes down</a:t>
            </a:r>
            <a:endParaRPr lang="en-US" sz="1600" dirty="0"/>
          </a:p>
          <a:p>
            <a:pPr algn="l" marL="196342" indent="-196342">
              <a:lnSpc>
                <a:spcPts val="2400"/>
              </a:lnSpc>
              <a:buSzPct val="100000"/>
              <a:buChar char="•"/>
            </a:pPr>
            <a:r>
              <a:rPr lang="en-US" sz="1600" dirty="0">
                <a:solidFill>
                  <a:srgbClr val="F7FBFE"/>
                </a:solidFill>
                <a:latin typeface="IBM Plex Sans" pitchFamily="34" charset="0"/>
                <a:ea typeface="IBM Plex Sans" pitchFamily="34" charset="-122"/>
                <a:cs typeface="IBM Plex Sans" pitchFamily="34" charset="-120"/>
              </a:rPr>
              <a:t>Helps find the root cause of a fault faster</a:t>
            </a:r>
            <a:endParaRPr lang="en-US" sz="1600" dirty="0"/>
          </a:p>
        </p:txBody>
      </p:sp>
      <p:sp>
        <p:nvSpPr>
          <p:cNvPr id="11" name="Shape 7"/>
          <p:cNvSpPr/>
          <p:nvPr/>
        </p:nvSpPr>
        <p:spPr>
          <a:xfrm>
            <a:off x="6195695" y="1994539"/>
            <a:ext cx="5180330" cy="2401570"/>
          </a:xfrm>
          <a:prstGeom prst="roundRect">
            <a:avLst>
              <a:gd name="adj" fmla="val 4098"/>
            </a:avLst>
          </a:prstGeom>
          <a:solidFill>
            <a:srgbClr val="F7FBFE"/>
          </a:solidFill>
          <a:ln w="6350">
            <a:solidFill>
              <a:srgbClr val="B9D9F0"/>
            </a:solidFill>
            <a:prstDash val="solid"/>
          </a:ln>
        </p:spPr>
      </p:sp>
      <p:sp>
        <p:nvSpPr>
          <p:cNvPr id="12" name="Text 8"/>
          <p:cNvSpPr/>
          <p:nvPr/>
        </p:nvSpPr>
        <p:spPr>
          <a:xfrm>
            <a:off x="6451600" y="2250442"/>
            <a:ext cx="48085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2E5C"/>
                </a:solidFill>
                <a:latin typeface="IBM Plex Sans" pitchFamily="34" charset="0"/>
                <a:ea typeface="IBM Plex Sans" pitchFamily="34" charset="-122"/>
                <a:cs typeface="IBM Plex Sans" pitchFamily="34" charset="-120"/>
              </a:rPr>
              <a:t>WIQAS network</a:t>
            </a:r>
            <a:endParaRPr lang="en-US" sz="2000" dirty="0"/>
          </a:p>
        </p:txBody>
      </p:sp>
      <p:sp>
        <p:nvSpPr>
          <p:cNvPr id="13" name="Text 9"/>
          <p:cNvSpPr/>
          <p:nvPr/>
        </p:nvSpPr>
        <p:spPr>
          <a:xfrm>
            <a:off x="6451600" y="2580642"/>
            <a:ext cx="48085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[Full form to be confirmed]</a:t>
            </a:r>
            <a:endParaRPr lang="en-US" sz="1200" dirty="0"/>
          </a:p>
        </p:txBody>
      </p:sp>
      <p:sp>
        <p:nvSpPr>
          <p:cNvPr id="14" name="Text 10"/>
          <p:cNvSpPr/>
          <p:nvPr/>
        </p:nvSpPr>
        <p:spPr>
          <a:xfrm>
            <a:off x="6509258" y="2921000"/>
            <a:ext cx="4743298" cy="1244600"/>
          </a:xfrm>
          <a:prstGeom prst="rect">
            <a:avLst/>
          </a:prstGeom>
          <a:noFill/>
          <a:ln/>
        </p:spPr>
        <p:txBody>
          <a:bodyPr wrap="square" lIns="0" tIns="0" rIns="0" bIns="0" rtlCol="0" anchor="t">
            <a:normAutofit/>
          </a:bodyPr>
          <a:lstStyle/>
          <a:p>
            <a:pPr algn="l" marL="196342" indent="-196342">
              <a:lnSpc>
                <a:spcPts val="2400"/>
              </a:lnSpc>
              <a:buSzPct val="100000"/>
              <a:buChar char="•"/>
            </a:pPr>
            <a:r>
              <a:rPr lang="en-US" sz="1600" dirty="0">
                <a:solidFill>
                  <a:srgbClr val="26384D"/>
                </a:solidFill>
                <a:latin typeface="IBM Plex Sans" pitchFamily="34" charset="0"/>
                <a:ea typeface="IBM Plex Sans" pitchFamily="34" charset="-122"/>
                <a:cs typeface="IBM Plex Sans" pitchFamily="34" charset="-120"/>
              </a:rPr>
              <a:t>A separate, dedicated network</a:t>
            </a:r>
            <a:endParaRPr lang="en-US" sz="1600" dirty="0"/>
          </a:p>
          <a:p>
            <a:pPr algn="l" marL="196342" indent="-196342">
              <a:lnSpc>
                <a:spcPts val="2400"/>
              </a:lnSpc>
              <a:buSzPct val="100000"/>
              <a:buChar char="•"/>
            </a:pPr>
            <a:r>
              <a:rPr lang="en-US" sz="1600" dirty="0">
                <a:solidFill>
                  <a:srgbClr val="26384D"/>
                </a:solidFill>
                <a:latin typeface="IBM Plex Sans" pitchFamily="34" charset="0"/>
                <a:ea typeface="IBM Plex Sans" pitchFamily="34" charset="-122"/>
                <a:cs typeface="IBM Plex Sans" pitchFamily="34" charset="-120"/>
              </a:rPr>
              <a:t>Used by the Army, Navy and Air Force</a:t>
            </a:r>
            <a:endParaRPr lang="en-US" sz="1600" dirty="0"/>
          </a:p>
          <a:p>
            <a:pPr algn="l" marL="196342" indent="-196342">
              <a:lnSpc>
                <a:spcPts val="2400"/>
              </a:lnSpc>
              <a:buSzPct val="100000"/>
              <a:buChar char="•"/>
            </a:pPr>
            <a:r>
              <a:rPr lang="en-US" sz="1600" dirty="0">
                <a:solidFill>
                  <a:srgbClr val="26384D"/>
                </a:solidFill>
                <a:latin typeface="IBM Plex Sans" pitchFamily="34" charset="0"/>
                <a:ea typeface="IBM Plex Sans" pitchFamily="34" charset="-122"/>
                <a:cs typeface="IBM Plex Sans" pitchFamily="34" charset="-120"/>
              </a:rPr>
              <a:t>Lets each service communicate on its own network</a:t>
            </a:r>
            <a:endParaRPr lang="en-US" sz="1600" dirty="0"/>
          </a:p>
        </p:txBody>
      </p:sp>
      <p:sp>
        <p:nvSpPr>
          <p:cNvPr id="15" name="Text 11"/>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16" name="Text 12"/>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3F1FB"/>
        </a:solidFill>
      </p:bgPr>
    </p:bg>
    <p:spTree>
      <p:nvGrpSpPr>
        <p:cNvPr id="1" name=""/>
        <p:cNvGrpSpPr/>
        <p:nvPr/>
      </p:nvGrpSpPr>
      <p:grpSpPr>
        <a:xfrm>
          <a:off x="0" y="0"/>
          <a:ext cx="0" cy="0"/>
          <a:chOff x="0" y="0"/>
          <a:chExt cx="0" cy="0"/>
        </a:xfrm>
      </p:grpSpPr>
      <p:sp>
        <p:nvSpPr>
          <p:cNvPr id="2" name="Shape 0"/>
          <p:cNvSpPr/>
          <p:nvPr/>
        </p:nvSpPr>
        <p:spPr>
          <a:xfrm>
            <a:off x="0" y="0"/>
            <a:ext cx="12192000" cy="1016000"/>
          </a:xfrm>
          <a:prstGeom prst="rect">
            <a:avLst/>
          </a:prstGeom>
          <a:gradFill rotWithShape="1">
            <a:gsLst>
              <a:gs pos="0">
                <a:srgbClr val="F6FBFF"/>
              </a:gs>
              <a:gs pos="43700">
                <a:srgbClr val="84CBF0"/>
              </a:gs>
              <a:gs pos="100000">
                <a:srgbClr val="84CBF0"/>
              </a:gs>
            </a:gsLst>
            <a:lin ang="0" scaled="0"/>
          </a:gradFill>
          <a:ln/>
        </p:spPr>
      </p:sp>
      <p:pic>
        <p:nvPicPr>
          <p:cNvPr id="3" name="Image 0" descr="BEL products: warship, battle tank and fighter aircraft">    </p:cNvPr>
          <p:cNvPicPr>
            <a:picLocks noChangeAspect="1"/>
          </p:cNvPicPr>
          <p:nvPr/>
        </p:nvPicPr>
        <p:blipFill>
          <a:blip r:embed="rId1"/>
          <a:srcRect l="0" r="0" t="6" b="6"/>
          <a:stretch/>
        </p:blipFill>
        <p:spPr>
          <a:xfrm>
            <a:off x="5327650" y="0"/>
            <a:ext cx="6864350" cy="1016000"/>
          </a:xfrm>
          <a:prstGeom prst="rect">
            <a:avLst/>
          </a:prstGeom>
        </p:spPr>
      </p:pic>
      <p:pic>
        <p:nvPicPr>
          <p:cNvPr id="4" name="Image 1" descr="Bharat Electronics logo">    </p:cNvPr>
          <p:cNvPicPr>
            <a:picLocks noChangeAspect="1"/>
          </p:cNvPicPr>
          <p:nvPr/>
        </p:nvPicPr>
        <p:blipFill>
          <a:blip r:embed="rId2"/>
          <a:srcRect l="0" r="0" t="-37" b="-37"/>
          <a:stretch/>
        </p:blipFill>
        <p:spPr>
          <a:xfrm>
            <a:off x="406400" y="177800"/>
            <a:ext cx="2228850" cy="660400"/>
          </a:xfrm>
          <a:prstGeom prst="rect">
            <a:avLst/>
          </a:prstGeom>
        </p:spPr>
      </p:pic>
      <p:sp>
        <p:nvSpPr>
          <p:cNvPr id="5" name="Shape 1"/>
          <p:cNvSpPr/>
          <p:nvPr/>
        </p:nvSpPr>
        <p:spPr>
          <a:xfrm>
            <a:off x="0" y="6705600"/>
            <a:ext cx="12192000" cy="152400"/>
          </a:xfrm>
          <a:prstGeom prst="rect">
            <a:avLst/>
          </a:prstGeom>
          <a:solidFill>
            <a:srgbClr val="77C3EE"/>
          </a:solidFill>
          <a:ln/>
        </p:spPr>
      </p:sp>
      <p:sp>
        <p:nvSpPr>
          <p:cNvPr id="6" name="Text 2"/>
          <p:cNvSpPr/>
          <p:nvPr>
            <p:ph type="title"/>
          </p:nvPr>
        </p:nvSpPr>
        <p:spPr>
          <a:xfrm>
            <a:off x="812800" y="12700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2E5C"/>
                </a:solidFill>
                <a:latin typeface="IBM Plex Sans" pitchFamily="34" charset="0"/>
                <a:ea typeface="IBM Plex Sans" pitchFamily="34" charset="-122"/>
                <a:cs typeface="IBM Plex Sans" pitchFamily="34" charset="-120"/>
              </a:rPr>
              <a:t>Key takeaways</a:t>
            </a:r>
            <a:endParaRPr lang="en-US" sz="3200" dirty="0"/>
          </a:p>
        </p:txBody>
      </p:sp>
      <p:sp>
        <p:nvSpPr>
          <p:cNvPr id="7" name="Text 3"/>
          <p:cNvSpPr/>
          <p:nvPr/>
        </p:nvSpPr>
        <p:spPr>
          <a:xfrm>
            <a:off x="812800" y="1991364"/>
            <a:ext cx="355600" cy="3556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1</a:t>
            </a:r>
            <a:endParaRPr lang="en-US" sz="1600" dirty="0"/>
          </a:p>
        </p:txBody>
      </p:sp>
      <p:sp>
        <p:nvSpPr>
          <p:cNvPr id="8" name="Text 4"/>
          <p:cNvSpPr/>
          <p:nvPr/>
        </p:nvSpPr>
        <p:spPr>
          <a:xfrm>
            <a:off x="1320800" y="2026921"/>
            <a:ext cx="1036015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Every complaint is ticketed and tracked until the ticket is closed.</a:t>
            </a:r>
            <a:endParaRPr lang="en-US" sz="1600" dirty="0"/>
          </a:p>
        </p:txBody>
      </p:sp>
      <p:sp>
        <p:nvSpPr>
          <p:cNvPr id="9" name="Text 5"/>
          <p:cNvSpPr/>
          <p:nvPr/>
        </p:nvSpPr>
        <p:spPr>
          <a:xfrm>
            <a:off x="812800" y="2499364"/>
            <a:ext cx="355600" cy="3556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2</a:t>
            </a:r>
            <a:endParaRPr lang="en-US" sz="1600" dirty="0"/>
          </a:p>
        </p:txBody>
      </p:sp>
      <p:sp>
        <p:nvSpPr>
          <p:cNvPr id="10" name="Text 6"/>
          <p:cNvSpPr/>
          <p:nvPr/>
        </p:nvSpPr>
        <p:spPr>
          <a:xfrm>
            <a:off x="1320800" y="2534921"/>
            <a:ext cx="1036015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85 servers run on RAID disks, with Hyper-V for separate services.</a:t>
            </a:r>
            <a:endParaRPr lang="en-US" sz="1600" dirty="0"/>
          </a:p>
        </p:txBody>
      </p:sp>
      <p:sp>
        <p:nvSpPr>
          <p:cNvPr id="11" name="Text 7"/>
          <p:cNvSpPr/>
          <p:nvPr/>
        </p:nvSpPr>
        <p:spPr>
          <a:xfrm>
            <a:off x="812800" y="3007364"/>
            <a:ext cx="355600" cy="3556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3</a:t>
            </a:r>
            <a:endParaRPr lang="en-US" sz="1600" dirty="0"/>
          </a:p>
        </p:txBody>
      </p:sp>
      <p:sp>
        <p:nvSpPr>
          <p:cNvPr id="12" name="Text 8"/>
          <p:cNvSpPr/>
          <p:nvPr/>
        </p:nvSpPr>
        <p:spPr>
          <a:xfrm>
            <a:off x="1320800" y="3042921"/>
            <a:ext cx="1036015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Trend Micro Apex One protects about 4,800 PCs and controls USB and CD/DVD.</a:t>
            </a:r>
            <a:endParaRPr lang="en-US" sz="1600" dirty="0"/>
          </a:p>
        </p:txBody>
      </p:sp>
      <p:sp>
        <p:nvSpPr>
          <p:cNvPr id="13" name="Text 9"/>
          <p:cNvSpPr/>
          <p:nvPr/>
        </p:nvSpPr>
        <p:spPr>
          <a:xfrm>
            <a:off x="812800" y="3515364"/>
            <a:ext cx="355600" cy="355600"/>
          </a:xfrm>
          <a:prstGeom prst="roundRect">
            <a:avLst>
              <a:gd name="adj" fmla="val 50000"/>
            </a:avLst>
          </a:prstGeom>
          <a:solidFill>
            <a:srgbClr val="0B5FB0"/>
          </a:solidFill>
          <a:ln/>
        </p:spPr>
        <p:txBody>
          <a:bodyPr wrap="square" lIns="0" tIns="0" rIns="0" bIns="0" rtlCol="0" anchor="ctr">
            <a:normAutofit/>
          </a:bodyPr>
          <a:lstStyle/>
          <a:p>
            <a:pPr algn="ctr" indent="0" marL="0">
              <a:lnSpc>
                <a:spcPts val="1760"/>
              </a:lnSpc>
              <a:buNone/>
            </a:pPr>
            <a:r>
              <a:rPr lang="en-US" sz="1600" b="1" dirty="0">
                <a:solidFill>
                  <a:srgbClr val="F7FBFE"/>
                </a:solidFill>
                <a:latin typeface="IBM Plex Sans" pitchFamily="34" charset="0"/>
                <a:ea typeface="IBM Plex Sans" pitchFamily="34" charset="-122"/>
                <a:cs typeface="IBM Plex Sans" pitchFamily="34" charset="-120"/>
              </a:rPr>
              <a:t>4</a:t>
            </a:r>
            <a:endParaRPr lang="en-US" sz="1600" dirty="0"/>
          </a:p>
        </p:txBody>
      </p:sp>
      <p:sp>
        <p:nvSpPr>
          <p:cNvPr id="14" name="Text 10"/>
          <p:cNvSpPr/>
          <p:nvPr/>
        </p:nvSpPr>
        <p:spPr>
          <a:xfrm>
            <a:off x="1320800" y="3550921"/>
            <a:ext cx="1036015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384D"/>
                </a:solidFill>
                <a:latin typeface="IBM Plex Sans" pitchFamily="34" charset="0"/>
                <a:ea typeface="IBM Plex Sans" pitchFamily="34" charset="-122"/>
                <a:cs typeface="IBM Plex Sans" pitchFamily="34" charset="-120"/>
              </a:rPr>
              <a:t>NMC monitors the intranet and internet with NNMi and fixes network faults.</a:t>
            </a:r>
            <a:endParaRPr lang="en-US" sz="1600" dirty="0"/>
          </a:p>
        </p:txBody>
      </p:sp>
      <p:sp>
        <p:nvSpPr>
          <p:cNvPr id="15" name="Shape 11"/>
          <p:cNvSpPr/>
          <p:nvPr/>
        </p:nvSpPr>
        <p:spPr>
          <a:xfrm>
            <a:off x="812800" y="4124964"/>
            <a:ext cx="10566400" cy="1137920"/>
          </a:xfrm>
          <a:prstGeom prst="roundRect">
            <a:avLst>
              <a:gd name="adj" fmla="val 8929"/>
            </a:avLst>
          </a:prstGeom>
          <a:solidFill>
            <a:srgbClr val="0B2E5C"/>
          </a:solidFill>
          <a:ln/>
        </p:spPr>
      </p:sp>
      <p:sp>
        <p:nvSpPr>
          <p:cNvPr id="16" name="Text 12"/>
          <p:cNvSpPr/>
          <p:nvPr/>
        </p:nvSpPr>
        <p:spPr>
          <a:xfrm>
            <a:off x="1117600" y="4328164"/>
            <a:ext cx="10255504"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7FBFE"/>
                </a:solidFill>
                <a:latin typeface="IBM Plex Sans" pitchFamily="34" charset="0"/>
                <a:ea typeface="IBM Plex Sans" pitchFamily="34" charset="-122"/>
                <a:cs typeface="IBM Plex Sans" pitchFamily="34" charset="-120"/>
              </a:rPr>
              <a:t>Thank you. Questions?</a:t>
            </a:r>
            <a:endParaRPr lang="en-US" sz="3200" dirty="0"/>
          </a:p>
        </p:txBody>
      </p:sp>
      <p:sp>
        <p:nvSpPr>
          <p:cNvPr id="17" name="Text 13"/>
          <p:cNvSpPr/>
          <p:nvPr/>
        </p:nvSpPr>
        <p:spPr>
          <a:xfrm>
            <a:off x="1117600" y="4846321"/>
            <a:ext cx="102555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AFA"/>
                </a:solidFill>
                <a:latin typeface="IBM Plex Sans" pitchFamily="34" charset="0"/>
                <a:ea typeface="IBM Plex Sans" pitchFamily="34" charset="-122"/>
                <a:cs typeface="IBM Plex Sans" pitchFamily="34" charset="-120"/>
              </a:rPr>
              <a:t>Training continues across the other ISBG sub-departments.</a:t>
            </a:r>
            <a:endParaRPr lang="en-US" sz="1200" dirty="0"/>
          </a:p>
        </p:txBody>
      </p:sp>
      <p:sp>
        <p:nvSpPr>
          <p:cNvPr id="18" name="Text 14"/>
          <p:cNvSpPr/>
          <p:nvPr/>
        </p:nvSpPr>
        <p:spPr>
          <a:xfrm>
            <a:off x="812800" y="63398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ISBG training review · BEL Bangalore Complex</a:t>
            </a:r>
            <a:endParaRPr lang="en-US" sz="1200" dirty="0"/>
          </a:p>
        </p:txBody>
      </p:sp>
      <p:sp>
        <p:nvSpPr>
          <p:cNvPr id="19" name="Text 15"/>
          <p:cNvSpPr/>
          <p:nvPr/>
        </p:nvSpPr>
        <p:spPr>
          <a:xfrm>
            <a:off x="100584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607A"/>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theme/theme1.xml><?xml version="1.0" encoding="utf-8"?>
<a:theme xmlns:a="http://schemas.openxmlformats.org/drawingml/2006/main" name="ISBG Training Presentation">
  <a:themeElements>
    <a:clrScheme name="ISBG Training Presentation">
      <a:dk1>
        <a:srgbClr val="0B2E5C"/>
      </a:dk1>
      <a:lt1>
        <a:srgbClr val="E3F1FB"/>
      </a:lt1>
      <a:dk2>
        <a:srgbClr val="415F84"/>
      </a:dk2>
      <a:lt2>
        <a:srgbClr val="CDDEEB"/>
      </a:lt2>
      <a:accent1>
        <a:srgbClr val="46607A"/>
      </a:accent1>
      <a:accent2>
        <a:srgbClr val="0B5FB0"/>
      </a:accent2>
      <a:accent3>
        <a:srgbClr val="84CBF0"/>
      </a:accent3>
      <a:accent4>
        <a:srgbClr val="26384D"/>
      </a:accent4>
      <a:accent5>
        <a:srgbClr val="77C3EE"/>
      </a:accent5>
      <a:accent6>
        <a:srgbClr val="F2B14A"/>
      </a:accent6>
      <a:hlink>
        <a:srgbClr val="0563C1"/>
      </a:hlink>
      <a:folHlink>
        <a:srgbClr val="954F72"/>
      </a:folHlink>
    </a:clrScheme>
    <a:fontScheme name="ISBG Training Presenta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ISBG Training Presentation</dc:title>
  <dc:subject/>
  <dc:creator/>
  <cp:lastModifiedBy/>
  <cp:revision>1</cp:revision>
  <dcterms:created xsi:type="dcterms:W3CDTF">2026-10-28T17:57:45Z</dcterms:created>
  <dcterms:modified xsi:type="dcterms:W3CDTF">2026-10-28T17:57:45Z</dcterms:modified>
</cp:coreProperties>
</file>
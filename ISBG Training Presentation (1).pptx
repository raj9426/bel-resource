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START (about 30 seconds): "Good morning sir. Over the last few weeks I have been going through the sub-departments of ISBG. I am posted in PC Maintenance, so I will first introduce ISBG very briefly, and then walk you through what I learned in PCM: the help desk, the servers and antivirus support." TIPS: The whole talk is about 8 to 10 minutes, roughly one minute per slide. Speak slowly, look at your manager rather than the screen, and use the slides only as prompts. Fill in your name, designation and date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"ISBG is the Information Systems division of the Bangalore Complex, and it is ISO/IEC 27001:2013 certified for information security. It looks after six areas: PC maintenance, network maintenance, payroll and attendance, web support, face recognition based attendance with flap barriers and biometrics, and SAP/ERP support for end users. I am posted in PC Maintenance, highlighted here, so the rest of my talk focuses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"BEL has adopted ISO/IEC 27001:2013 to manage the security of its information assets, and ISBG is certified under it. ISBG was first certified on 30 June 2014 and the certificate is renewed in three-year cycles with audits in between. The aim is to protect the confidentiality, integrity and availability of information. ISBG supports mission-critical ERP and maintains the IT assets and network for all the SBUs of the Bangalore Complex. As a safeguard, the intranet and the internet run on separate air-gapped networks." Link it forward: the antivirus and USB controls you will show later support this security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Do not read every line. Say: "Our vision is to lead in IT infrastructure support for internal customers, and our mission is customer delight. The values that guide the team are customers first, transparency and integrity, ethical practices, excellence, mutual trust and respect, and teamwork. I saw these in practice at the help desk, where every complaint gets a ticket and a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Say: "PC Maintenance is the part of ISBG I am posted in. It has three main areas: the help desk with field support, server maintenance, and antivirus support. Alongside these it covers printers, workstations, thin clients, and general hardware and software issues. I will go through each area in turn, starting with how a user complaint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is the main slide, so take your time and walk left to right. Say: "When a user has a problem, they call the help desk. The first thing the help desk does is raise a ticket with the user's staff number, name and department. If it is a software issue, they first try to fix it through remote access. If that does not work, the ticket goes to the experts. If the experts cannot fix it, or the issue needs someone physically present, a zone engineer is sent. We have 12 zone engineers, and each covers a zone of 5 to 10 departments. Hardware issues also go to the zone engineer. Once the problem is fixed, the ticket is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"PCM maintains 85 physical servers in three categories: flat, mount and blade. To protect the data, the servers use RAID, which manages multiple hard disks together. We use RAID 1, which is mirroring, when there are two disks, and RAID 5, which is striping, when there are three or more. The disks are hot-swappable, so a faulty drive can be replaced without taking the server down." If asked: RAID 5 also keeps parity information, so it survives one disk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"Each server is given a role. Active Directory holds user, computer and shared folder information. DHCP hands out IP addresses. DNS resolves names. Hyper-V is virtualization software, so one physical server can host several operating systems, for example a virtual server for Active Directory. The Windows update service and the deployment server handle updates and OS installation, and the web server hosts web applications. Two of these, Active Directory and DHCP, are worth looking at in more detail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"Active Directory stores information about users, computers and shared folders. Adding or removing a user is done only with permission from the PCM head. Policies apply to staff, but senior officials have no restrictions. DHCP assigns IP addresses to all client PCs with a 30-day lease, so the IP of an idle PC can be given to a different PC. Static IP addresses are assigned manually, and only for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"For antivirus we use Trend Micro. The Apex One server is the primary endpoint protection service and manages about 4,800 PCs. Apex Central is the centralized management server. A SQL database server, running Microsoft SQL Server on a VM, stores the Apex One data. A separate backup server is powered on once a month, backs up the antivirus setup, and is shut down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Say: "Day to day, the antivirus team does four things. It disables the antivirus for a user when they need to install software or transfer data. It pushes the agent to users under a policy. It enables or disables USB ports for users. And it sets CD/DVD permissions. These controls help keep the network safe while still letting users do their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END (about 45 seconds): Read the three takeaways in your own words, then say: "To summarise, in PCM I learned how complaints are handled from the help desk to the zone engineers, how the 85 servers are protected and organised, and how antivirus is managed for about 4,800 PCs. My training in the other ISBG sub-departments is still continuing. Thank you, sir. I would be happy to take any questions and would value your feedback." TIPS FOR Q&amp;A: If you do not know an answer, say "I will check with the team and confirm" instead of guessing. Keep a few facts ready: 85 servers, 12 zone engineers covering 5 to 10 departments each, about 4,800 PCs on Apex One, 30-day DHCP 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3F1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2E5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42160"/>
            <a:ext cx="10566400" cy="4003040"/>
          </a:xfrm>
          <a:prstGeom prst="rect">
            <a:avLst/>
          </a:prstGeom>
          <a:noFill/>
          <a:ln/>
        </p:spPr>
        <p:txBody>
          <a:bodyPr wrap="square" lIns="0" tIns="0" rIns="0" bIns="0" rtlCol="0" anchor="t"/>
          <a:lstStyle>
            <a:lvl1pPr algn="l" indent="0" marL="0">
              <a:lnSpc>
                <a:spcPct val="140000"/>
              </a:lnSpc>
              <a:buNone/>
              <a:defRPr lang="en-US" sz="1600" dirty="0">
                <a:solidFill>
                  <a:srgbClr val="0B2E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3F1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2E5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42160"/>
            <a:ext cx="10566400" cy="4003040"/>
          </a:xfrm>
          <a:prstGeom prst="rect">
            <a:avLst/>
          </a:prstGeom>
          <a:noFill/>
          <a:ln/>
        </p:spPr>
        <p:txBody>
          <a:bodyPr wrap="square" lIns="0" tIns="0" rIns="0" bIns="0" rtlCol="0" anchor="t"/>
          <a:lstStyle>
            <a:lvl1pPr algn="l" indent="0" marL="0">
              <a:lnSpc>
                <a:spcPct val="140000"/>
              </a:lnSpc>
              <a:buNone/>
              <a:defRPr lang="en-US" sz="1600" dirty="0">
                <a:solidFill>
                  <a:srgbClr val="0B2E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F7F"/>
        </a:solidFill>
      </p:bgPr>
    </p:bg>
    <p:spTree>
      <p:nvGrpSpPr>
        <p:cNvPr id="1" name=""/>
        <p:cNvGrpSpPr/>
        <p:nvPr/>
      </p:nvGrpSpPr>
      <p:grpSpPr>
        <a:xfrm>
          <a:off x="0" y="0"/>
          <a:ext cx="0" cy="0"/>
          <a:chOff x="0" y="0"/>
          <a:chExt cx="0" cy="0"/>
        </a:xfrm>
      </p:grpSpPr>
      <p:pic>
        <p:nvPicPr>
          <p:cNvPr id="2" name="Image 0" descr="BEL technology collage: a radar vehicle, a field radio operator and a warship">    </p:cNvPr>
          <p:cNvPicPr>
            <a:picLocks noChangeAspect="1"/>
          </p:cNvPicPr>
          <p:nvPr/>
        </p:nvPicPr>
        <p:blipFill>
          <a:blip r:embed="rId1"/>
          <a:srcRect l="0" r="0" t="0" b="0"/>
          <a:stretch/>
        </p:blipFill>
        <p:spPr>
          <a:xfrm>
            <a:off x="0" y="0"/>
            <a:ext cx="9144000" cy="6858000"/>
          </a:xfrm>
          <a:prstGeom prst="rect">
            <a:avLst/>
          </a:prstGeom>
        </p:spPr>
      </p:pic>
      <p:sp>
        <p:nvSpPr>
          <p:cNvPr id="3" name="Shape 0"/>
          <p:cNvSpPr/>
          <p:nvPr/>
        </p:nvSpPr>
        <p:spPr>
          <a:xfrm>
            <a:off x="9144000" y="0"/>
            <a:ext cx="3048000" cy="6858000"/>
          </a:xfrm>
          <a:prstGeom prst="rect">
            <a:avLst/>
          </a:prstGeom>
          <a:gradFill rotWithShape="1">
            <a:gsLst>
              <a:gs pos="0">
                <a:srgbClr val="0B5FB0"/>
              </a:gs>
              <a:gs pos="100000">
                <a:srgbClr val="0B2E5C"/>
              </a:gs>
            </a:gsLst>
            <a:lin ang="5400000" scaled="0"/>
          </a:gradFill>
          <a:ln/>
        </p:spPr>
      </p:sp>
      <p:sp>
        <p:nvSpPr>
          <p:cNvPr id="4" name="Text 1"/>
          <p:cNvSpPr/>
          <p:nvPr/>
        </p:nvSpPr>
        <p:spPr>
          <a:xfrm>
            <a:off x="9448800" y="609600"/>
            <a:ext cx="1969008"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TRAINING REVIEW</a:t>
            </a:r>
            <a:endParaRPr lang="en-US" sz="1200" dirty="0"/>
          </a:p>
        </p:txBody>
      </p:sp>
      <p:sp>
        <p:nvSpPr>
          <p:cNvPr id="5" name="Shape 2"/>
          <p:cNvSpPr/>
          <p:nvPr/>
        </p:nvSpPr>
        <p:spPr>
          <a:xfrm>
            <a:off x="9448800" y="2727960"/>
            <a:ext cx="609600" cy="50800"/>
          </a:xfrm>
          <a:prstGeom prst="rect">
            <a:avLst/>
          </a:prstGeom>
          <a:solidFill>
            <a:srgbClr val="F2B14A"/>
          </a:solidFill>
          <a:ln/>
        </p:spPr>
      </p:sp>
      <p:sp>
        <p:nvSpPr>
          <p:cNvPr id="6" name="Text 3"/>
          <p:cNvSpPr/>
          <p:nvPr/>
        </p:nvSpPr>
        <p:spPr>
          <a:xfrm>
            <a:off x="9448800" y="2880360"/>
            <a:ext cx="170878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[Your name]</a:t>
            </a:r>
            <a:endParaRPr lang="en-US" sz="2000" dirty="0"/>
          </a:p>
        </p:txBody>
      </p:sp>
      <p:sp>
        <p:nvSpPr>
          <p:cNvPr id="7" name="Text 4"/>
          <p:cNvSpPr/>
          <p:nvPr/>
        </p:nvSpPr>
        <p:spPr>
          <a:xfrm>
            <a:off x="9448800" y="3286760"/>
            <a:ext cx="1474788"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6EAFA"/>
                </a:solidFill>
                <a:latin typeface="IBM Plex Sans" pitchFamily="34" charset="0"/>
                <a:ea typeface="IBM Plex Sans" pitchFamily="34" charset="-122"/>
                <a:cs typeface="IBM Plex Sans" pitchFamily="34" charset="-120"/>
              </a:rPr>
              <a:t>[Designation]</a:t>
            </a:r>
            <a:endParaRPr lang="en-US" sz="1600" dirty="0"/>
          </a:p>
        </p:txBody>
      </p:sp>
      <p:sp>
        <p:nvSpPr>
          <p:cNvPr id="8" name="Text 5"/>
          <p:cNvSpPr/>
          <p:nvPr/>
        </p:nvSpPr>
        <p:spPr>
          <a:xfrm>
            <a:off x="9448800" y="3652520"/>
            <a:ext cx="1474788"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6EAFA"/>
                </a:solidFill>
                <a:latin typeface="IBM Plex Sans" pitchFamily="34" charset="0"/>
                <a:ea typeface="IBM Plex Sans" pitchFamily="34" charset="-122"/>
                <a:cs typeface="IBM Plex Sans" pitchFamily="34" charset="-120"/>
              </a:rPr>
              <a:t>[Date]</a:t>
            </a:r>
            <a:endParaRPr lang="en-US" sz="1600" dirty="0"/>
          </a:p>
        </p:txBody>
      </p:sp>
      <p:sp>
        <p:nvSpPr>
          <p:cNvPr id="9" name="Text 6"/>
          <p:cNvSpPr/>
          <p:nvPr/>
        </p:nvSpPr>
        <p:spPr>
          <a:xfrm>
            <a:off x="9448800" y="5821680"/>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Information Systems, Bangalore Complex</a:t>
            </a:r>
            <a:endParaRPr lang="en-US" sz="1200" dirty="0"/>
          </a:p>
        </p:txBody>
      </p:sp>
      <p:pic>
        <p:nvPicPr>
          <p:cNvPr id="10" name="Image 1" descr="Bharat Electronics logo">    </p:cNvPr>
          <p:cNvPicPr>
            <a:picLocks noChangeAspect="1"/>
          </p:cNvPicPr>
          <p:nvPr/>
        </p:nvPicPr>
        <p:blipFill>
          <a:blip r:embed="rId2"/>
          <a:srcRect l="0" r="0" t="-37" b="-37"/>
          <a:stretch/>
        </p:blipFill>
        <p:spPr>
          <a:xfrm>
            <a:off x="3460750" y="381000"/>
            <a:ext cx="2228850" cy="660400"/>
          </a:xfrm>
          <a:prstGeom prst="rect">
            <a:avLst/>
          </a:prstGeom>
        </p:spPr>
      </p:pic>
      <p:sp>
        <p:nvSpPr>
          <p:cNvPr id="11" name="Text 7"/>
          <p:cNvSpPr/>
          <p:nvPr>
            <p:ph type="title"/>
          </p:nvPr>
        </p:nvSpPr>
        <p:spPr>
          <a:xfrm>
            <a:off x="1904913" y="5245100"/>
            <a:ext cx="5334095" cy="492760"/>
          </a:xfrm>
          <a:prstGeom prst="rect">
            <a:avLst/>
          </a:prstGeom>
          <a:noFill/>
          <a:ln/>
        </p:spPr>
        <p:txBody>
          <a:bodyPr wrap="square" lIns="0" tIns="0" rIns="0" bIns="0" rtlCol="0" anchor="t">
            <a:normAutofit/>
          </a:bodyPr>
          <a:lstStyle/>
          <a:p>
            <a:pPr algn="ctr"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What I Learned at ISBG</a:t>
            </a:r>
            <a:endParaRPr lang="en-US" sz="3200" dirty="0"/>
          </a:p>
        </p:txBody>
      </p:sp>
      <p:sp>
        <p:nvSpPr>
          <p:cNvPr id="12" name="Text 8"/>
          <p:cNvSpPr/>
          <p:nvPr/>
        </p:nvSpPr>
        <p:spPr>
          <a:xfrm>
            <a:off x="1442180" y="5788660"/>
            <a:ext cx="6259640"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0B4A8F"/>
                </a:solidFill>
                <a:latin typeface="IBM Plex Sans" pitchFamily="34" charset="0"/>
                <a:ea typeface="IBM Plex Sans" pitchFamily="34" charset="-122"/>
                <a:cs typeface="IBM Plex Sans" pitchFamily="34" charset="-120"/>
              </a:rPr>
              <a:t>Information Systems Bangalore · PC Maintenance (PCM)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About ISBG</a:t>
            </a:r>
            <a:endParaRPr lang="en-US" sz="3200" dirty="0"/>
          </a:p>
        </p:txBody>
      </p:sp>
      <p:sp>
        <p:nvSpPr>
          <p:cNvPr id="7" name="Text 3"/>
          <p:cNvSpPr/>
          <p:nvPr/>
        </p:nvSpPr>
        <p:spPr>
          <a:xfrm>
            <a:off x="812800" y="199136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ISO/IEC 27001:2013 certified · my posting is highlighted</a:t>
            </a:r>
            <a:endParaRPr lang="en-US" sz="1600" dirty="0"/>
          </a:p>
        </p:txBody>
      </p:sp>
      <p:sp>
        <p:nvSpPr>
          <p:cNvPr id="8" name="Shape 4"/>
          <p:cNvSpPr/>
          <p:nvPr/>
        </p:nvSpPr>
        <p:spPr>
          <a:xfrm>
            <a:off x="815975" y="2533015"/>
            <a:ext cx="3380264" cy="1233170"/>
          </a:xfrm>
          <a:prstGeom prst="roundRect">
            <a:avLst>
              <a:gd name="adj" fmla="val 7981"/>
            </a:avLst>
          </a:prstGeom>
          <a:solidFill>
            <a:srgbClr val="0B5FB0"/>
          </a:solidFill>
          <a:ln w="6350">
            <a:solidFill>
              <a:srgbClr val="0B5FB0"/>
            </a:solidFill>
            <a:prstDash val="solid"/>
          </a:ln>
        </p:spPr>
      </p:sp>
      <p:pic>
        <p:nvPicPr>
          <p:cNvPr id="9" name="Image 2" descr="Tool">    </p:cNvPr>
          <p:cNvPicPr>
            <a:picLocks noChangeAspect="1"/>
          </p:cNvPicPr>
          <p:nvPr/>
        </p:nvPicPr>
        <p:blipFill>
          <a:blip r:embed="rId3"/>
          <a:srcRect l="0" r="0" t="0" b="0"/>
          <a:stretch/>
        </p:blipFill>
        <p:spPr>
          <a:xfrm>
            <a:off x="1071880" y="2971800"/>
            <a:ext cx="355600" cy="355600"/>
          </a:xfrm>
          <a:prstGeom prst="rect">
            <a:avLst/>
          </a:prstGeom>
        </p:spPr>
      </p:pic>
      <p:sp>
        <p:nvSpPr>
          <p:cNvPr id="10" name="Text 5"/>
          <p:cNvSpPr/>
          <p:nvPr/>
        </p:nvSpPr>
        <p:spPr>
          <a:xfrm>
            <a:off x="1579880" y="289560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PC Maintenance</a:t>
            </a:r>
            <a:endParaRPr lang="en-US" sz="1600" dirty="0"/>
          </a:p>
        </p:txBody>
      </p:sp>
      <p:sp>
        <p:nvSpPr>
          <p:cNvPr id="11" name="Text 6"/>
          <p:cNvSpPr/>
          <p:nvPr/>
        </p:nvSpPr>
        <p:spPr>
          <a:xfrm>
            <a:off x="1579880" y="319024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Hardware and software support</a:t>
            </a:r>
            <a:endParaRPr lang="en-US" sz="1200" dirty="0"/>
          </a:p>
        </p:txBody>
      </p:sp>
      <p:sp>
        <p:nvSpPr>
          <p:cNvPr id="12" name="Shape 7"/>
          <p:cNvSpPr/>
          <p:nvPr/>
        </p:nvSpPr>
        <p:spPr>
          <a:xfrm>
            <a:off x="4405789" y="2533015"/>
            <a:ext cx="3380343" cy="1233170"/>
          </a:xfrm>
          <a:prstGeom prst="roundRect">
            <a:avLst>
              <a:gd name="adj" fmla="val 7981"/>
            </a:avLst>
          </a:prstGeom>
          <a:solidFill>
            <a:srgbClr val="F7FBFE"/>
          </a:solidFill>
          <a:ln w="6350">
            <a:solidFill>
              <a:srgbClr val="B9D9F0"/>
            </a:solidFill>
            <a:prstDash val="solid"/>
          </a:ln>
        </p:spPr>
      </p:sp>
      <p:pic>
        <p:nvPicPr>
          <p:cNvPr id="13" name="Image 3" descr="Globe">    </p:cNvPr>
          <p:cNvPicPr>
            <a:picLocks noChangeAspect="1"/>
          </p:cNvPicPr>
          <p:nvPr/>
        </p:nvPicPr>
        <p:blipFill>
          <a:blip r:embed="rId4"/>
          <a:srcRect l="0" r="0" t="0" b="0"/>
          <a:stretch/>
        </p:blipFill>
        <p:spPr>
          <a:xfrm>
            <a:off x="4661694" y="2971800"/>
            <a:ext cx="355600" cy="355600"/>
          </a:xfrm>
          <a:prstGeom prst="rect">
            <a:avLst/>
          </a:prstGeom>
        </p:spPr>
      </p:pic>
      <p:sp>
        <p:nvSpPr>
          <p:cNvPr id="14" name="Text 8"/>
          <p:cNvSpPr/>
          <p:nvPr/>
        </p:nvSpPr>
        <p:spPr>
          <a:xfrm>
            <a:off x="5169694" y="289560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Maintenance</a:t>
            </a:r>
            <a:endParaRPr lang="en-US" sz="1600" dirty="0"/>
          </a:p>
        </p:txBody>
      </p:sp>
      <p:sp>
        <p:nvSpPr>
          <p:cNvPr id="15" name="Text 9"/>
          <p:cNvSpPr/>
          <p:nvPr/>
        </p:nvSpPr>
        <p:spPr>
          <a:xfrm>
            <a:off x="5169694" y="319024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Internet and intranet upkeep</a:t>
            </a:r>
            <a:endParaRPr lang="en-US" sz="1200" dirty="0"/>
          </a:p>
        </p:txBody>
      </p:sp>
      <p:sp>
        <p:nvSpPr>
          <p:cNvPr id="16" name="Shape 10"/>
          <p:cNvSpPr/>
          <p:nvPr/>
        </p:nvSpPr>
        <p:spPr>
          <a:xfrm>
            <a:off x="7995682" y="2533015"/>
            <a:ext cx="3380343" cy="1233170"/>
          </a:xfrm>
          <a:prstGeom prst="roundRect">
            <a:avLst>
              <a:gd name="adj" fmla="val 7981"/>
            </a:avLst>
          </a:prstGeom>
          <a:solidFill>
            <a:srgbClr val="F7FBFE"/>
          </a:solidFill>
          <a:ln w="6350">
            <a:solidFill>
              <a:srgbClr val="B9D9F0"/>
            </a:solidFill>
            <a:prstDash val="solid"/>
          </a:ln>
        </p:spPr>
      </p:sp>
      <p:pic>
        <p:nvPicPr>
          <p:cNvPr id="17" name="Image 4" descr="Users">    </p:cNvPr>
          <p:cNvPicPr>
            <a:picLocks noChangeAspect="1"/>
          </p:cNvPicPr>
          <p:nvPr/>
        </p:nvPicPr>
        <p:blipFill>
          <a:blip r:embed="rId5"/>
          <a:srcRect l="0" r="0" t="0" b="0"/>
          <a:stretch/>
        </p:blipFill>
        <p:spPr>
          <a:xfrm>
            <a:off x="8251587" y="2971800"/>
            <a:ext cx="355600" cy="355600"/>
          </a:xfrm>
          <a:prstGeom prst="rect">
            <a:avLst/>
          </a:prstGeom>
        </p:spPr>
      </p:pic>
      <p:sp>
        <p:nvSpPr>
          <p:cNvPr id="18" name="Text 11"/>
          <p:cNvSpPr/>
          <p:nvPr/>
        </p:nvSpPr>
        <p:spPr>
          <a:xfrm>
            <a:off x="8759587" y="278892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Payroll and Attendance</a:t>
            </a:r>
            <a:endParaRPr lang="en-US" sz="1600" dirty="0"/>
          </a:p>
        </p:txBody>
      </p:sp>
      <p:sp>
        <p:nvSpPr>
          <p:cNvPr id="19" name="Text 12"/>
          <p:cNvSpPr/>
          <p:nvPr/>
        </p:nvSpPr>
        <p:spPr>
          <a:xfrm>
            <a:off x="8759587" y="3083560"/>
            <a:ext cx="24313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Permanent, temporary and contract staff</a:t>
            </a:r>
            <a:endParaRPr lang="en-US" sz="1200" dirty="0"/>
          </a:p>
        </p:txBody>
      </p:sp>
      <p:sp>
        <p:nvSpPr>
          <p:cNvPr id="20" name="Shape 13"/>
          <p:cNvSpPr/>
          <p:nvPr/>
        </p:nvSpPr>
        <p:spPr>
          <a:xfrm>
            <a:off x="815975" y="3975735"/>
            <a:ext cx="3380264" cy="1263650"/>
          </a:xfrm>
          <a:prstGeom prst="roundRect">
            <a:avLst>
              <a:gd name="adj" fmla="val 7789"/>
            </a:avLst>
          </a:prstGeom>
          <a:solidFill>
            <a:srgbClr val="F7FBFE"/>
          </a:solidFill>
          <a:ln w="6350">
            <a:solidFill>
              <a:srgbClr val="B9D9F0"/>
            </a:solidFill>
            <a:prstDash val="solid"/>
          </a:ln>
        </p:spPr>
      </p:sp>
      <p:pic>
        <p:nvPicPr>
          <p:cNvPr id="21" name="Image 5" descr="Code">    </p:cNvPr>
          <p:cNvPicPr>
            <a:picLocks noChangeAspect="1"/>
          </p:cNvPicPr>
          <p:nvPr/>
        </p:nvPicPr>
        <p:blipFill>
          <a:blip r:embed="rId6"/>
          <a:srcRect l="0" r="0" t="0" b="0"/>
          <a:stretch/>
        </p:blipFill>
        <p:spPr>
          <a:xfrm>
            <a:off x="1071880" y="4429760"/>
            <a:ext cx="355600" cy="355600"/>
          </a:xfrm>
          <a:prstGeom prst="rect">
            <a:avLst/>
          </a:prstGeom>
        </p:spPr>
      </p:pic>
      <p:sp>
        <p:nvSpPr>
          <p:cNvPr id="22" name="Text 14"/>
          <p:cNvSpPr/>
          <p:nvPr/>
        </p:nvSpPr>
        <p:spPr>
          <a:xfrm>
            <a:off x="1579880" y="435356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Web Support</a:t>
            </a:r>
            <a:endParaRPr lang="en-US" sz="1600" dirty="0"/>
          </a:p>
        </p:txBody>
      </p:sp>
      <p:sp>
        <p:nvSpPr>
          <p:cNvPr id="23" name="Text 15"/>
          <p:cNvSpPr/>
          <p:nvPr/>
        </p:nvSpPr>
        <p:spPr>
          <a:xfrm>
            <a:off x="1579880" y="464820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Intranet applications</a:t>
            </a:r>
            <a:endParaRPr lang="en-US" sz="1200" dirty="0"/>
          </a:p>
        </p:txBody>
      </p:sp>
      <p:sp>
        <p:nvSpPr>
          <p:cNvPr id="24" name="Shape 16"/>
          <p:cNvSpPr/>
          <p:nvPr/>
        </p:nvSpPr>
        <p:spPr>
          <a:xfrm>
            <a:off x="4405789" y="3975735"/>
            <a:ext cx="3380343" cy="1263650"/>
          </a:xfrm>
          <a:prstGeom prst="roundRect">
            <a:avLst>
              <a:gd name="adj" fmla="val 7789"/>
            </a:avLst>
          </a:prstGeom>
          <a:solidFill>
            <a:srgbClr val="F7FBFE"/>
          </a:solidFill>
          <a:ln w="6350">
            <a:solidFill>
              <a:srgbClr val="B9D9F0"/>
            </a:solidFill>
            <a:prstDash val="solid"/>
          </a:ln>
        </p:spPr>
      </p:sp>
      <p:pic>
        <p:nvPicPr>
          <p:cNvPr id="25" name="Image 6" descr="Verified">    </p:cNvPr>
          <p:cNvPicPr>
            <a:picLocks noChangeAspect="1"/>
          </p:cNvPicPr>
          <p:nvPr/>
        </p:nvPicPr>
        <p:blipFill>
          <a:blip r:embed="rId7"/>
          <a:srcRect l="0" r="0" t="0" b="0"/>
          <a:stretch/>
        </p:blipFill>
        <p:spPr>
          <a:xfrm>
            <a:off x="4661694" y="4429760"/>
            <a:ext cx="355600" cy="355600"/>
          </a:xfrm>
          <a:prstGeom prst="rect">
            <a:avLst/>
          </a:prstGeom>
        </p:spPr>
      </p:pic>
      <p:sp>
        <p:nvSpPr>
          <p:cNvPr id="26" name="Text 17"/>
          <p:cNvSpPr/>
          <p:nvPr/>
        </p:nvSpPr>
        <p:spPr>
          <a:xfrm>
            <a:off x="5169694" y="4231640"/>
            <a:ext cx="2431349"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Face Recognition Attendance</a:t>
            </a:r>
            <a:endParaRPr lang="en-US" sz="1600" dirty="0"/>
          </a:p>
        </p:txBody>
      </p:sp>
      <p:sp>
        <p:nvSpPr>
          <p:cNvPr id="27" name="Text 18"/>
          <p:cNvSpPr/>
          <p:nvPr/>
        </p:nvSpPr>
        <p:spPr>
          <a:xfrm>
            <a:off x="5169694" y="477012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Flap barriers and biometrics</a:t>
            </a:r>
            <a:endParaRPr lang="en-US" sz="1200" dirty="0"/>
          </a:p>
        </p:txBody>
      </p:sp>
      <p:sp>
        <p:nvSpPr>
          <p:cNvPr id="28" name="Shape 19"/>
          <p:cNvSpPr/>
          <p:nvPr/>
        </p:nvSpPr>
        <p:spPr>
          <a:xfrm>
            <a:off x="7995682" y="3975735"/>
            <a:ext cx="3380343" cy="1263650"/>
          </a:xfrm>
          <a:prstGeom prst="roundRect">
            <a:avLst>
              <a:gd name="adj" fmla="val 7789"/>
            </a:avLst>
          </a:prstGeom>
          <a:solidFill>
            <a:srgbClr val="F7FBFE"/>
          </a:solidFill>
          <a:ln w="6350">
            <a:solidFill>
              <a:srgbClr val="B9D9F0"/>
            </a:solidFill>
            <a:prstDash val="solid"/>
          </a:ln>
        </p:spPr>
      </p:sp>
      <p:pic>
        <p:nvPicPr>
          <p:cNvPr id="29" name="Image 7" descr="Database">    </p:cNvPr>
          <p:cNvPicPr>
            <a:picLocks noChangeAspect="1"/>
          </p:cNvPicPr>
          <p:nvPr/>
        </p:nvPicPr>
        <p:blipFill>
          <a:blip r:embed="rId8"/>
          <a:srcRect l="0" r="0" t="0" b="0"/>
          <a:stretch/>
        </p:blipFill>
        <p:spPr>
          <a:xfrm>
            <a:off x="8251587" y="4429760"/>
            <a:ext cx="355600" cy="355600"/>
          </a:xfrm>
          <a:prstGeom prst="rect">
            <a:avLst/>
          </a:prstGeom>
        </p:spPr>
      </p:pic>
      <p:sp>
        <p:nvSpPr>
          <p:cNvPr id="30" name="Text 20"/>
          <p:cNvSpPr/>
          <p:nvPr/>
        </p:nvSpPr>
        <p:spPr>
          <a:xfrm>
            <a:off x="8759587" y="435356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SAP / ERP Support</a:t>
            </a:r>
            <a:endParaRPr lang="en-US" sz="1600" dirty="0"/>
          </a:p>
        </p:txBody>
      </p:sp>
      <p:sp>
        <p:nvSpPr>
          <p:cNvPr id="31" name="Text 21"/>
          <p:cNvSpPr/>
          <p:nvPr/>
        </p:nvSpPr>
        <p:spPr>
          <a:xfrm>
            <a:off x="8759587" y="4648200"/>
            <a:ext cx="26132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Help for end users at the complex</a:t>
            </a:r>
            <a:endParaRPr lang="en-US" sz="1200" dirty="0"/>
          </a:p>
        </p:txBody>
      </p:sp>
      <p:sp>
        <p:nvSpPr>
          <p:cNvPr id="32" name="Text 22"/>
          <p:cNvSpPr/>
          <p:nvPr/>
        </p:nvSpPr>
        <p:spPr>
          <a:xfrm>
            <a:off x="812800" y="63398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3" name="Text 23"/>
          <p:cNvSpPr/>
          <p:nvPr/>
        </p:nvSpPr>
        <p:spPr>
          <a:xfrm>
            <a:off x="100584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Information security at ISBG</a:t>
            </a:r>
            <a:endParaRPr lang="en-US" sz="3200" dirty="0"/>
          </a:p>
        </p:txBody>
      </p:sp>
      <p:sp>
        <p:nvSpPr>
          <p:cNvPr id="7" name="Shape 3"/>
          <p:cNvSpPr/>
          <p:nvPr/>
        </p:nvSpPr>
        <p:spPr>
          <a:xfrm>
            <a:off x="815975" y="2045336"/>
            <a:ext cx="3380264" cy="2249170"/>
          </a:xfrm>
          <a:prstGeom prst="roundRect">
            <a:avLst>
              <a:gd name="adj" fmla="val 4376"/>
            </a:avLst>
          </a:prstGeom>
          <a:solidFill>
            <a:srgbClr val="F7FBFE"/>
          </a:solidFill>
          <a:ln w="6350">
            <a:solidFill>
              <a:srgbClr val="B9D9F0"/>
            </a:solidFill>
            <a:prstDash val="solid"/>
          </a:ln>
        </p:spPr>
      </p:sp>
      <p:pic>
        <p:nvPicPr>
          <p:cNvPr id="8" name="Image 2" descr="Verified">    </p:cNvPr>
          <p:cNvPicPr>
            <a:picLocks noChangeAspect="1"/>
          </p:cNvPicPr>
          <p:nvPr/>
        </p:nvPicPr>
        <p:blipFill>
          <a:blip r:embed="rId3"/>
          <a:srcRect l="0" r="0" t="0" b="0"/>
          <a:stretch/>
        </p:blipFill>
        <p:spPr>
          <a:xfrm>
            <a:off x="1071880" y="2301241"/>
            <a:ext cx="355600" cy="355600"/>
          </a:xfrm>
          <a:prstGeom prst="rect">
            <a:avLst/>
          </a:prstGeom>
        </p:spPr>
      </p:pic>
      <p:sp>
        <p:nvSpPr>
          <p:cNvPr id="9" name="Text 4"/>
          <p:cNvSpPr/>
          <p:nvPr/>
        </p:nvSpPr>
        <p:spPr>
          <a:xfrm>
            <a:off x="1071880" y="2758441"/>
            <a:ext cx="2954507"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ISO 27001:2013 certified</a:t>
            </a:r>
            <a:endParaRPr lang="en-US" sz="2000" dirty="0"/>
          </a:p>
        </p:txBody>
      </p:sp>
      <p:sp>
        <p:nvSpPr>
          <p:cNvPr id="10" name="Text 5"/>
          <p:cNvSpPr/>
          <p:nvPr/>
        </p:nvSpPr>
        <p:spPr>
          <a:xfrm>
            <a:off x="1071880" y="3469641"/>
            <a:ext cx="295450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First certified on 30.06.2014 and renewed in 3-year cycles</a:t>
            </a:r>
            <a:endParaRPr lang="en-US" sz="1600" dirty="0"/>
          </a:p>
        </p:txBody>
      </p:sp>
      <p:sp>
        <p:nvSpPr>
          <p:cNvPr id="11" name="Shape 6"/>
          <p:cNvSpPr/>
          <p:nvPr/>
        </p:nvSpPr>
        <p:spPr>
          <a:xfrm>
            <a:off x="4405789" y="2045336"/>
            <a:ext cx="3380343" cy="2249170"/>
          </a:xfrm>
          <a:prstGeom prst="roundRect">
            <a:avLst>
              <a:gd name="adj" fmla="val 4376"/>
            </a:avLst>
          </a:prstGeom>
          <a:solidFill>
            <a:srgbClr val="F7FBFE"/>
          </a:solidFill>
          <a:ln w="6350">
            <a:solidFill>
              <a:srgbClr val="B9D9F0"/>
            </a:solidFill>
            <a:prstDash val="solid"/>
          </a:ln>
        </p:spPr>
      </p:sp>
      <p:pic>
        <p:nvPicPr>
          <p:cNvPr id="12" name="Image 3" descr="Lock">    </p:cNvPr>
          <p:cNvPicPr>
            <a:picLocks noChangeAspect="1"/>
          </p:cNvPicPr>
          <p:nvPr/>
        </p:nvPicPr>
        <p:blipFill>
          <a:blip r:embed="rId4"/>
          <a:srcRect l="0" r="0" t="0" b="0"/>
          <a:stretch/>
        </p:blipFill>
        <p:spPr>
          <a:xfrm>
            <a:off x="4661694" y="2301241"/>
            <a:ext cx="355600" cy="355600"/>
          </a:xfrm>
          <a:prstGeom prst="rect">
            <a:avLst/>
          </a:prstGeom>
        </p:spPr>
      </p:pic>
      <p:sp>
        <p:nvSpPr>
          <p:cNvPr id="13" name="Text 7"/>
          <p:cNvSpPr/>
          <p:nvPr/>
        </p:nvSpPr>
        <p:spPr>
          <a:xfrm>
            <a:off x="4661694" y="275844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Protects information</a:t>
            </a:r>
            <a:endParaRPr lang="en-US" sz="2000" dirty="0"/>
          </a:p>
        </p:txBody>
      </p:sp>
      <p:sp>
        <p:nvSpPr>
          <p:cNvPr id="14" name="Text 8"/>
          <p:cNvSpPr/>
          <p:nvPr/>
        </p:nvSpPr>
        <p:spPr>
          <a:xfrm>
            <a:off x="4661694" y="3164841"/>
            <a:ext cx="29545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Confidentiality, integrity and availability</a:t>
            </a:r>
            <a:endParaRPr lang="en-US" sz="1600" dirty="0"/>
          </a:p>
        </p:txBody>
      </p:sp>
      <p:sp>
        <p:nvSpPr>
          <p:cNvPr id="15" name="Shape 9"/>
          <p:cNvSpPr/>
          <p:nvPr/>
        </p:nvSpPr>
        <p:spPr>
          <a:xfrm>
            <a:off x="7995682" y="2045336"/>
            <a:ext cx="3380343" cy="2249170"/>
          </a:xfrm>
          <a:prstGeom prst="roundRect">
            <a:avLst>
              <a:gd name="adj" fmla="val 4376"/>
            </a:avLst>
          </a:prstGeom>
          <a:solidFill>
            <a:srgbClr val="F7FBFE"/>
          </a:solidFill>
          <a:ln w="6350">
            <a:solidFill>
              <a:srgbClr val="B9D9F0"/>
            </a:solidFill>
            <a:prstDash val="solid"/>
          </a:ln>
        </p:spPr>
      </p:sp>
      <p:pic>
        <p:nvPicPr>
          <p:cNvPr id="16" name="Image 4" descr="Users">    </p:cNvPr>
          <p:cNvPicPr>
            <a:picLocks noChangeAspect="1"/>
          </p:cNvPicPr>
          <p:nvPr/>
        </p:nvPicPr>
        <p:blipFill>
          <a:blip r:embed="rId5"/>
          <a:srcRect l="0" r="0" t="0" b="0"/>
          <a:stretch/>
        </p:blipFill>
        <p:spPr>
          <a:xfrm>
            <a:off x="8251587" y="2301241"/>
            <a:ext cx="355600" cy="355600"/>
          </a:xfrm>
          <a:prstGeom prst="rect">
            <a:avLst/>
          </a:prstGeom>
        </p:spPr>
      </p:pic>
      <p:sp>
        <p:nvSpPr>
          <p:cNvPr id="17" name="Text 10"/>
          <p:cNvSpPr/>
          <p:nvPr/>
        </p:nvSpPr>
        <p:spPr>
          <a:xfrm>
            <a:off x="8251587" y="275844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Serves every SBU</a:t>
            </a:r>
            <a:endParaRPr lang="en-US" sz="2000" dirty="0"/>
          </a:p>
        </p:txBody>
      </p:sp>
      <p:sp>
        <p:nvSpPr>
          <p:cNvPr id="18" name="Text 11"/>
          <p:cNvSpPr/>
          <p:nvPr/>
        </p:nvSpPr>
        <p:spPr>
          <a:xfrm>
            <a:off x="8251587" y="3164841"/>
            <a:ext cx="295458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ERP support, IT assets and network for the Bangalore Complex</a:t>
            </a:r>
            <a:endParaRPr lang="en-US" sz="1600" dirty="0"/>
          </a:p>
        </p:txBody>
      </p:sp>
      <p:sp>
        <p:nvSpPr>
          <p:cNvPr id="19" name="Shape 12"/>
          <p:cNvSpPr/>
          <p:nvPr/>
        </p:nvSpPr>
        <p:spPr>
          <a:xfrm>
            <a:off x="812800" y="4602480"/>
            <a:ext cx="10566400" cy="975360"/>
          </a:xfrm>
          <a:prstGeom prst="roundRect">
            <a:avLst>
              <a:gd name="adj" fmla="val 10417"/>
            </a:avLst>
          </a:prstGeom>
          <a:solidFill>
            <a:srgbClr val="CFE6F7"/>
          </a:solidFill>
          <a:ln/>
        </p:spPr>
      </p:sp>
      <p:pic>
        <p:nvPicPr>
          <p:cNvPr id="20" name="Image 5" descr="Globe">    </p:cNvPr>
          <p:cNvPicPr>
            <a:picLocks noChangeAspect="1"/>
          </p:cNvPicPr>
          <p:nvPr/>
        </p:nvPicPr>
        <p:blipFill>
          <a:blip r:embed="rId6"/>
          <a:srcRect l="0" r="0" t="0" b="0"/>
          <a:stretch/>
        </p:blipFill>
        <p:spPr>
          <a:xfrm>
            <a:off x="1066800" y="4912361"/>
            <a:ext cx="355600" cy="355600"/>
          </a:xfrm>
          <a:prstGeom prst="rect">
            <a:avLst/>
          </a:prstGeom>
        </p:spPr>
      </p:pic>
      <p:sp>
        <p:nvSpPr>
          <p:cNvPr id="21" name="Text 13"/>
          <p:cNvSpPr/>
          <p:nvPr/>
        </p:nvSpPr>
        <p:spPr>
          <a:xfrm>
            <a:off x="1574800" y="4805680"/>
            <a:ext cx="983691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Air-gapped networks: ERP, internal mail and IP telephony run on the intranet; external mail and browsing use a separate internet network.</a:t>
            </a:r>
            <a:endParaRPr lang="en-US" sz="1600" dirty="0"/>
          </a:p>
        </p:txBody>
      </p:sp>
      <p:sp>
        <p:nvSpPr>
          <p:cNvPr id="22" name="Text 14"/>
          <p:cNvSpPr/>
          <p:nvPr/>
        </p:nvSpPr>
        <p:spPr>
          <a:xfrm>
            <a:off x="812800" y="63398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3" name="Text 15"/>
          <p:cNvSpPr/>
          <p:nvPr/>
        </p:nvSpPr>
        <p:spPr>
          <a:xfrm>
            <a:off x="100584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Vision, Mission and Values</a:t>
            </a:r>
            <a:endParaRPr lang="en-US" sz="3200" dirty="0"/>
          </a:p>
        </p:txBody>
      </p:sp>
      <p:sp>
        <p:nvSpPr>
          <p:cNvPr id="7" name="Shape 3"/>
          <p:cNvSpPr/>
          <p:nvPr/>
        </p:nvSpPr>
        <p:spPr>
          <a:xfrm>
            <a:off x="812800" y="2042161"/>
            <a:ext cx="6110208" cy="2941320"/>
          </a:xfrm>
          <a:prstGeom prst="roundRect">
            <a:avLst>
              <a:gd name="adj" fmla="val 3454"/>
            </a:avLst>
          </a:prstGeom>
          <a:solidFill>
            <a:srgbClr val="0B2E5C"/>
          </a:solidFill>
          <a:ln/>
        </p:spPr>
      </p:sp>
      <p:sp>
        <p:nvSpPr>
          <p:cNvPr id="8" name="Text 4"/>
          <p:cNvSpPr/>
          <p:nvPr/>
        </p:nvSpPr>
        <p:spPr>
          <a:xfrm>
            <a:off x="1066800" y="2296161"/>
            <a:ext cx="5770274"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VISION</a:t>
            </a:r>
            <a:endParaRPr lang="en-US" sz="1200" dirty="0"/>
          </a:p>
        </p:txBody>
      </p:sp>
      <p:sp>
        <p:nvSpPr>
          <p:cNvPr id="9" name="Text 5"/>
          <p:cNvSpPr/>
          <p:nvPr/>
        </p:nvSpPr>
        <p:spPr>
          <a:xfrm>
            <a:off x="1066800" y="2585720"/>
            <a:ext cx="5770274"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7FBFE"/>
                </a:solidFill>
                <a:latin typeface="IBM Plex Sans" pitchFamily="34" charset="0"/>
                <a:ea typeface="IBM Plex Sans" pitchFamily="34" charset="-122"/>
                <a:cs typeface="IBM Plex Sans" pitchFamily="34" charset="-120"/>
              </a:rPr>
              <a:t>Be the leader in IT infrastructure support and maintenance for internal customers, through dedicated service, self-discipline and teamwork.</a:t>
            </a:r>
            <a:endParaRPr lang="en-US" sz="2000" dirty="0"/>
          </a:p>
        </p:txBody>
      </p:sp>
      <p:sp>
        <p:nvSpPr>
          <p:cNvPr id="10" name="Text 6"/>
          <p:cNvSpPr/>
          <p:nvPr/>
        </p:nvSpPr>
        <p:spPr>
          <a:xfrm>
            <a:off x="1066800" y="3779520"/>
            <a:ext cx="5770274"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MISSION</a:t>
            </a:r>
            <a:endParaRPr lang="en-US" sz="1200" dirty="0"/>
          </a:p>
        </p:txBody>
      </p:sp>
      <p:sp>
        <p:nvSpPr>
          <p:cNvPr id="11" name="Text 7"/>
          <p:cNvSpPr/>
          <p:nvPr/>
        </p:nvSpPr>
        <p:spPr>
          <a:xfrm>
            <a:off x="1066800" y="4069080"/>
            <a:ext cx="5770274"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7FBFE"/>
                </a:solidFill>
                <a:latin typeface="IBM Plex Sans" pitchFamily="34" charset="0"/>
                <a:ea typeface="IBM Plex Sans" pitchFamily="34" charset="-122"/>
                <a:cs typeface="IBM Plex Sans" pitchFamily="34" charset="-120"/>
              </a:rPr>
              <a:t>Be customer focused and deliver excellent IT infrastructure support for customer delight.</a:t>
            </a:r>
            <a:endParaRPr lang="en-US" sz="2000" dirty="0"/>
          </a:p>
        </p:txBody>
      </p:sp>
      <p:sp>
        <p:nvSpPr>
          <p:cNvPr id="12" name="Shape 8"/>
          <p:cNvSpPr/>
          <p:nvPr/>
        </p:nvSpPr>
        <p:spPr>
          <a:xfrm>
            <a:off x="7129383" y="2045336"/>
            <a:ext cx="4246642" cy="2934970"/>
          </a:xfrm>
          <a:prstGeom prst="roundRect">
            <a:avLst>
              <a:gd name="adj" fmla="val 3354"/>
            </a:avLst>
          </a:prstGeom>
          <a:solidFill>
            <a:srgbClr val="F7FBFE"/>
          </a:solidFill>
          <a:ln w="6350">
            <a:solidFill>
              <a:srgbClr val="B9D9F0"/>
            </a:solidFill>
            <a:prstDash val="solid"/>
          </a:ln>
        </p:spPr>
      </p:sp>
      <p:sp>
        <p:nvSpPr>
          <p:cNvPr id="13" name="Text 9"/>
          <p:cNvSpPr/>
          <p:nvPr/>
        </p:nvSpPr>
        <p:spPr>
          <a:xfrm>
            <a:off x="7385288" y="2301241"/>
            <a:ext cx="3846877"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VALUES</a:t>
            </a:r>
            <a:endParaRPr lang="en-US" sz="1200" dirty="0"/>
          </a:p>
        </p:txBody>
      </p:sp>
      <p:sp>
        <p:nvSpPr>
          <p:cNvPr id="14" name="Text 10"/>
          <p:cNvSpPr/>
          <p:nvPr/>
        </p:nvSpPr>
        <p:spPr>
          <a:xfrm>
            <a:off x="7442946" y="2590800"/>
            <a:ext cx="3781599" cy="1976120"/>
          </a:xfrm>
          <a:prstGeom prst="rect">
            <a:avLst/>
          </a:prstGeom>
          <a:noFill/>
          <a:ln/>
        </p:spPr>
        <p:txBody>
          <a:bodyPr wrap="square" lIns="0" tIns="0" rIns="0" bIns="0" rtlCol="0" anchor="t">
            <a:normAutofit/>
          </a:bodyPr>
          <a:lstStyle/>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Customers first</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Transparency, honesty and integrity</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Ethical business practices</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Striving for excellence</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Trust and respect for individuals</a:t>
            </a:r>
            <a:endParaRPr lang="en-US" sz="1600" dirty="0"/>
          </a:p>
          <a:p>
            <a:pPr algn="l" marL="196342" indent="-196342">
              <a:lnSpc>
                <a:spcPts val="256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Teamwork</a:t>
            </a:r>
            <a:endParaRPr lang="en-US" sz="1600" dirty="0"/>
          </a:p>
        </p:txBody>
      </p:sp>
      <p:sp>
        <p:nvSpPr>
          <p:cNvPr id="15" name="Text 11"/>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6" name="Text 12"/>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PC Maintenance (PCM) at a glance</a:t>
            </a:r>
            <a:endParaRPr lang="en-US" sz="3200" dirty="0"/>
          </a:p>
        </p:txBody>
      </p:sp>
      <p:sp>
        <p:nvSpPr>
          <p:cNvPr id="7" name="Shape 3"/>
          <p:cNvSpPr/>
          <p:nvPr/>
        </p:nvSpPr>
        <p:spPr>
          <a:xfrm>
            <a:off x="815975" y="2045336"/>
            <a:ext cx="3380264" cy="2249170"/>
          </a:xfrm>
          <a:prstGeom prst="roundRect">
            <a:avLst>
              <a:gd name="adj" fmla="val 4376"/>
            </a:avLst>
          </a:prstGeom>
          <a:solidFill>
            <a:srgbClr val="F7FBFE"/>
          </a:solidFill>
          <a:ln w="6350">
            <a:solidFill>
              <a:srgbClr val="B9D9F0"/>
            </a:solidFill>
            <a:prstDash val="solid"/>
          </a:ln>
        </p:spPr>
      </p:sp>
      <p:pic>
        <p:nvPicPr>
          <p:cNvPr id="8" name="Image 2" descr="Chat">    </p:cNvPr>
          <p:cNvPicPr>
            <a:picLocks noChangeAspect="1"/>
          </p:cNvPicPr>
          <p:nvPr/>
        </p:nvPicPr>
        <p:blipFill>
          <a:blip r:embed="rId3"/>
          <a:srcRect l="0" r="0" t="0" b="0"/>
          <a:stretch/>
        </p:blipFill>
        <p:spPr>
          <a:xfrm>
            <a:off x="1071880" y="2301239"/>
            <a:ext cx="355600" cy="355600"/>
          </a:xfrm>
          <a:prstGeom prst="rect">
            <a:avLst/>
          </a:prstGeom>
        </p:spPr>
      </p:pic>
      <p:sp>
        <p:nvSpPr>
          <p:cNvPr id="9" name="Text 4"/>
          <p:cNvSpPr/>
          <p:nvPr/>
        </p:nvSpPr>
        <p:spPr>
          <a:xfrm>
            <a:off x="1071880" y="2758439"/>
            <a:ext cx="2954507"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Help desk and field support</a:t>
            </a:r>
            <a:endParaRPr lang="en-US" sz="2000" dirty="0"/>
          </a:p>
        </p:txBody>
      </p:sp>
      <p:sp>
        <p:nvSpPr>
          <p:cNvPr id="10" name="Text 5"/>
          <p:cNvSpPr/>
          <p:nvPr/>
        </p:nvSpPr>
        <p:spPr>
          <a:xfrm>
            <a:off x="1071880" y="3469639"/>
            <a:ext cx="295450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Ticketing, remote fixes and zone engineers</a:t>
            </a:r>
            <a:endParaRPr lang="en-US" sz="1600" dirty="0"/>
          </a:p>
        </p:txBody>
      </p:sp>
      <p:sp>
        <p:nvSpPr>
          <p:cNvPr id="11" name="Shape 6"/>
          <p:cNvSpPr/>
          <p:nvPr/>
        </p:nvSpPr>
        <p:spPr>
          <a:xfrm>
            <a:off x="4405789" y="2045336"/>
            <a:ext cx="3380343" cy="2249170"/>
          </a:xfrm>
          <a:prstGeom prst="roundRect">
            <a:avLst>
              <a:gd name="adj" fmla="val 4376"/>
            </a:avLst>
          </a:prstGeom>
          <a:solidFill>
            <a:srgbClr val="F7FBFE"/>
          </a:solidFill>
          <a:ln w="6350">
            <a:solidFill>
              <a:srgbClr val="B9D9F0"/>
            </a:solidFill>
            <a:prstDash val="solid"/>
          </a:ln>
        </p:spPr>
      </p:sp>
      <p:pic>
        <p:nvPicPr>
          <p:cNvPr id="12" name="Image 3" descr="Database">    </p:cNvPr>
          <p:cNvPicPr>
            <a:picLocks noChangeAspect="1"/>
          </p:cNvPicPr>
          <p:nvPr/>
        </p:nvPicPr>
        <p:blipFill>
          <a:blip r:embed="rId4"/>
          <a:srcRect l="0" r="0" t="0" b="0"/>
          <a:stretch/>
        </p:blipFill>
        <p:spPr>
          <a:xfrm>
            <a:off x="4661694" y="2301239"/>
            <a:ext cx="355600" cy="355600"/>
          </a:xfrm>
          <a:prstGeom prst="rect">
            <a:avLst/>
          </a:prstGeom>
        </p:spPr>
      </p:pic>
      <p:sp>
        <p:nvSpPr>
          <p:cNvPr id="13" name="Text 7"/>
          <p:cNvSpPr/>
          <p:nvPr/>
        </p:nvSpPr>
        <p:spPr>
          <a:xfrm>
            <a:off x="4661694" y="2758439"/>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Server maintenance</a:t>
            </a:r>
            <a:endParaRPr lang="en-US" sz="2000" dirty="0"/>
          </a:p>
        </p:txBody>
      </p:sp>
      <p:sp>
        <p:nvSpPr>
          <p:cNvPr id="14" name="Text 8"/>
          <p:cNvSpPr/>
          <p:nvPr/>
        </p:nvSpPr>
        <p:spPr>
          <a:xfrm>
            <a:off x="4661694" y="3164839"/>
            <a:ext cx="295458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85 physical servers</a:t>
            </a:r>
            <a:endParaRPr lang="en-US" sz="1600" dirty="0"/>
          </a:p>
        </p:txBody>
      </p:sp>
      <p:sp>
        <p:nvSpPr>
          <p:cNvPr id="15" name="Shape 9"/>
          <p:cNvSpPr/>
          <p:nvPr/>
        </p:nvSpPr>
        <p:spPr>
          <a:xfrm>
            <a:off x="7995682" y="2045336"/>
            <a:ext cx="3380343" cy="2249170"/>
          </a:xfrm>
          <a:prstGeom prst="roundRect">
            <a:avLst>
              <a:gd name="adj" fmla="val 4376"/>
            </a:avLst>
          </a:prstGeom>
          <a:solidFill>
            <a:srgbClr val="F7FBFE"/>
          </a:solidFill>
          <a:ln w="6350">
            <a:solidFill>
              <a:srgbClr val="B9D9F0"/>
            </a:solidFill>
            <a:prstDash val="solid"/>
          </a:ln>
        </p:spPr>
      </p:sp>
      <p:pic>
        <p:nvPicPr>
          <p:cNvPr id="16" name="Image 4" descr="Lock">    </p:cNvPr>
          <p:cNvPicPr>
            <a:picLocks noChangeAspect="1"/>
          </p:cNvPicPr>
          <p:nvPr/>
        </p:nvPicPr>
        <p:blipFill>
          <a:blip r:embed="rId5"/>
          <a:srcRect l="0" r="0" t="0" b="0"/>
          <a:stretch/>
        </p:blipFill>
        <p:spPr>
          <a:xfrm>
            <a:off x="8251587" y="2301239"/>
            <a:ext cx="355600" cy="355600"/>
          </a:xfrm>
          <a:prstGeom prst="rect">
            <a:avLst/>
          </a:prstGeom>
        </p:spPr>
      </p:pic>
      <p:sp>
        <p:nvSpPr>
          <p:cNvPr id="17" name="Text 10"/>
          <p:cNvSpPr/>
          <p:nvPr/>
        </p:nvSpPr>
        <p:spPr>
          <a:xfrm>
            <a:off x="8251587" y="2758439"/>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Antivirus support</a:t>
            </a:r>
            <a:endParaRPr lang="en-US" sz="2000" dirty="0"/>
          </a:p>
        </p:txBody>
      </p:sp>
      <p:sp>
        <p:nvSpPr>
          <p:cNvPr id="18" name="Text 11"/>
          <p:cNvSpPr/>
          <p:nvPr/>
        </p:nvSpPr>
        <p:spPr>
          <a:xfrm>
            <a:off x="8251587" y="3164839"/>
            <a:ext cx="29545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Trend Micro on about 4,800 PCs</a:t>
            </a:r>
            <a:endParaRPr lang="en-US" sz="1600" dirty="0"/>
          </a:p>
        </p:txBody>
      </p:sp>
      <p:sp>
        <p:nvSpPr>
          <p:cNvPr id="19" name="Text 12"/>
          <p:cNvSpPr/>
          <p:nvPr/>
        </p:nvSpPr>
        <p:spPr>
          <a:xfrm>
            <a:off x="812800" y="460248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ALSO COVERS</a:t>
            </a:r>
            <a:endParaRPr lang="en-US" sz="1200" dirty="0"/>
          </a:p>
        </p:txBody>
      </p:sp>
      <p:sp>
        <p:nvSpPr>
          <p:cNvPr id="20" name="Text 13"/>
          <p:cNvSpPr/>
          <p:nvPr/>
        </p:nvSpPr>
        <p:spPr>
          <a:xfrm>
            <a:off x="812800" y="4917439"/>
            <a:ext cx="1073150" cy="462280"/>
          </a:xfrm>
          <a:prstGeom prst="roundRect">
            <a:avLst>
              <a:gd name="adj" fmla="val 50000"/>
            </a:avLst>
          </a:prstGeom>
          <a:solidFill>
            <a:srgbClr val="CFE6F7"/>
          </a:solidFill>
          <a:ln/>
        </p:spPr>
        <p:txBody>
          <a:bodyPr wrap="none" lIns="0" tIns="0" rIns="0" bIns="0" rtlCol="0" anchor="ctr">
            <a:normAutofit/>
          </a:bodyPr>
          <a:lstStyle/>
          <a:p>
            <a:pPr algn="ctr" indent="0" marL="0">
              <a:lnSpc>
                <a:spcPts val="2240"/>
              </a:lnSpc>
              <a:buNone/>
            </a:pPr>
            <a:r>
              <a:rPr lang="en-US" sz="1600" dirty="0">
                <a:solidFill>
                  <a:srgbClr val="0B2E5C"/>
                </a:solidFill>
                <a:latin typeface="IBM Plex Sans" pitchFamily="34" charset="0"/>
                <a:ea typeface="IBM Plex Sans" pitchFamily="34" charset="-122"/>
                <a:cs typeface="IBM Plex Sans" pitchFamily="34" charset="-120"/>
              </a:rPr>
              <a:t>Printers</a:t>
            </a:r>
            <a:endParaRPr lang="en-US" sz="1600" dirty="0"/>
          </a:p>
        </p:txBody>
      </p:sp>
      <p:sp>
        <p:nvSpPr>
          <p:cNvPr id="21" name="Text 14"/>
          <p:cNvSpPr/>
          <p:nvPr/>
        </p:nvSpPr>
        <p:spPr>
          <a:xfrm>
            <a:off x="1987550" y="4917439"/>
            <a:ext cx="1554718" cy="462280"/>
          </a:xfrm>
          <a:prstGeom prst="roundRect">
            <a:avLst>
              <a:gd name="adj" fmla="val 50000"/>
            </a:avLst>
          </a:prstGeom>
          <a:solidFill>
            <a:srgbClr val="CFE6F7"/>
          </a:solidFill>
          <a:ln/>
        </p:spPr>
        <p:txBody>
          <a:bodyPr wrap="none" lIns="0" tIns="0" rIns="0" bIns="0" rtlCol="0" anchor="ctr">
            <a:normAutofit/>
          </a:bodyPr>
          <a:lstStyle/>
          <a:p>
            <a:pPr algn="ctr" indent="0" marL="0">
              <a:lnSpc>
                <a:spcPts val="2240"/>
              </a:lnSpc>
              <a:buNone/>
            </a:pPr>
            <a:r>
              <a:rPr lang="en-US" sz="1600" dirty="0">
                <a:solidFill>
                  <a:srgbClr val="0B2E5C"/>
                </a:solidFill>
                <a:latin typeface="IBM Plex Sans" pitchFamily="34" charset="0"/>
                <a:ea typeface="IBM Plex Sans" pitchFamily="34" charset="-122"/>
                <a:cs typeface="IBM Plex Sans" pitchFamily="34" charset="-120"/>
              </a:rPr>
              <a:t>Workstations</a:t>
            </a:r>
            <a:endParaRPr lang="en-US" sz="1600" dirty="0"/>
          </a:p>
        </p:txBody>
      </p:sp>
      <p:sp>
        <p:nvSpPr>
          <p:cNvPr id="22" name="Text 15"/>
          <p:cNvSpPr/>
          <p:nvPr/>
        </p:nvSpPr>
        <p:spPr>
          <a:xfrm>
            <a:off x="3643868" y="4917439"/>
            <a:ext cx="1407001" cy="462280"/>
          </a:xfrm>
          <a:prstGeom prst="roundRect">
            <a:avLst>
              <a:gd name="adj" fmla="val 50000"/>
            </a:avLst>
          </a:prstGeom>
          <a:solidFill>
            <a:srgbClr val="CFE6F7"/>
          </a:solidFill>
          <a:ln/>
        </p:spPr>
        <p:txBody>
          <a:bodyPr wrap="none" lIns="0" tIns="0" rIns="0" bIns="0" rtlCol="0" anchor="ctr">
            <a:normAutofit/>
          </a:bodyPr>
          <a:lstStyle/>
          <a:p>
            <a:pPr algn="ctr" indent="0" marL="0">
              <a:lnSpc>
                <a:spcPts val="2240"/>
              </a:lnSpc>
              <a:buNone/>
            </a:pPr>
            <a:r>
              <a:rPr lang="en-US" sz="1600" dirty="0">
                <a:solidFill>
                  <a:srgbClr val="0B2E5C"/>
                </a:solidFill>
                <a:latin typeface="IBM Plex Sans" pitchFamily="34" charset="0"/>
                <a:ea typeface="IBM Plex Sans" pitchFamily="34" charset="-122"/>
                <a:cs typeface="IBM Plex Sans" pitchFamily="34" charset="-120"/>
              </a:rPr>
              <a:t>Thin clients</a:t>
            </a:r>
            <a:endParaRPr lang="en-US" sz="1600" dirty="0"/>
          </a:p>
        </p:txBody>
      </p:sp>
      <p:sp>
        <p:nvSpPr>
          <p:cNvPr id="23" name="Text 16"/>
          <p:cNvSpPr/>
          <p:nvPr/>
        </p:nvSpPr>
        <p:spPr>
          <a:xfrm>
            <a:off x="5152470" y="4917439"/>
            <a:ext cx="3102531" cy="462280"/>
          </a:xfrm>
          <a:prstGeom prst="roundRect">
            <a:avLst>
              <a:gd name="adj" fmla="val 50000"/>
            </a:avLst>
          </a:prstGeom>
          <a:solidFill>
            <a:srgbClr val="CFE6F7"/>
          </a:solidFill>
          <a:ln/>
        </p:spPr>
        <p:txBody>
          <a:bodyPr wrap="none" lIns="0" tIns="0" rIns="0" bIns="0" rtlCol="0" anchor="ctr">
            <a:normAutofit/>
          </a:bodyPr>
          <a:lstStyle/>
          <a:p>
            <a:pPr algn="ctr" indent="0" marL="0">
              <a:lnSpc>
                <a:spcPts val="2240"/>
              </a:lnSpc>
              <a:buNone/>
            </a:pPr>
            <a:r>
              <a:rPr lang="en-US" sz="1600" dirty="0">
                <a:solidFill>
                  <a:srgbClr val="0B2E5C"/>
                </a:solidFill>
                <a:latin typeface="IBM Plex Sans" pitchFamily="34" charset="0"/>
                <a:ea typeface="IBM Plex Sans" pitchFamily="34" charset="-122"/>
                <a:cs typeface="IBM Plex Sans" pitchFamily="34" charset="-120"/>
              </a:rPr>
              <a:t>Hardware and software issues</a:t>
            </a:r>
            <a:endParaRPr lang="en-US" sz="1600" dirty="0"/>
          </a:p>
        </p:txBody>
      </p:sp>
      <p:sp>
        <p:nvSpPr>
          <p:cNvPr id="24" name="Text 17"/>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5" name="Text 18"/>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How a complaint is handled</a:t>
            </a:r>
            <a:endParaRPr lang="en-US" sz="3200" dirty="0"/>
          </a:p>
        </p:txBody>
      </p:sp>
      <p:sp>
        <p:nvSpPr>
          <p:cNvPr id="7" name="Text 3"/>
          <p:cNvSpPr/>
          <p:nvPr/>
        </p:nvSpPr>
        <p:spPr>
          <a:xfrm>
            <a:off x="8128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1</a:t>
            </a:r>
            <a:endParaRPr lang="en-US" sz="1600" dirty="0"/>
          </a:p>
        </p:txBody>
      </p:sp>
      <p:sp>
        <p:nvSpPr>
          <p:cNvPr id="8" name="Text 4"/>
          <p:cNvSpPr/>
          <p:nvPr/>
        </p:nvSpPr>
        <p:spPr>
          <a:xfrm>
            <a:off x="8128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Call received</a:t>
            </a:r>
            <a:endParaRPr lang="en-US" sz="1600" dirty="0"/>
          </a:p>
        </p:txBody>
      </p:sp>
      <p:sp>
        <p:nvSpPr>
          <p:cNvPr id="9" name="Text 5"/>
          <p:cNvSpPr/>
          <p:nvPr/>
        </p:nvSpPr>
        <p:spPr>
          <a:xfrm>
            <a:off x="812800" y="29464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User calls the help desk</a:t>
            </a:r>
            <a:endParaRPr lang="en-US" sz="1200" dirty="0"/>
          </a:p>
        </p:txBody>
      </p:sp>
      <p:pic>
        <p:nvPicPr>
          <p:cNvPr id="10" name="Image 2" descr="arrow-right">    </p:cNvPr>
          <p:cNvPicPr>
            <a:picLocks noChangeAspect="1"/>
          </p:cNvPicPr>
          <p:nvPr/>
        </p:nvPicPr>
        <p:blipFill>
          <a:blip r:embed="rId3"/>
          <a:srcRect l="0" r="0" t="0" b="0"/>
          <a:stretch/>
        </p:blipFill>
        <p:spPr>
          <a:xfrm>
            <a:off x="2286000" y="2194561"/>
            <a:ext cx="304800" cy="203200"/>
          </a:xfrm>
          <a:prstGeom prst="rect">
            <a:avLst/>
          </a:prstGeom>
        </p:spPr>
      </p:pic>
      <p:sp>
        <p:nvSpPr>
          <p:cNvPr id="11" name="Text 6"/>
          <p:cNvSpPr/>
          <p:nvPr/>
        </p:nvSpPr>
        <p:spPr>
          <a:xfrm>
            <a:off x="26416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2</a:t>
            </a:r>
            <a:endParaRPr lang="en-US" sz="1600" dirty="0"/>
          </a:p>
        </p:txBody>
      </p:sp>
      <p:sp>
        <p:nvSpPr>
          <p:cNvPr id="12" name="Text 7"/>
          <p:cNvSpPr/>
          <p:nvPr/>
        </p:nvSpPr>
        <p:spPr>
          <a:xfrm>
            <a:off x="26416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Ticket raised</a:t>
            </a:r>
            <a:endParaRPr lang="en-US" sz="1600" dirty="0"/>
          </a:p>
        </p:txBody>
      </p:sp>
      <p:sp>
        <p:nvSpPr>
          <p:cNvPr id="13" name="Text 8"/>
          <p:cNvSpPr/>
          <p:nvPr/>
        </p:nvSpPr>
        <p:spPr>
          <a:xfrm>
            <a:off x="2641600" y="29464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Staff no., name and department noted</a:t>
            </a:r>
            <a:endParaRPr lang="en-US" sz="1200" dirty="0"/>
          </a:p>
        </p:txBody>
      </p:sp>
      <p:pic>
        <p:nvPicPr>
          <p:cNvPr id="14" name="Image 3" descr="arrow-right">    </p:cNvPr>
          <p:cNvPicPr>
            <a:picLocks noChangeAspect="1"/>
          </p:cNvPicPr>
          <p:nvPr/>
        </p:nvPicPr>
        <p:blipFill>
          <a:blip r:embed="rId4"/>
          <a:srcRect l="0" r="0" t="0" b="0"/>
          <a:stretch/>
        </p:blipFill>
        <p:spPr>
          <a:xfrm>
            <a:off x="4114800" y="2194561"/>
            <a:ext cx="304800" cy="203200"/>
          </a:xfrm>
          <a:prstGeom prst="rect">
            <a:avLst/>
          </a:prstGeom>
        </p:spPr>
      </p:pic>
      <p:sp>
        <p:nvSpPr>
          <p:cNvPr id="15" name="Text 9"/>
          <p:cNvSpPr/>
          <p:nvPr/>
        </p:nvSpPr>
        <p:spPr>
          <a:xfrm>
            <a:off x="44704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3</a:t>
            </a:r>
            <a:endParaRPr lang="en-US" sz="1600" dirty="0"/>
          </a:p>
        </p:txBody>
      </p:sp>
      <p:sp>
        <p:nvSpPr>
          <p:cNvPr id="16" name="Text 10"/>
          <p:cNvSpPr/>
          <p:nvPr/>
        </p:nvSpPr>
        <p:spPr>
          <a:xfrm>
            <a:off x="44704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Remote fix</a:t>
            </a:r>
            <a:endParaRPr lang="en-US" sz="1600" dirty="0"/>
          </a:p>
        </p:txBody>
      </p:sp>
      <p:sp>
        <p:nvSpPr>
          <p:cNvPr id="17" name="Text 11"/>
          <p:cNvSpPr/>
          <p:nvPr/>
        </p:nvSpPr>
        <p:spPr>
          <a:xfrm>
            <a:off x="4470400" y="2946400"/>
            <a:ext cx="14732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Help desk tries remote access for software issues</a:t>
            </a:r>
            <a:endParaRPr lang="en-US" sz="1200" dirty="0"/>
          </a:p>
        </p:txBody>
      </p:sp>
      <p:pic>
        <p:nvPicPr>
          <p:cNvPr id="18" name="Image 4" descr="arrow-right">    </p:cNvPr>
          <p:cNvPicPr>
            <a:picLocks noChangeAspect="1"/>
          </p:cNvPicPr>
          <p:nvPr/>
        </p:nvPicPr>
        <p:blipFill>
          <a:blip r:embed="rId5"/>
          <a:srcRect l="0" r="0" t="0" b="0"/>
          <a:stretch/>
        </p:blipFill>
        <p:spPr>
          <a:xfrm>
            <a:off x="5943600" y="2194561"/>
            <a:ext cx="304800" cy="203200"/>
          </a:xfrm>
          <a:prstGeom prst="rect">
            <a:avLst/>
          </a:prstGeom>
        </p:spPr>
      </p:pic>
      <p:sp>
        <p:nvSpPr>
          <p:cNvPr id="19" name="Text 12"/>
          <p:cNvSpPr/>
          <p:nvPr/>
        </p:nvSpPr>
        <p:spPr>
          <a:xfrm>
            <a:off x="62992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4</a:t>
            </a:r>
            <a:endParaRPr lang="en-US" sz="1600" dirty="0"/>
          </a:p>
        </p:txBody>
      </p:sp>
      <p:sp>
        <p:nvSpPr>
          <p:cNvPr id="20" name="Text 13"/>
          <p:cNvSpPr/>
          <p:nvPr/>
        </p:nvSpPr>
        <p:spPr>
          <a:xfrm>
            <a:off x="62992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Experts</a:t>
            </a:r>
            <a:endParaRPr lang="en-US" sz="1600" dirty="0"/>
          </a:p>
        </p:txBody>
      </p:sp>
      <p:sp>
        <p:nvSpPr>
          <p:cNvPr id="21" name="Text 14"/>
          <p:cNvSpPr/>
          <p:nvPr/>
        </p:nvSpPr>
        <p:spPr>
          <a:xfrm>
            <a:off x="6299200" y="29464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Escalated if the issue is not resolved</a:t>
            </a:r>
            <a:endParaRPr lang="en-US" sz="1200" dirty="0"/>
          </a:p>
        </p:txBody>
      </p:sp>
      <p:pic>
        <p:nvPicPr>
          <p:cNvPr id="22" name="Image 5" descr="arrow-right">    </p:cNvPr>
          <p:cNvPicPr>
            <a:picLocks noChangeAspect="1"/>
          </p:cNvPicPr>
          <p:nvPr/>
        </p:nvPicPr>
        <p:blipFill>
          <a:blip r:embed="rId6"/>
          <a:srcRect l="0" r="0" t="0" b="0"/>
          <a:stretch/>
        </p:blipFill>
        <p:spPr>
          <a:xfrm>
            <a:off x="7772400" y="2194561"/>
            <a:ext cx="304800" cy="203200"/>
          </a:xfrm>
          <a:prstGeom prst="rect">
            <a:avLst/>
          </a:prstGeom>
        </p:spPr>
      </p:pic>
      <p:sp>
        <p:nvSpPr>
          <p:cNvPr id="23" name="Text 15"/>
          <p:cNvSpPr/>
          <p:nvPr/>
        </p:nvSpPr>
        <p:spPr>
          <a:xfrm>
            <a:off x="8128000" y="2092961"/>
            <a:ext cx="406400" cy="4064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5</a:t>
            </a:r>
            <a:endParaRPr lang="en-US" sz="1600" dirty="0"/>
          </a:p>
        </p:txBody>
      </p:sp>
      <p:sp>
        <p:nvSpPr>
          <p:cNvPr id="24" name="Text 16"/>
          <p:cNvSpPr/>
          <p:nvPr/>
        </p:nvSpPr>
        <p:spPr>
          <a:xfrm>
            <a:off x="81280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Zone engineer</a:t>
            </a:r>
            <a:endParaRPr lang="en-US" sz="1600" dirty="0"/>
          </a:p>
        </p:txBody>
      </p:sp>
      <p:sp>
        <p:nvSpPr>
          <p:cNvPr id="25" name="Text 17"/>
          <p:cNvSpPr/>
          <p:nvPr/>
        </p:nvSpPr>
        <p:spPr>
          <a:xfrm>
            <a:off x="8128000" y="2946400"/>
            <a:ext cx="14732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On-site visit for physical or hardware issues</a:t>
            </a:r>
            <a:endParaRPr lang="en-US" sz="1200" dirty="0"/>
          </a:p>
        </p:txBody>
      </p:sp>
      <p:pic>
        <p:nvPicPr>
          <p:cNvPr id="26" name="Image 6" descr="arrow-right">    </p:cNvPr>
          <p:cNvPicPr>
            <a:picLocks noChangeAspect="1"/>
          </p:cNvPicPr>
          <p:nvPr/>
        </p:nvPicPr>
        <p:blipFill>
          <a:blip r:embed="rId7"/>
          <a:srcRect l="0" r="0" t="0" b="0"/>
          <a:stretch/>
        </p:blipFill>
        <p:spPr>
          <a:xfrm>
            <a:off x="9601200" y="2194561"/>
            <a:ext cx="304800" cy="203200"/>
          </a:xfrm>
          <a:prstGeom prst="rect">
            <a:avLst/>
          </a:prstGeom>
        </p:spPr>
      </p:pic>
      <p:sp>
        <p:nvSpPr>
          <p:cNvPr id="27" name="Text 18"/>
          <p:cNvSpPr/>
          <p:nvPr/>
        </p:nvSpPr>
        <p:spPr>
          <a:xfrm>
            <a:off x="9956800" y="2092961"/>
            <a:ext cx="406400" cy="406400"/>
          </a:xfrm>
          <a:prstGeom prst="roundRect">
            <a:avLst>
              <a:gd name="adj" fmla="val 50000"/>
            </a:avLst>
          </a:prstGeom>
          <a:solidFill>
            <a:srgbClr val="0B2E5C"/>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6</a:t>
            </a:r>
            <a:endParaRPr lang="en-US" sz="1600" dirty="0"/>
          </a:p>
        </p:txBody>
      </p:sp>
      <p:sp>
        <p:nvSpPr>
          <p:cNvPr id="28" name="Text 19"/>
          <p:cNvSpPr/>
          <p:nvPr/>
        </p:nvSpPr>
        <p:spPr>
          <a:xfrm>
            <a:off x="9956800" y="2600961"/>
            <a:ext cx="1473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Ticket closed</a:t>
            </a:r>
            <a:endParaRPr lang="en-US" sz="1600" dirty="0"/>
          </a:p>
        </p:txBody>
      </p:sp>
      <p:sp>
        <p:nvSpPr>
          <p:cNvPr id="29" name="Text 20"/>
          <p:cNvSpPr/>
          <p:nvPr/>
        </p:nvSpPr>
        <p:spPr>
          <a:xfrm>
            <a:off x="9956800" y="2946400"/>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Issue resolved and recorded</a:t>
            </a:r>
            <a:endParaRPr lang="en-US" sz="1200" dirty="0"/>
          </a:p>
        </p:txBody>
      </p:sp>
      <p:sp>
        <p:nvSpPr>
          <p:cNvPr id="30" name="Shape 21"/>
          <p:cNvSpPr/>
          <p:nvPr/>
        </p:nvSpPr>
        <p:spPr>
          <a:xfrm>
            <a:off x="812800" y="3942082"/>
            <a:ext cx="10566400" cy="1127760"/>
          </a:xfrm>
          <a:prstGeom prst="roundRect">
            <a:avLst>
              <a:gd name="adj" fmla="val 9009"/>
            </a:avLst>
          </a:prstGeom>
          <a:solidFill>
            <a:srgbClr val="CFE6F7"/>
          </a:solidFill>
          <a:ln/>
        </p:spPr>
      </p:sp>
      <p:sp>
        <p:nvSpPr>
          <p:cNvPr id="31" name="Text 22"/>
          <p:cNvSpPr/>
          <p:nvPr/>
        </p:nvSpPr>
        <p:spPr>
          <a:xfrm>
            <a:off x="1117600" y="4170682"/>
            <a:ext cx="87782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0B5FB0"/>
                </a:solidFill>
                <a:latin typeface="IBM Plex Sans" pitchFamily="34" charset="0"/>
                <a:ea typeface="IBM Plex Sans" pitchFamily="34" charset="-122"/>
                <a:cs typeface="IBM Plex Sans" pitchFamily="34" charset="-120"/>
              </a:rPr>
              <a:t>12</a:t>
            </a:r>
            <a:endParaRPr lang="en-US" sz="4800" dirty="0"/>
          </a:p>
        </p:txBody>
      </p:sp>
      <p:sp>
        <p:nvSpPr>
          <p:cNvPr id="32" name="Text 23"/>
          <p:cNvSpPr/>
          <p:nvPr/>
        </p:nvSpPr>
        <p:spPr>
          <a:xfrm>
            <a:off x="2103120" y="4221482"/>
            <a:ext cx="924041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zone engineers, each covering 5 to 10 departments (one zone). Hardware issues go straight to the zone engineer.</a:t>
            </a:r>
            <a:endParaRPr lang="en-US" sz="1600" dirty="0"/>
          </a:p>
        </p:txBody>
      </p:sp>
      <p:sp>
        <p:nvSpPr>
          <p:cNvPr id="33" name="Text 24"/>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4" name="Text 25"/>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Server maintenance</a:t>
            </a:r>
            <a:endParaRPr lang="en-US" sz="3200" dirty="0"/>
          </a:p>
        </p:txBody>
      </p:sp>
      <p:sp>
        <p:nvSpPr>
          <p:cNvPr id="7" name="Shape 3"/>
          <p:cNvSpPr/>
          <p:nvPr/>
        </p:nvSpPr>
        <p:spPr>
          <a:xfrm>
            <a:off x="812800" y="2042161"/>
            <a:ext cx="3379867" cy="2164080"/>
          </a:xfrm>
          <a:prstGeom prst="roundRect">
            <a:avLst>
              <a:gd name="adj" fmla="val 4695"/>
            </a:avLst>
          </a:prstGeom>
          <a:solidFill>
            <a:srgbClr val="0B5FB0"/>
          </a:solidFill>
          <a:ln/>
        </p:spPr>
      </p:sp>
      <p:sp>
        <p:nvSpPr>
          <p:cNvPr id="8" name="Text 4"/>
          <p:cNvSpPr/>
          <p:nvPr/>
        </p:nvSpPr>
        <p:spPr>
          <a:xfrm>
            <a:off x="1066800" y="2296161"/>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6EAFA"/>
                </a:solidFill>
                <a:latin typeface="IBM Plex Sans" pitchFamily="34" charset="0"/>
                <a:ea typeface="IBM Plex Sans" pitchFamily="34" charset="-122"/>
                <a:cs typeface="IBM Plex Sans" pitchFamily="34" charset="-120"/>
              </a:rPr>
              <a:t>FLEET</a:t>
            </a:r>
            <a:endParaRPr lang="en-US" sz="1200" dirty="0"/>
          </a:p>
        </p:txBody>
      </p:sp>
      <p:sp>
        <p:nvSpPr>
          <p:cNvPr id="9" name="Text 5"/>
          <p:cNvSpPr/>
          <p:nvPr/>
        </p:nvSpPr>
        <p:spPr>
          <a:xfrm>
            <a:off x="1066800" y="2585721"/>
            <a:ext cx="2958023"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7FBFE"/>
                </a:solidFill>
                <a:latin typeface="IBM Plex Sans" pitchFamily="34" charset="0"/>
                <a:ea typeface="IBM Plex Sans" pitchFamily="34" charset="-122"/>
                <a:cs typeface="IBM Plex Sans" pitchFamily="34" charset="-120"/>
              </a:rPr>
              <a:t>85</a:t>
            </a:r>
            <a:endParaRPr lang="en-US" sz="4800" dirty="0"/>
          </a:p>
        </p:txBody>
      </p:sp>
      <p:sp>
        <p:nvSpPr>
          <p:cNvPr id="10" name="Text 6"/>
          <p:cNvSpPr/>
          <p:nvPr/>
        </p:nvSpPr>
        <p:spPr>
          <a:xfrm>
            <a:off x="1066800" y="3332482"/>
            <a:ext cx="295802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EAFA"/>
                </a:solidFill>
                <a:latin typeface="IBM Plex Sans" pitchFamily="34" charset="0"/>
                <a:ea typeface="IBM Plex Sans" pitchFamily="34" charset="-122"/>
                <a:cs typeface="IBM Plex Sans" pitchFamily="34" charset="-120"/>
              </a:rPr>
              <a:t>physical servers under PCM, ISBG</a:t>
            </a:r>
            <a:endParaRPr lang="en-US" sz="1600" dirty="0"/>
          </a:p>
        </p:txBody>
      </p:sp>
      <p:sp>
        <p:nvSpPr>
          <p:cNvPr id="11" name="Shape 7"/>
          <p:cNvSpPr/>
          <p:nvPr/>
        </p:nvSpPr>
        <p:spPr>
          <a:xfrm>
            <a:off x="4399042" y="2045336"/>
            <a:ext cx="3383756" cy="2157730"/>
          </a:xfrm>
          <a:prstGeom prst="roundRect">
            <a:avLst>
              <a:gd name="adj" fmla="val 4562"/>
            </a:avLst>
          </a:prstGeom>
          <a:solidFill>
            <a:srgbClr val="F7FBFE"/>
          </a:solidFill>
          <a:ln w="6350">
            <a:solidFill>
              <a:srgbClr val="B9D9F0"/>
            </a:solidFill>
            <a:prstDash val="solid"/>
          </a:ln>
        </p:spPr>
      </p:sp>
      <p:sp>
        <p:nvSpPr>
          <p:cNvPr id="12" name="Text 8"/>
          <p:cNvSpPr/>
          <p:nvPr/>
        </p:nvSpPr>
        <p:spPr>
          <a:xfrm>
            <a:off x="4654947" y="2301239"/>
            <a:ext cx="2958105"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SERVER TYPES</a:t>
            </a:r>
            <a:endParaRPr lang="en-US" sz="1200" dirty="0"/>
          </a:p>
        </p:txBody>
      </p:sp>
      <p:sp>
        <p:nvSpPr>
          <p:cNvPr id="13" name="Text 9"/>
          <p:cNvSpPr/>
          <p:nvPr/>
        </p:nvSpPr>
        <p:spPr>
          <a:xfrm>
            <a:off x="4677807" y="2590800"/>
            <a:ext cx="2927625" cy="1244600"/>
          </a:xfrm>
          <a:prstGeom prst="rect">
            <a:avLst/>
          </a:prstGeom>
          <a:noFill/>
          <a:ln/>
        </p:spPr>
        <p:txBody>
          <a:bodyPr wrap="square" lIns="0" tIns="0" rIns="0" bIns="0" rtlCol="0" anchor="t">
            <a:normAutofit/>
          </a:bodyPr>
          <a:lstStyle/>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Flat</a:t>
            </a:r>
            <a:endParaRPr lang="en-US" sz="2000" dirty="0"/>
          </a:p>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Mount</a:t>
            </a:r>
            <a:endParaRPr lang="en-US" sz="2000" dirty="0"/>
          </a:p>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Blade</a:t>
            </a:r>
            <a:endParaRPr lang="en-US" sz="2000" dirty="0"/>
          </a:p>
        </p:txBody>
      </p:sp>
      <p:sp>
        <p:nvSpPr>
          <p:cNvPr id="14" name="Shape 10"/>
          <p:cNvSpPr/>
          <p:nvPr/>
        </p:nvSpPr>
        <p:spPr>
          <a:xfrm>
            <a:off x="7992349" y="2045336"/>
            <a:ext cx="3383677" cy="2157730"/>
          </a:xfrm>
          <a:prstGeom prst="roundRect">
            <a:avLst>
              <a:gd name="adj" fmla="val 4562"/>
            </a:avLst>
          </a:prstGeom>
          <a:solidFill>
            <a:srgbClr val="F7FBFE"/>
          </a:solidFill>
          <a:ln w="6350">
            <a:solidFill>
              <a:srgbClr val="B9D9F0"/>
            </a:solidFill>
            <a:prstDash val="solid"/>
          </a:ln>
        </p:spPr>
      </p:sp>
      <p:sp>
        <p:nvSpPr>
          <p:cNvPr id="15" name="Text 11"/>
          <p:cNvSpPr/>
          <p:nvPr/>
        </p:nvSpPr>
        <p:spPr>
          <a:xfrm>
            <a:off x="8248253" y="2301239"/>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DISK PROTECTION (RAID)</a:t>
            </a:r>
            <a:endParaRPr lang="en-US" sz="1200" dirty="0"/>
          </a:p>
        </p:txBody>
      </p:sp>
      <p:sp>
        <p:nvSpPr>
          <p:cNvPr id="16" name="Text 12"/>
          <p:cNvSpPr/>
          <p:nvPr/>
        </p:nvSpPr>
        <p:spPr>
          <a:xfrm>
            <a:off x="8248253" y="2616200"/>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RAID 1</a:t>
            </a:r>
            <a:endParaRPr lang="en-US" sz="2000" dirty="0"/>
          </a:p>
        </p:txBody>
      </p:sp>
      <p:sp>
        <p:nvSpPr>
          <p:cNvPr id="17" name="Text 13"/>
          <p:cNvSpPr/>
          <p:nvPr/>
        </p:nvSpPr>
        <p:spPr>
          <a:xfrm>
            <a:off x="8248253" y="2946400"/>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Mirroring · 2 disks</a:t>
            </a:r>
            <a:endParaRPr lang="en-US" sz="1600" dirty="0"/>
          </a:p>
        </p:txBody>
      </p:sp>
      <p:sp>
        <p:nvSpPr>
          <p:cNvPr id="18" name="Text 14"/>
          <p:cNvSpPr/>
          <p:nvPr/>
        </p:nvSpPr>
        <p:spPr>
          <a:xfrm>
            <a:off x="8248253" y="3332482"/>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RAID 5</a:t>
            </a:r>
            <a:endParaRPr lang="en-US" sz="2000" dirty="0"/>
          </a:p>
        </p:txBody>
      </p:sp>
      <p:sp>
        <p:nvSpPr>
          <p:cNvPr id="19" name="Text 15"/>
          <p:cNvSpPr/>
          <p:nvPr/>
        </p:nvSpPr>
        <p:spPr>
          <a:xfrm>
            <a:off x="8248253" y="3662682"/>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Striping · 3+ disks</a:t>
            </a:r>
            <a:endParaRPr lang="en-US" sz="1600" dirty="0"/>
          </a:p>
        </p:txBody>
      </p:sp>
      <p:sp>
        <p:nvSpPr>
          <p:cNvPr id="20" name="Shape 16"/>
          <p:cNvSpPr/>
          <p:nvPr/>
        </p:nvSpPr>
        <p:spPr>
          <a:xfrm>
            <a:off x="812800" y="4511039"/>
            <a:ext cx="10566400" cy="762000"/>
          </a:xfrm>
          <a:prstGeom prst="roundRect">
            <a:avLst>
              <a:gd name="adj" fmla="val 13333"/>
            </a:avLst>
          </a:prstGeom>
          <a:solidFill>
            <a:srgbClr val="CFE6F7"/>
          </a:solidFill>
          <a:ln/>
        </p:spPr>
      </p:sp>
      <p:pic>
        <p:nvPicPr>
          <p:cNvPr id="21" name="Image 2" descr="Wrench">    </p:cNvPr>
          <p:cNvPicPr>
            <a:picLocks noChangeAspect="1"/>
          </p:cNvPicPr>
          <p:nvPr/>
        </p:nvPicPr>
        <p:blipFill>
          <a:blip r:embed="rId3"/>
          <a:srcRect l="0" r="0" t="0" b="0"/>
          <a:stretch/>
        </p:blipFill>
        <p:spPr>
          <a:xfrm>
            <a:off x="1066800" y="4714239"/>
            <a:ext cx="355600" cy="355600"/>
          </a:xfrm>
          <a:prstGeom prst="rect">
            <a:avLst/>
          </a:prstGeom>
        </p:spPr>
      </p:pic>
      <p:sp>
        <p:nvSpPr>
          <p:cNvPr id="22" name="Text 17"/>
          <p:cNvSpPr/>
          <p:nvPr/>
        </p:nvSpPr>
        <p:spPr>
          <a:xfrm>
            <a:off x="1574800" y="4749800"/>
            <a:ext cx="983691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Hot-swappable disks: a failed drive can be replaced without shutting the server down.</a:t>
            </a:r>
            <a:endParaRPr lang="en-US" sz="1600" dirty="0"/>
          </a:p>
        </p:txBody>
      </p:sp>
      <p:sp>
        <p:nvSpPr>
          <p:cNvPr id="23" name="Text 18"/>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4" name="Text 19"/>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Server roles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052321"/>
          <a:ext cx="10556240" cy="3495040"/>
        </p:xfrm>
        <a:graphic>
          <a:graphicData uri="http://schemas.openxmlformats.org/drawingml/2006/table">
            <a:tbl>
              <a:tblPr/>
              <a:tblGrid>
                <a:gridCol w="3589122"/>
                <a:gridCol w="6967118"/>
              </a:tblGrid>
              <a:tr h="436880">
                <a:tc>
                  <a:txBody>
                    <a:bodyPr/>
                    <a:lstStyle/>
                    <a:p>
                      <a:pPr indent="0" marL="0">
                        <a:lnSpc>
                          <a:spcPts val="2240"/>
                        </a:lnSpc>
                        <a:buNone/>
                      </a:pPr>
                      <a:r>
                        <a:rPr lang="en-US" sz="1600" b="1" dirty="0">
                          <a:solidFill>
                            <a:srgbClr val="F7FBFE"/>
                          </a:solidFill>
                          <a:latin typeface="IBM Plex Sans" pitchFamily="34" charset="0"/>
                          <a:ea typeface="IBM Plex Sans" pitchFamily="34" charset="-122"/>
                          <a:cs typeface="IBM Plex Sans" pitchFamily="34" charset="-120"/>
                        </a:rPr>
                        <a:t>Role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0D284C"/>
                      </a:solidFill>
                      <a:prstDash val="solid"/>
                      <a:round/>
                      <a:headEnd type="none" w="med" len="med"/>
                      <a:tailEnd type="none" w="med" len="med"/>
                    </a:lnR>
                    <a:lnT w="12700" cap="flat" cmpd="sng" algn="ctr">
                      <a:solidFill>
                        <a:srgbClr val="B5C0C8"/>
                      </a:solidFill>
                      <a:prstDash val="solid"/>
                      <a:round/>
                      <a:headEnd type="none" w="med" len="med"/>
                      <a:tailEnd type="none" w="med" len="med"/>
                    </a:lnT>
                    <a:lnB w="12700" cap="flat" cmpd="sng" algn="ctr">
                      <a:solidFill>
                        <a:srgbClr val="0D284C"/>
                      </a:solidFill>
                      <a:prstDash val="solid"/>
                      <a:round/>
                      <a:headEnd type="none" w="med" len="med"/>
                      <a:tailEnd type="none" w="med" len="med"/>
                    </a:lnB>
                    <a:solidFill>
                      <a:srgbClr val="0B2E5C"/>
                    </a:solidFill>
                  </a:tcPr>
                </a:tc>
                <a:tc>
                  <a:txBody>
                    <a:bodyPr/>
                    <a:lstStyle/>
                    <a:p>
                      <a:pPr indent="0" marL="0">
                        <a:lnSpc>
                          <a:spcPts val="2240"/>
                        </a:lnSpc>
                        <a:buNone/>
                      </a:pPr>
                      <a:r>
                        <a:rPr lang="en-US" sz="1600" b="1" dirty="0">
                          <a:solidFill>
                            <a:srgbClr val="F7FBFE"/>
                          </a:solidFill>
                          <a:latin typeface="IBM Plex Sans" pitchFamily="34" charset="0"/>
                          <a:ea typeface="IBM Plex Sans" pitchFamily="34" charset="-122"/>
                          <a:cs typeface="IBM Plex Sans" pitchFamily="34" charset="-120"/>
                        </a:rPr>
                        <a:t>What it does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0D284C"/>
                      </a:solidFill>
                      <a:prstDash val="solid"/>
                      <a:round/>
                      <a:headEnd type="none" w="med" len="med"/>
                      <a:tailEnd type="none" w="med" len="med"/>
                    </a:lnL>
                    <a:lnR w="12700" cap="flat" cmpd="sng" algn="ctr">
                      <a:solidFill>
                        <a:srgbClr val="0D284C"/>
                      </a:solidFill>
                      <a:prstDash val="solid"/>
                      <a:round/>
                      <a:headEnd type="none" w="med" len="med"/>
                      <a:tailEnd type="none" w="med" len="med"/>
                    </a:lnR>
                    <a:lnT w="12700" cap="flat" cmpd="sng" algn="ctr">
                      <a:solidFill>
                        <a:srgbClr val="B5C0C8"/>
                      </a:solidFill>
                      <a:prstDash val="solid"/>
                      <a:round/>
                      <a:headEnd type="none" w="med" len="med"/>
                      <a:tailEnd type="none" w="med" len="med"/>
                    </a:lnT>
                    <a:lnB w="12700" cap="flat" cmpd="sng" algn="ctr">
                      <a:solidFill>
                        <a:srgbClr val="0D284C"/>
                      </a:solidFill>
                      <a:prstDash val="solid"/>
                      <a:round/>
                      <a:headEnd type="none" w="med" len="med"/>
                      <a:tailEnd type="none" w="med" len="med"/>
                    </a:lnB>
                    <a:solidFill>
                      <a:srgbClr val="0B2E5C"/>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Active Directory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0D284C"/>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Stores users, computers and shared folders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0D284C"/>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DHCP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Assigns IP addresses to client PCs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DNS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Resolves host names to IP addresses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Hyper-V</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Runs several operating systems on one server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Windows Update service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Delivers Windows updates to PCs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Windows Deployment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Installs the OS on PCs over the network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436880">
                <a:tc>
                  <a:txBody>
                    <a:bodyPr/>
                    <a:lstStyle/>
                    <a:p>
                      <a:pPr indent="0" marL="0">
                        <a:lnSpc>
                          <a:spcPts val="2240"/>
                        </a:lnSpc>
                        <a:buNone/>
                      </a:pPr>
                      <a:r>
                        <a:rPr lang="en-US" sz="1600" dirty="0">
                          <a:solidFill>
                            <a:srgbClr val="0B5FB0"/>
                          </a:solidFill>
                          <a:latin typeface="IBM Plex Sans" pitchFamily="34" charset="0"/>
                          <a:ea typeface="IBM Plex Sans" pitchFamily="34" charset="-122"/>
                          <a:cs typeface="IBM Plex Sans" pitchFamily="34" charset="-120"/>
                        </a:rPr>
                        <a:t>Web server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Hosts web applications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bl>
          </a:graphicData>
        </a:graphic>
      </p:graphicFrame>
      <p:sp>
        <p:nvSpPr>
          <p:cNvPr id="8" name="Text 3"/>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9" name="Text 4"/>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Active Directory and DHCP</a:t>
            </a:r>
            <a:endParaRPr lang="en-US" sz="3200" dirty="0"/>
          </a:p>
        </p:txBody>
      </p:sp>
      <p:sp>
        <p:nvSpPr>
          <p:cNvPr id="7" name="Shape 3"/>
          <p:cNvSpPr/>
          <p:nvPr/>
        </p:nvSpPr>
        <p:spPr>
          <a:xfrm>
            <a:off x="815975" y="2045339"/>
            <a:ext cx="5175250" cy="2858770"/>
          </a:xfrm>
          <a:prstGeom prst="roundRect">
            <a:avLst>
              <a:gd name="adj" fmla="val 3443"/>
            </a:avLst>
          </a:prstGeom>
          <a:solidFill>
            <a:srgbClr val="F7FBFE"/>
          </a:solidFill>
          <a:ln w="6350">
            <a:solidFill>
              <a:srgbClr val="B9D9F0"/>
            </a:solidFill>
            <a:prstDash val="solid"/>
          </a:ln>
        </p:spPr>
      </p:sp>
      <p:sp>
        <p:nvSpPr>
          <p:cNvPr id="8" name="Text 4"/>
          <p:cNvSpPr/>
          <p:nvPr/>
        </p:nvSpPr>
        <p:spPr>
          <a:xfrm>
            <a:off x="10718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5FB0"/>
                </a:solidFill>
                <a:latin typeface="IBM Plex Sans" pitchFamily="34" charset="0"/>
                <a:ea typeface="IBM Plex Sans" pitchFamily="34" charset="-122"/>
                <a:cs typeface="IBM Plex Sans" pitchFamily="34" charset="-120"/>
              </a:rPr>
              <a:t>Active Directory</a:t>
            </a:r>
            <a:endParaRPr lang="en-US" sz="2000" dirty="0"/>
          </a:p>
        </p:txBody>
      </p:sp>
      <p:sp>
        <p:nvSpPr>
          <p:cNvPr id="9" name="Text 5"/>
          <p:cNvSpPr/>
          <p:nvPr/>
        </p:nvSpPr>
        <p:spPr>
          <a:xfrm>
            <a:off x="1129538" y="2758442"/>
            <a:ext cx="4738065" cy="1915160"/>
          </a:xfrm>
          <a:prstGeom prst="rect">
            <a:avLst/>
          </a:prstGeom>
          <a:noFill/>
          <a:ln/>
        </p:spPr>
        <p:txBody>
          <a:bodyPr wrap="square" lIns="0" tIns="0" rIns="0" bIns="0" rtlCol="0" anchor="t">
            <a:normAutofit/>
          </a:bodyPr>
          <a:lstStyle/>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Stores details of users, computers and shared folders</a:t>
            </a:r>
            <a:endParaRPr lang="en-US" sz="1600" dirty="0"/>
          </a:p>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Adding or removing a user needs the PCM head's permission</a:t>
            </a:r>
            <a:endParaRPr lang="en-US" sz="1600" dirty="0"/>
          </a:p>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Policies apply to staff; senior officials have no restrictions</a:t>
            </a:r>
            <a:endParaRPr lang="en-US" sz="1600" dirty="0"/>
          </a:p>
        </p:txBody>
      </p:sp>
      <p:sp>
        <p:nvSpPr>
          <p:cNvPr id="10" name="Shape 6"/>
          <p:cNvSpPr/>
          <p:nvPr/>
        </p:nvSpPr>
        <p:spPr>
          <a:xfrm>
            <a:off x="6200775" y="2045339"/>
            <a:ext cx="5175250" cy="2858770"/>
          </a:xfrm>
          <a:prstGeom prst="roundRect">
            <a:avLst>
              <a:gd name="adj" fmla="val 3443"/>
            </a:avLst>
          </a:prstGeom>
          <a:solidFill>
            <a:srgbClr val="F7FBFE"/>
          </a:solidFill>
          <a:ln w="6350">
            <a:solidFill>
              <a:srgbClr val="B9D9F0"/>
            </a:solidFill>
            <a:prstDash val="solid"/>
          </a:ln>
        </p:spPr>
      </p:sp>
      <p:sp>
        <p:nvSpPr>
          <p:cNvPr id="11" name="Text 7"/>
          <p:cNvSpPr/>
          <p:nvPr/>
        </p:nvSpPr>
        <p:spPr>
          <a:xfrm>
            <a:off x="64566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5FB0"/>
                </a:solidFill>
                <a:latin typeface="IBM Plex Sans" pitchFamily="34" charset="0"/>
                <a:ea typeface="IBM Plex Sans" pitchFamily="34" charset="-122"/>
                <a:cs typeface="IBM Plex Sans" pitchFamily="34" charset="-120"/>
              </a:rPr>
              <a:t>DHCP</a:t>
            </a:r>
            <a:endParaRPr lang="en-US" sz="2000" dirty="0"/>
          </a:p>
        </p:txBody>
      </p:sp>
      <p:sp>
        <p:nvSpPr>
          <p:cNvPr id="12" name="Text 8"/>
          <p:cNvSpPr/>
          <p:nvPr/>
        </p:nvSpPr>
        <p:spPr>
          <a:xfrm>
            <a:off x="6514338" y="2758442"/>
            <a:ext cx="4738065" cy="1285240"/>
          </a:xfrm>
          <a:prstGeom prst="rect">
            <a:avLst/>
          </a:prstGeom>
          <a:noFill/>
          <a:ln/>
        </p:spPr>
        <p:txBody>
          <a:bodyPr wrap="square" lIns="0" tIns="0" rIns="0" bIns="0" rtlCol="0" anchor="t">
            <a:normAutofit/>
          </a:bodyPr>
          <a:lstStyle/>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Assigns IP addresses to all client PCs</a:t>
            </a:r>
            <a:endParaRPr lang="en-US" sz="1600" dirty="0"/>
          </a:p>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30-day lease: an idle PC's IP can go to a different PC</a:t>
            </a:r>
            <a:endParaRPr lang="en-US" sz="1600" dirty="0"/>
          </a:p>
          <a:p>
            <a:pPr algn="l" marL="196342" indent="-196342">
              <a:lnSpc>
                <a:spcPts val="2480"/>
              </a:lnSpc>
              <a:buSzPct val="100000"/>
              <a:buChar char="•"/>
            </a:pPr>
            <a:r>
              <a:rPr lang="en-US" sz="1600" dirty="0">
                <a:solidFill>
                  <a:srgbClr val="26384D"/>
                </a:solidFill>
                <a:latin typeface="IBM Plex Sans" pitchFamily="34" charset="0"/>
                <a:ea typeface="IBM Plex Sans" pitchFamily="34" charset="-122"/>
                <a:cs typeface="IBM Plex Sans" pitchFamily="34" charset="-120"/>
              </a:rPr>
              <a:t>Static IPs are set manually, for servers only</a:t>
            </a:r>
            <a:endParaRPr lang="en-US" sz="1600" dirty="0"/>
          </a:p>
        </p:txBody>
      </p:sp>
      <p:sp>
        <p:nvSpPr>
          <p:cNvPr id="13" name="Text 9"/>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4" name="Text 10"/>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Antivirus support with Trend Micro</a:t>
            </a:r>
            <a:endParaRPr lang="en-US" sz="3200" dirty="0"/>
          </a:p>
        </p:txBody>
      </p:sp>
      <p:sp>
        <p:nvSpPr>
          <p:cNvPr id="7" name="Shape 3"/>
          <p:cNvSpPr/>
          <p:nvPr/>
        </p:nvSpPr>
        <p:spPr>
          <a:xfrm>
            <a:off x="815975" y="2045339"/>
            <a:ext cx="5175250" cy="1177290"/>
          </a:xfrm>
          <a:prstGeom prst="roundRect">
            <a:avLst>
              <a:gd name="adj" fmla="val 8360"/>
            </a:avLst>
          </a:prstGeom>
          <a:solidFill>
            <a:srgbClr val="0B5FB0"/>
          </a:solidFill>
          <a:ln w="6350">
            <a:solidFill>
              <a:srgbClr val="0B5FB0"/>
            </a:solidFill>
            <a:prstDash val="solid"/>
          </a:ln>
        </p:spPr>
      </p:sp>
      <p:sp>
        <p:nvSpPr>
          <p:cNvPr id="8" name="Text 4"/>
          <p:cNvSpPr/>
          <p:nvPr/>
        </p:nvSpPr>
        <p:spPr>
          <a:xfrm>
            <a:off x="10718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Apex One server</a:t>
            </a:r>
            <a:endParaRPr lang="en-US" sz="2000" dirty="0"/>
          </a:p>
        </p:txBody>
      </p:sp>
      <p:sp>
        <p:nvSpPr>
          <p:cNvPr id="9" name="Text 5"/>
          <p:cNvSpPr/>
          <p:nvPr/>
        </p:nvSpPr>
        <p:spPr>
          <a:xfrm>
            <a:off x="1071880" y="2682242"/>
            <a:ext cx="480334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EAFA"/>
                </a:solidFill>
                <a:latin typeface="IBM Plex Sans" pitchFamily="34" charset="0"/>
                <a:ea typeface="IBM Plex Sans" pitchFamily="34" charset="-122"/>
                <a:cs typeface="IBM Plex Sans" pitchFamily="34" charset="-120"/>
              </a:rPr>
              <a:t>Primary endpoint protection for about 4,800 PCs</a:t>
            </a:r>
            <a:endParaRPr lang="en-US" sz="1600" dirty="0"/>
          </a:p>
        </p:txBody>
      </p:sp>
      <p:sp>
        <p:nvSpPr>
          <p:cNvPr id="10" name="Shape 6"/>
          <p:cNvSpPr/>
          <p:nvPr/>
        </p:nvSpPr>
        <p:spPr>
          <a:xfrm>
            <a:off x="6200775" y="2045339"/>
            <a:ext cx="5175250" cy="1177290"/>
          </a:xfrm>
          <a:prstGeom prst="roundRect">
            <a:avLst>
              <a:gd name="adj" fmla="val 8360"/>
            </a:avLst>
          </a:prstGeom>
          <a:solidFill>
            <a:srgbClr val="F7FBFE"/>
          </a:solidFill>
          <a:ln w="6350">
            <a:solidFill>
              <a:srgbClr val="B9D9F0"/>
            </a:solidFill>
            <a:prstDash val="solid"/>
          </a:ln>
        </p:spPr>
      </p:sp>
      <p:sp>
        <p:nvSpPr>
          <p:cNvPr id="11" name="Text 7"/>
          <p:cNvSpPr/>
          <p:nvPr/>
        </p:nvSpPr>
        <p:spPr>
          <a:xfrm>
            <a:off x="64566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Apex Central server</a:t>
            </a:r>
            <a:endParaRPr lang="en-US" sz="2000" dirty="0"/>
          </a:p>
        </p:txBody>
      </p:sp>
      <p:sp>
        <p:nvSpPr>
          <p:cNvPr id="12" name="Text 8"/>
          <p:cNvSpPr/>
          <p:nvPr/>
        </p:nvSpPr>
        <p:spPr>
          <a:xfrm>
            <a:off x="6456680" y="2682242"/>
            <a:ext cx="480334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Centralized management of the antivirus setup</a:t>
            </a:r>
            <a:endParaRPr lang="en-US" sz="1600" dirty="0"/>
          </a:p>
        </p:txBody>
      </p:sp>
      <p:sp>
        <p:nvSpPr>
          <p:cNvPr id="13" name="Shape 9"/>
          <p:cNvSpPr/>
          <p:nvPr/>
        </p:nvSpPr>
        <p:spPr>
          <a:xfrm>
            <a:off x="815975" y="3432175"/>
            <a:ext cx="5175250" cy="1461770"/>
          </a:xfrm>
          <a:prstGeom prst="roundRect">
            <a:avLst>
              <a:gd name="adj" fmla="val 6733"/>
            </a:avLst>
          </a:prstGeom>
          <a:solidFill>
            <a:srgbClr val="F7FBFE"/>
          </a:solidFill>
          <a:ln w="6350">
            <a:solidFill>
              <a:srgbClr val="B9D9F0"/>
            </a:solidFill>
            <a:prstDash val="solid"/>
          </a:ln>
        </p:spPr>
      </p:sp>
      <p:sp>
        <p:nvSpPr>
          <p:cNvPr id="14" name="Text 10"/>
          <p:cNvSpPr/>
          <p:nvPr/>
        </p:nvSpPr>
        <p:spPr>
          <a:xfrm>
            <a:off x="1071880" y="368807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SQL database server</a:t>
            </a:r>
            <a:endParaRPr lang="en-US" sz="2000" dirty="0"/>
          </a:p>
        </p:txBody>
      </p:sp>
      <p:sp>
        <p:nvSpPr>
          <p:cNvPr id="15" name="Text 11"/>
          <p:cNvSpPr/>
          <p:nvPr/>
        </p:nvSpPr>
        <p:spPr>
          <a:xfrm>
            <a:off x="1071880" y="4069079"/>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Microsoft SQL Server on a VM; stores Apex One data</a:t>
            </a:r>
            <a:endParaRPr lang="en-US" sz="1600" dirty="0"/>
          </a:p>
        </p:txBody>
      </p:sp>
      <p:sp>
        <p:nvSpPr>
          <p:cNvPr id="16" name="Shape 12"/>
          <p:cNvSpPr/>
          <p:nvPr/>
        </p:nvSpPr>
        <p:spPr>
          <a:xfrm>
            <a:off x="6200775" y="3432175"/>
            <a:ext cx="5175250" cy="1461770"/>
          </a:xfrm>
          <a:prstGeom prst="roundRect">
            <a:avLst>
              <a:gd name="adj" fmla="val 6733"/>
            </a:avLst>
          </a:prstGeom>
          <a:solidFill>
            <a:srgbClr val="F7FBFE"/>
          </a:solidFill>
          <a:ln w="6350">
            <a:solidFill>
              <a:srgbClr val="B9D9F0"/>
            </a:solidFill>
            <a:prstDash val="solid"/>
          </a:ln>
        </p:spPr>
      </p:sp>
      <p:sp>
        <p:nvSpPr>
          <p:cNvPr id="17" name="Text 13"/>
          <p:cNvSpPr/>
          <p:nvPr/>
        </p:nvSpPr>
        <p:spPr>
          <a:xfrm>
            <a:off x="6456680" y="368807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Backup server</a:t>
            </a:r>
            <a:endParaRPr lang="en-US" sz="2000" dirty="0"/>
          </a:p>
        </p:txBody>
      </p:sp>
      <p:sp>
        <p:nvSpPr>
          <p:cNvPr id="18" name="Text 14"/>
          <p:cNvSpPr/>
          <p:nvPr/>
        </p:nvSpPr>
        <p:spPr>
          <a:xfrm>
            <a:off x="6456680" y="4069079"/>
            <a:ext cx="48033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Powered on once a month to back up the antivirus, then shut down</a:t>
            </a:r>
            <a:endParaRPr lang="en-US" sz="1600" dirty="0"/>
          </a:p>
        </p:txBody>
      </p:sp>
      <p:sp>
        <p:nvSpPr>
          <p:cNvPr id="19" name="Text 15"/>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0" name="Text 16"/>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Antivirus team responsibilities</a:t>
            </a:r>
            <a:endParaRPr lang="en-US" sz="3200" dirty="0"/>
          </a:p>
        </p:txBody>
      </p:sp>
      <p:sp>
        <p:nvSpPr>
          <p:cNvPr id="7" name="Shape 3"/>
          <p:cNvSpPr/>
          <p:nvPr/>
        </p:nvSpPr>
        <p:spPr>
          <a:xfrm>
            <a:off x="815975" y="2045339"/>
            <a:ext cx="5175250" cy="1080770"/>
          </a:xfrm>
          <a:prstGeom prst="roundRect">
            <a:avLst>
              <a:gd name="adj" fmla="val 9107"/>
            </a:avLst>
          </a:prstGeom>
          <a:solidFill>
            <a:srgbClr val="F7FBFE"/>
          </a:solidFill>
          <a:ln w="6350">
            <a:solidFill>
              <a:srgbClr val="B9D9F0"/>
            </a:solidFill>
            <a:prstDash val="solid"/>
          </a:ln>
        </p:spPr>
      </p:sp>
      <p:pic>
        <p:nvPicPr>
          <p:cNvPr id="8" name="Image 2" descr="Settings">    </p:cNvPr>
          <p:cNvPicPr>
            <a:picLocks noChangeAspect="1"/>
          </p:cNvPicPr>
          <p:nvPr/>
        </p:nvPicPr>
        <p:blipFill>
          <a:blip r:embed="rId3"/>
          <a:srcRect l="0" r="0" t="0" b="0"/>
          <a:stretch/>
        </p:blipFill>
        <p:spPr>
          <a:xfrm>
            <a:off x="1071880" y="2407921"/>
            <a:ext cx="355600" cy="355600"/>
          </a:xfrm>
          <a:prstGeom prst="rect">
            <a:avLst/>
          </a:prstGeom>
        </p:spPr>
      </p:pic>
      <p:sp>
        <p:nvSpPr>
          <p:cNvPr id="9" name="Text 4"/>
          <p:cNvSpPr/>
          <p:nvPr/>
        </p:nvSpPr>
        <p:spPr>
          <a:xfrm>
            <a:off x="1579880" y="2301242"/>
            <a:ext cx="428010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Disable antivirus temporarily when a user installs software or transfers data</a:t>
            </a:r>
            <a:endParaRPr lang="en-US" sz="1600" dirty="0"/>
          </a:p>
        </p:txBody>
      </p:sp>
      <p:sp>
        <p:nvSpPr>
          <p:cNvPr id="10" name="Shape 5"/>
          <p:cNvSpPr/>
          <p:nvPr/>
        </p:nvSpPr>
        <p:spPr>
          <a:xfrm>
            <a:off x="6200775" y="2045339"/>
            <a:ext cx="5175250" cy="1080770"/>
          </a:xfrm>
          <a:prstGeom prst="roundRect">
            <a:avLst>
              <a:gd name="adj" fmla="val 9107"/>
            </a:avLst>
          </a:prstGeom>
          <a:solidFill>
            <a:srgbClr val="F7FBFE"/>
          </a:solidFill>
          <a:ln w="6350">
            <a:solidFill>
              <a:srgbClr val="B9D9F0"/>
            </a:solidFill>
            <a:prstDash val="solid"/>
          </a:ln>
        </p:spPr>
      </p:sp>
      <p:pic>
        <p:nvPicPr>
          <p:cNvPr id="11" name="Image 3" descr="Users">    </p:cNvPr>
          <p:cNvPicPr>
            <a:picLocks noChangeAspect="1"/>
          </p:cNvPicPr>
          <p:nvPr/>
        </p:nvPicPr>
        <p:blipFill>
          <a:blip r:embed="rId4"/>
          <a:srcRect l="0" r="0" t="0" b="0"/>
          <a:stretch/>
        </p:blipFill>
        <p:spPr>
          <a:xfrm>
            <a:off x="6456680" y="2407921"/>
            <a:ext cx="355600" cy="355600"/>
          </a:xfrm>
          <a:prstGeom prst="rect">
            <a:avLst/>
          </a:prstGeom>
        </p:spPr>
      </p:pic>
      <p:sp>
        <p:nvSpPr>
          <p:cNvPr id="12" name="Text 6"/>
          <p:cNvSpPr/>
          <p:nvPr/>
        </p:nvSpPr>
        <p:spPr>
          <a:xfrm>
            <a:off x="6964680" y="2443479"/>
            <a:ext cx="42801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Push the agent to users and apply the policy</a:t>
            </a:r>
            <a:endParaRPr lang="en-US" sz="1600" dirty="0"/>
          </a:p>
        </p:txBody>
      </p:sp>
      <p:sp>
        <p:nvSpPr>
          <p:cNvPr id="13" name="Shape 7"/>
          <p:cNvSpPr/>
          <p:nvPr/>
        </p:nvSpPr>
        <p:spPr>
          <a:xfrm>
            <a:off x="815975" y="3335654"/>
            <a:ext cx="5175250" cy="867410"/>
          </a:xfrm>
          <a:prstGeom prst="roundRect">
            <a:avLst>
              <a:gd name="adj" fmla="val 11347"/>
            </a:avLst>
          </a:prstGeom>
          <a:solidFill>
            <a:srgbClr val="F7FBFE"/>
          </a:solidFill>
          <a:ln w="6350">
            <a:solidFill>
              <a:srgbClr val="B9D9F0"/>
            </a:solidFill>
            <a:prstDash val="solid"/>
          </a:ln>
        </p:spPr>
      </p:sp>
      <p:pic>
        <p:nvPicPr>
          <p:cNvPr id="14" name="Image 4" descr="Lock">    </p:cNvPr>
          <p:cNvPicPr>
            <a:picLocks noChangeAspect="1"/>
          </p:cNvPicPr>
          <p:nvPr/>
        </p:nvPicPr>
        <p:blipFill>
          <a:blip r:embed="rId5"/>
          <a:srcRect l="0" r="0" t="0" b="0"/>
          <a:stretch/>
        </p:blipFill>
        <p:spPr>
          <a:xfrm>
            <a:off x="1071880" y="3591564"/>
            <a:ext cx="355600" cy="355600"/>
          </a:xfrm>
          <a:prstGeom prst="rect">
            <a:avLst/>
          </a:prstGeom>
        </p:spPr>
      </p:pic>
      <p:sp>
        <p:nvSpPr>
          <p:cNvPr id="15" name="Text 8"/>
          <p:cNvSpPr/>
          <p:nvPr/>
        </p:nvSpPr>
        <p:spPr>
          <a:xfrm>
            <a:off x="1579880" y="3627121"/>
            <a:ext cx="42801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Enable or disable USB ports for users</a:t>
            </a:r>
            <a:endParaRPr lang="en-US" sz="1600" dirty="0"/>
          </a:p>
        </p:txBody>
      </p:sp>
      <p:sp>
        <p:nvSpPr>
          <p:cNvPr id="16" name="Shape 9"/>
          <p:cNvSpPr/>
          <p:nvPr/>
        </p:nvSpPr>
        <p:spPr>
          <a:xfrm>
            <a:off x="6200775" y="3335654"/>
            <a:ext cx="5175250" cy="867410"/>
          </a:xfrm>
          <a:prstGeom prst="roundRect">
            <a:avLst>
              <a:gd name="adj" fmla="val 11347"/>
            </a:avLst>
          </a:prstGeom>
          <a:solidFill>
            <a:srgbClr val="F7FBFE"/>
          </a:solidFill>
          <a:ln w="6350">
            <a:solidFill>
              <a:srgbClr val="B9D9F0"/>
            </a:solidFill>
            <a:prstDash val="solid"/>
          </a:ln>
        </p:spPr>
      </p:sp>
      <p:pic>
        <p:nvPicPr>
          <p:cNvPr id="17" name="Image 5" descr="Key">    </p:cNvPr>
          <p:cNvPicPr>
            <a:picLocks noChangeAspect="1"/>
          </p:cNvPicPr>
          <p:nvPr/>
        </p:nvPicPr>
        <p:blipFill>
          <a:blip r:embed="rId6"/>
          <a:srcRect l="0" r="0" t="0" b="0"/>
          <a:stretch/>
        </p:blipFill>
        <p:spPr>
          <a:xfrm>
            <a:off x="6456680" y="3591564"/>
            <a:ext cx="355600" cy="355600"/>
          </a:xfrm>
          <a:prstGeom prst="rect">
            <a:avLst/>
          </a:prstGeom>
        </p:spPr>
      </p:pic>
      <p:sp>
        <p:nvSpPr>
          <p:cNvPr id="18" name="Text 10"/>
          <p:cNvSpPr/>
          <p:nvPr/>
        </p:nvSpPr>
        <p:spPr>
          <a:xfrm>
            <a:off x="6964680" y="3627121"/>
            <a:ext cx="42801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Set CD/DVD permissions</a:t>
            </a:r>
            <a:endParaRPr lang="en-US" sz="1600" dirty="0"/>
          </a:p>
        </p:txBody>
      </p:sp>
      <p:sp>
        <p:nvSpPr>
          <p:cNvPr id="19" name="Text 11"/>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0" name="Text 12"/>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Key takeaways</a:t>
            </a:r>
            <a:endParaRPr lang="en-US" sz="3200" dirty="0"/>
          </a:p>
        </p:txBody>
      </p:sp>
      <p:sp>
        <p:nvSpPr>
          <p:cNvPr id="7" name="Text 3"/>
          <p:cNvSpPr/>
          <p:nvPr/>
        </p:nvSpPr>
        <p:spPr>
          <a:xfrm>
            <a:off x="812800" y="1991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1</a:t>
            </a:r>
            <a:endParaRPr lang="en-US" sz="1600" dirty="0"/>
          </a:p>
        </p:txBody>
      </p:sp>
      <p:sp>
        <p:nvSpPr>
          <p:cNvPr id="8" name="Text 4"/>
          <p:cNvSpPr/>
          <p:nvPr/>
        </p:nvSpPr>
        <p:spPr>
          <a:xfrm>
            <a:off x="1320800" y="1991364"/>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Every complaint is ticketed and tracked, from help desk to zone engineer, until it is closed.</a:t>
            </a:r>
            <a:endParaRPr lang="en-US" sz="1600" dirty="0"/>
          </a:p>
        </p:txBody>
      </p:sp>
      <p:sp>
        <p:nvSpPr>
          <p:cNvPr id="9" name="Text 5"/>
          <p:cNvSpPr/>
          <p:nvPr/>
        </p:nvSpPr>
        <p:spPr>
          <a:xfrm>
            <a:off x="812800" y="2499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2</a:t>
            </a:r>
            <a:endParaRPr lang="en-US" sz="1600" dirty="0"/>
          </a:p>
        </p:txBody>
      </p:sp>
      <p:sp>
        <p:nvSpPr>
          <p:cNvPr id="10" name="Text 6"/>
          <p:cNvSpPr/>
          <p:nvPr/>
        </p:nvSpPr>
        <p:spPr>
          <a:xfrm>
            <a:off x="1320800" y="2499364"/>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85 physical servers run on RAID disks, with Hyper-V virtual servers for separate services.</a:t>
            </a:r>
            <a:endParaRPr lang="en-US" sz="1600" dirty="0"/>
          </a:p>
        </p:txBody>
      </p:sp>
      <p:sp>
        <p:nvSpPr>
          <p:cNvPr id="11" name="Text 7"/>
          <p:cNvSpPr/>
          <p:nvPr/>
        </p:nvSpPr>
        <p:spPr>
          <a:xfrm>
            <a:off x="812800" y="3007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3</a:t>
            </a:r>
            <a:endParaRPr lang="en-US" sz="1600" dirty="0"/>
          </a:p>
        </p:txBody>
      </p:sp>
      <p:sp>
        <p:nvSpPr>
          <p:cNvPr id="12" name="Text 8"/>
          <p:cNvSpPr/>
          <p:nvPr/>
        </p:nvSpPr>
        <p:spPr>
          <a:xfrm>
            <a:off x="1320800" y="3007364"/>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Trend Micro Apex One protects about 4,800 PCs and controls USB and CD/DVD access.</a:t>
            </a:r>
            <a:endParaRPr lang="en-US" sz="1600" dirty="0"/>
          </a:p>
        </p:txBody>
      </p:sp>
      <p:sp>
        <p:nvSpPr>
          <p:cNvPr id="13" name="Shape 9"/>
          <p:cNvSpPr/>
          <p:nvPr/>
        </p:nvSpPr>
        <p:spPr>
          <a:xfrm>
            <a:off x="812800" y="3616964"/>
            <a:ext cx="10566400" cy="1137920"/>
          </a:xfrm>
          <a:prstGeom prst="roundRect">
            <a:avLst>
              <a:gd name="adj" fmla="val 8929"/>
            </a:avLst>
          </a:prstGeom>
          <a:solidFill>
            <a:srgbClr val="0B2E5C"/>
          </a:solidFill>
          <a:ln/>
        </p:spPr>
      </p:sp>
      <p:sp>
        <p:nvSpPr>
          <p:cNvPr id="14" name="Text 10"/>
          <p:cNvSpPr/>
          <p:nvPr/>
        </p:nvSpPr>
        <p:spPr>
          <a:xfrm>
            <a:off x="1117600" y="3820164"/>
            <a:ext cx="10255504"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7FBFE"/>
                </a:solidFill>
                <a:latin typeface="IBM Plex Sans" pitchFamily="34" charset="0"/>
                <a:ea typeface="IBM Plex Sans" pitchFamily="34" charset="-122"/>
                <a:cs typeface="IBM Plex Sans" pitchFamily="34" charset="-120"/>
              </a:rPr>
              <a:t>Thank you. Questions?</a:t>
            </a:r>
            <a:endParaRPr lang="en-US" sz="3200" dirty="0"/>
          </a:p>
        </p:txBody>
      </p:sp>
      <p:sp>
        <p:nvSpPr>
          <p:cNvPr id="15" name="Text 11"/>
          <p:cNvSpPr/>
          <p:nvPr/>
        </p:nvSpPr>
        <p:spPr>
          <a:xfrm>
            <a:off x="1117600" y="4338321"/>
            <a:ext cx="102555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Training continues across the other ISBG sub-departments.</a:t>
            </a:r>
            <a:endParaRPr lang="en-US" sz="1200" dirty="0"/>
          </a:p>
        </p:txBody>
      </p:sp>
      <p:sp>
        <p:nvSpPr>
          <p:cNvPr id="16" name="Text 12"/>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7" name="Text 13"/>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theme/theme1.xml><?xml version="1.0" encoding="utf-8"?>
<a:theme xmlns:a="http://schemas.openxmlformats.org/drawingml/2006/main" name="ISBG Training Presentation">
  <a:themeElements>
    <a:clrScheme name="ISBG Training Presentation">
      <a:dk1>
        <a:srgbClr val="0B2E5C"/>
      </a:dk1>
      <a:lt1>
        <a:srgbClr val="E3F1FB"/>
      </a:lt1>
      <a:dk2>
        <a:srgbClr val="415F84"/>
      </a:dk2>
      <a:lt2>
        <a:srgbClr val="CDDEEB"/>
      </a:lt2>
      <a:accent1>
        <a:srgbClr val="46607A"/>
      </a:accent1>
      <a:accent2>
        <a:srgbClr val="84CBF0"/>
      </a:accent2>
      <a:accent3>
        <a:srgbClr val="0B5FB0"/>
      </a:accent3>
      <a:accent4>
        <a:srgbClr val="26384D"/>
      </a:accent4>
      <a:accent5>
        <a:srgbClr val="77C3EE"/>
      </a:accent5>
      <a:accent6>
        <a:srgbClr val="F2B14A"/>
      </a:accent6>
      <a:hlink>
        <a:srgbClr val="0563C1"/>
      </a:hlink>
      <a:folHlink>
        <a:srgbClr val="954F72"/>
      </a:folHlink>
    </a:clrScheme>
    <a:fontScheme name="ISBG Training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ISBG Training Presentation</dc:title>
  <dc:subject/>
  <dc:creator/>
  <cp:lastModifiedBy/>
  <cp:revision>1</cp:revision>
  <dcterms:created xsi:type="dcterms:W3CDTF">2026-10-09T18:21:14Z</dcterms:created>
  <dcterms:modified xsi:type="dcterms:W3CDTF">2026-10-09T18:21:14Z</dcterms:modified>
</cp:coreProperties>
</file>
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START (about 30 seconds): "Good morning sir. Over the last few weeks I have been going through the sub-departments of ISBG. I am posted in PC Maintenance, so I will first introduce ISBG very briefly, and then walk you through what I learned in PCM and in the Network Monitoring Center: the help desk, the servers, antivirus support and the network." TIPS: The whole talk is about 10 to 12 minutes, roughly one minute per slide. Speak slowly, look at your manager rather than the screen, and use the slides only as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"ISBG is the Information Systems division of the Bangalore Complex, and it is ISO/IEC 27001:2022 certified for information security. It looks after six areas: PC maintenance, network maintenance, payroll and attendance, web support, face recognition based attendance with flap barriers and biometrics, and SAP/ERP support for end users. I am posted in PC Maintenance, highlighted here, so the rest of my talk focuses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Do not read every line. Say: "Our vision is to lead in IT infrastructure support for internal customers, and our mission is customer delight. The values that guide the team are customers first, transparency and integrity, ethical practices, excellence, mutual trust and respect, and teamwork. ISBG is also certified under ISO/IEC 27001:2022, the information security standard. The certificate is version 2.0, dated 16 May 2025, valid from 16 December 2025 till 15 December 2028. The aim is to protect the confidentiality, integrity and availability of information, and ISBG supports mission-critical ERP and maintains the IT assets and network for all the SBUs of the Bangalore Complex."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is the main slide, so take your time. Start with the strip at the top: "PC Maintenance is the part of ISBG I am posted in. It covers help desk and field support, server maintenance and antivirus support, and also printers, workstations, thin clients and general hardware and software issues." Then walk the flow left to right: "When a user has a problem, they call the help desk. The first thing the help desk does is raise a ticket with the user's staff number, name and department. If it is a software issue, they first try to fix it through remote access. If that does not work, the ticket goes to the experts. If the experts cannot fix it, or the issue needs someone physically present, a zone engineer is sent. We have 12 zone engineers, and each covers a zone of 5 to 10 departments. Hardware issues also go to the zone engineer. Once the problem is fixed, the ticket is closed." Finally the zone row: "BEL has 16 SBUs divided across the 12 zones, so each zone has one or two SBUs and on average about 5 to 10 departments." BEFORE PRESENTING: the SBU names (SBU A to P) and the department counts in the 12 zone tiles are sample data. Replace them with the real SBU names and averages for each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"PCM maintains 85 physical servers in three categories: flat, mount and blade. To protect the data, the servers use RAID, which manages multiple hard disks together. We use RAID 1, which is mirroring, when there are two disks, and RAID 5, which is striping, when there are three or more. The disks are hot-swappable, so a faulty drive can be replaced without taking the server down." If asked: RAID 5 also keeps parity information, so it survives one disk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Say: "Each server is given a role. Active Directory holds user, computer and shared folder information. Adding or removing a user is done only with permission from the PCM head, and policies apply to staff, but senior officials have no restrictions. DHCP assigns IP addresses to all client PCs with a 30-day lease, so the IP of an idle PC can be given to a different PC. Static IP addresses are assigned manually, and only for servers. DNS resolves names. Hyper-V is virtualization software, so one physical server can host several operating systems, for example a virtual server for Active Directory. The Windows update service and the deployment server handle updates and OS installation, and the web server hosts web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Say: "For antivirus we use Trend Micro. The Apex One server is the primary endpoint protection service and manages about 4,800 PCs. Apex Central is the centralized management server. A SQL database server, running Microsoft SQL Server on a VM, stores the Apex One data. A separate backup server is powered on once a month, backs up the antivirus setup, and is shut down again." Then the bottom half: "Day to day, the antivirus team does four things. It disables the antivirus for a user when they need to install software or transfer data. It pushes the agent to users under a policy. It enables or disables USB ports for users. And it sets CD/DVD permissions. These controls help keep the network safe while still letting users do their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"The next sub-department I learned about is the NMC, the Network Monitoring Center. It monitors the BEL network and takes action when something goes wrong. Its main responsibilities are giving new network connections, resolving network issues, and handling network hardware problems such as switches and routers." The four "Also part of NMC work" items are general good practice for a network center. Mention only the ones you actually saw, and drop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Say: "BEL has two kinds of network, the intranet and the internet, and they are kept separate. The intranet carries the ERP, internal mail, IP telephony and video conferencing. The internet network is used for external mail, browsing and e-procurement. The intranet is divided into three zones. The MCE zone is the main zone and connects the other zones. Its IP series is 172.193. The MS-DC zone uses 172.195 and the EW&amp;A-DC zone uses 172.194. The zones are connected in a ring topology. In a ring, every zone is connected to two neighbours, so the connections form a closed loop. The benefit is redundancy: if one link between two zones fails, traffic can still reach its destination the other way around. From each zone, connections go out to the departments it serves, and the MCE zone serves many departments." The intranet and internet service lists come from the ISBG ISO 27001 reference deck. I have not expanded MCE, MS-DC or EW&amp;A-DC because the full forms were not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redrawn intranet architecture diagram. Walk through it from the middle outwards. Say: "The intranet is built around three zones, MCE-DC, EW&amp;A-DC and MS-DC. Each has its own core switch and firewall, and the IP series are 172.193, 172.194 and 172.195. The zones are joined to each other by 2 x 100G links, so they form a triangle with no single point of failure. Users connect through access switches with 10G downlinks, using PCs and VoIP phones. The data-centre servers, such as the SAP server, VC, the SIP server for voice and the VDI-DC, are attached at MCE-DC. Voice also has its own separate VoIP network with its own core switches and 2 x 40G links, shown by the dashed lines." BEFORE PRESENTING: I redrew this from a sideways photo. Check the link speeds (2 x 100G, 2 x 40G, 10G) and which servers sit at MCE-DC against your printed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Say: "To summarise the architecture: there are three zones, each with its own core switch and firewall, and MCE-DC is the main one, where the data-centre servers are attached. The zones are joined by 2 x 100G links in a triangle, so the network keeps working if one link fails. Users connect through access switches over 10G downlinks. Voice runs on its own separate VoIP network, so calls do not compete with data traffic." Keep the firewall details light unless you are asked: the diagram shows a firewall at each zone, with active-active firewalls for the data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"BEL keeps the intranet and the internet as physically separate networks, which is called an air gap. Where data has to pass from one network to the other, we use a data diode. A data diode is a hardware device that allows data to travel in one direction only. Inside it, the sending side has only a transmitter that turns the data into a light signal, and the receiving side has only a receiver that turns the light back into data. There is no hardware path in the opposite direction, so nothing can travel back. This means malware or a remote attacker on the outside cannot reach the protected network through it, and data cannot leak back the other way." BEFORE PRESENTING: I have drawn the diode generically as source to destination, because the direction BEL uses was not given. If you know which way data flows (for example, internet to intranet or the reverse), change the two box labels. The light-signal explanation is how optical data diodes work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"To monitor the network the NMC uses NNMi, which stands for Network Node Manager i. It automatically discovers the network devices and shows how they are connected. It monitors the health of devices and links, and raises an alert when something goes down, which helps the team find the root cause quickly. We also support the WIQAS network, which is a separate network used by the Army, Navy and Air Force so that each service can communicate on its own network." BEFORE PRESENTING: replace the WIQAS placeholder with its full form. I could not confirm it, so I did not guess. Ask your guide or check the training notes, and do not spend time on it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END (about 45 seconds): Read the four takeaways in your own words, then say: "To summarise, in PCM I learned how complaints are handled from the help desk to the zone engineers, how the 85 servers are protected and organised, and how antivirus is managed for about 4,800 PCs. I also learned how the NMC monitors the BEL network and resolves faults. My training in the other ISBG sub-departments is still continuing. Thank you, sir. I would be happy to take any questions and would value your feedback." TIPS FOR Q&amp;A: If you do not know an answer, say "I will check with the team and confirm" instead of guessing. Keep a few facts ready: 85 servers, 12 zone engineers covering 5 to 10 departments each, about 4,800 PCs on Apex One, 30-day DHCP lease, intranet zones 172.193 (MCE, main), 172.194 (EW&amp;A-DC) and 172.195 (MS-DC) in a 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3F1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B2E5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42160"/>
            <a:ext cx="10566400" cy="4003040"/>
          </a:xfrm>
          <a:prstGeom prst="rect">
            <a:avLst/>
          </a:prstGeom>
          <a:noFill/>
          <a:ln/>
        </p:spPr>
        <p:txBody>
          <a:bodyPr wrap="square" lIns="0" tIns="0" rIns="0" bIns="0" rtlCol="0" anchor="t"/>
          <a:lstStyle>
            <a:lvl1pPr algn="l" indent="0" marL="0">
              <a:lnSpc>
                <a:spcPct val="140000"/>
              </a:lnSpc>
              <a:buNone/>
              <a:defRPr lang="en-US" sz="1600" dirty="0">
                <a:solidFill>
                  <a:srgbClr val="0B2E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3F1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B2E5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42160"/>
            <a:ext cx="10566400" cy="4003040"/>
          </a:xfrm>
          <a:prstGeom prst="rect">
            <a:avLst/>
          </a:prstGeom>
          <a:noFill/>
          <a:ln/>
        </p:spPr>
        <p:txBody>
          <a:bodyPr wrap="square" lIns="0" tIns="0" rIns="0" bIns="0" rtlCol="0" anchor="t"/>
          <a:lstStyle>
            <a:lvl1pPr algn="l" indent="0" marL="0">
              <a:lnSpc>
                <a:spcPct val="140000"/>
              </a:lnSpc>
              <a:buNone/>
              <a:defRPr lang="en-US" sz="1600" dirty="0">
                <a:solidFill>
                  <a:srgbClr val="0B2E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2.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F7F"/>
        </a:solidFill>
      </p:bgPr>
    </p:bg>
    <p:spTree>
      <p:nvGrpSpPr>
        <p:cNvPr id="1" name=""/>
        <p:cNvGrpSpPr/>
        <p:nvPr/>
      </p:nvGrpSpPr>
      <p:grpSpPr>
        <a:xfrm>
          <a:off x="0" y="0"/>
          <a:ext cx="0" cy="0"/>
          <a:chOff x="0" y="0"/>
          <a:chExt cx="0" cy="0"/>
        </a:xfrm>
      </p:grpSpPr>
      <p:pic>
        <p:nvPicPr>
          <p:cNvPr id="2" name="Image 0" descr="BEL technology collage: a radar vehicle, a field radio operator and a warship">    </p:cNvPr>
          <p:cNvPicPr>
            <a:picLocks noChangeAspect="1"/>
          </p:cNvPicPr>
          <p:nvPr/>
        </p:nvPicPr>
        <p:blipFill>
          <a:blip r:embed="rId1"/>
          <a:srcRect l="0" r="0" t="0" b="0"/>
          <a:stretch/>
        </p:blipFill>
        <p:spPr>
          <a:xfrm>
            <a:off x="0" y="0"/>
            <a:ext cx="9144000" cy="6858000"/>
          </a:xfrm>
          <a:prstGeom prst="rect">
            <a:avLst/>
          </a:prstGeom>
        </p:spPr>
      </p:pic>
      <p:sp>
        <p:nvSpPr>
          <p:cNvPr id="3" name="Shape 0"/>
          <p:cNvSpPr/>
          <p:nvPr/>
        </p:nvSpPr>
        <p:spPr>
          <a:xfrm>
            <a:off x="9144000" y="0"/>
            <a:ext cx="3048000" cy="6858000"/>
          </a:xfrm>
          <a:prstGeom prst="rect">
            <a:avLst/>
          </a:prstGeom>
          <a:gradFill rotWithShape="1">
            <a:gsLst>
              <a:gs pos="0">
                <a:srgbClr val="0B5FB0"/>
              </a:gs>
              <a:gs pos="100000">
                <a:srgbClr val="0B2E5C"/>
              </a:gs>
            </a:gsLst>
            <a:lin ang="5400000" scaled="0"/>
          </a:gradFill>
          <a:ln/>
        </p:spPr>
      </p:sp>
      <p:sp>
        <p:nvSpPr>
          <p:cNvPr id="4" name="Text 1"/>
          <p:cNvSpPr/>
          <p:nvPr/>
        </p:nvSpPr>
        <p:spPr>
          <a:xfrm>
            <a:off x="9448800" y="609600"/>
            <a:ext cx="1969008"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TRAINING REVIEW</a:t>
            </a:r>
            <a:endParaRPr lang="en-US" sz="1200" dirty="0"/>
          </a:p>
        </p:txBody>
      </p:sp>
      <p:sp>
        <p:nvSpPr>
          <p:cNvPr id="5" name="Shape 2"/>
          <p:cNvSpPr/>
          <p:nvPr/>
        </p:nvSpPr>
        <p:spPr>
          <a:xfrm>
            <a:off x="9448800" y="2727960"/>
            <a:ext cx="609600" cy="50800"/>
          </a:xfrm>
          <a:prstGeom prst="rect">
            <a:avLst/>
          </a:prstGeom>
          <a:solidFill>
            <a:srgbClr val="F2B14A"/>
          </a:solidFill>
          <a:ln/>
        </p:spPr>
      </p:sp>
      <p:sp>
        <p:nvSpPr>
          <p:cNvPr id="6" name="Text 3"/>
          <p:cNvSpPr/>
          <p:nvPr/>
        </p:nvSpPr>
        <p:spPr>
          <a:xfrm>
            <a:off x="9448800" y="2880360"/>
            <a:ext cx="22982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M SHAKTHI RAJ</a:t>
            </a:r>
            <a:endParaRPr lang="en-US" sz="2000" dirty="0"/>
          </a:p>
        </p:txBody>
      </p:sp>
      <p:sp>
        <p:nvSpPr>
          <p:cNvPr id="7" name="Text 4"/>
          <p:cNvSpPr/>
          <p:nvPr/>
        </p:nvSpPr>
        <p:spPr>
          <a:xfrm>
            <a:off x="9448800" y="3286760"/>
            <a:ext cx="1972697"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D6EAFA"/>
                </a:solidFill>
                <a:latin typeface="IBM Plex Sans" pitchFamily="34" charset="0"/>
                <a:ea typeface="IBM Plex Sans" pitchFamily="34" charset="-122"/>
                <a:cs typeface="IBM Plex Sans" pitchFamily="34" charset="-120"/>
              </a:rPr>
              <a:t>Engineer Assistant</a:t>
            </a:r>
            <a:endParaRPr lang="en-US" sz="1600" dirty="0"/>
          </a:p>
        </p:txBody>
      </p:sp>
      <p:sp>
        <p:nvSpPr>
          <p:cNvPr id="8" name="Text 5"/>
          <p:cNvSpPr/>
          <p:nvPr/>
        </p:nvSpPr>
        <p:spPr>
          <a:xfrm>
            <a:off x="9448800" y="3652520"/>
            <a:ext cx="1972697"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D6EAFA"/>
                </a:solidFill>
                <a:latin typeface="IBM Plex Sans" pitchFamily="34" charset="0"/>
                <a:ea typeface="IBM Plex Sans" pitchFamily="34" charset="-122"/>
                <a:cs typeface="IBM Plex Sans" pitchFamily="34" charset="-120"/>
              </a:rPr>
              <a:t>30/10/2026</a:t>
            </a:r>
            <a:endParaRPr lang="en-US" sz="1600" dirty="0"/>
          </a:p>
        </p:txBody>
      </p:sp>
      <p:sp>
        <p:nvSpPr>
          <p:cNvPr id="9" name="Text 6"/>
          <p:cNvSpPr/>
          <p:nvPr/>
        </p:nvSpPr>
        <p:spPr>
          <a:xfrm>
            <a:off x="9448800" y="5821680"/>
            <a:ext cx="25115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Information Systems, Bangalore Complex</a:t>
            </a:r>
            <a:endParaRPr lang="en-US" sz="1200" dirty="0"/>
          </a:p>
        </p:txBody>
      </p:sp>
      <p:pic>
        <p:nvPicPr>
          <p:cNvPr id="10" name="Image 1" descr="Bharat Electronics logo">    </p:cNvPr>
          <p:cNvPicPr>
            <a:picLocks noChangeAspect="1"/>
          </p:cNvPicPr>
          <p:nvPr/>
        </p:nvPicPr>
        <p:blipFill>
          <a:blip r:embed="rId2"/>
          <a:srcRect l="0" r="0" t="-37" b="-37"/>
          <a:stretch/>
        </p:blipFill>
        <p:spPr>
          <a:xfrm>
            <a:off x="3460750" y="381000"/>
            <a:ext cx="2228850" cy="660400"/>
          </a:xfrm>
          <a:prstGeom prst="rect">
            <a:avLst/>
          </a:prstGeom>
        </p:spPr>
      </p:pic>
      <p:sp>
        <p:nvSpPr>
          <p:cNvPr id="11" name="Text 7"/>
          <p:cNvSpPr/>
          <p:nvPr>
            <p:ph type="title"/>
          </p:nvPr>
        </p:nvSpPr>
        <p:spPr>
          <a:xfrm>
            <a:off x="1904913" y="5245100"/>
            <a:ext cx="5334095" cy="492760"/>
          </a:xfrm>
          <a:prstGeom prst="rect">
            <a:avLst/>
          </a:prstGeom>
          <a:noFill/>
          <a:ln/>
        </p:spPr>
        <p:txBody>
          <a:bodyPr wrap="square" lIns="0" tIns="0" rIns="0" bIns="0" rtlCol="0" anchor="t">
            <a:normAutofit/>
          </a:bodyPr>
          <a:lstStyle/>
          <a:p>
            <a:pPr algn="ctr"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What I Learned at ISBG</a:t>
            </a:r>
            <a:endParaRPr lang="en-US" sz="3200" dirty="0"/>
          </a:p>
        </p:txBody>
      </p:sp>
      <p:sp>
        <p:nvSpPr>
          <p:cNvPr id="12" name="Text 8"/>
          <p:cNvSpPr/>
          <p:nvPr/>
        </p:nvSpPr>
        <p:spPr>
          <a:xfrm>
            <a:off x="1442180" y="5788660"/>
            <a:ext cx="6259640"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0B4A8F"/>
                </a:solidFill>
                <a:latin typeface="IBM Plex Sans" pitchFamily="34" charset="0"/>
                <a:ea typeface="IBM Plex Sans" pitchFamily="34" charset="-122"/>
                <a:cs typeface="IBM Plex Sans" pitchFamily="34" charset="-120"/>
              </a:rPr>
              <a:t>Information Systems Bangalore · PC Maintenance (PCM)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About ISBG</a:t>
            </a:r>
            <a:endParaRPr lang="en-US" sz="3200" dirty="0"/>
          </a:p>
        </p:txBody>
      </p:sp>
      <p:sp>
        <p:nvSpPr>
          <p:cNvPr id="7" name="Text 3"/>
          <p:cNvSpPr/>
          <p:nvPr/>
        </p:nvSpPr>
        <p:spPr>
          <a:xfrm>
            <a:off x="812800" y="199136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ISO/IEC 27001:2022 certified · my posting is highlighted</a:t>
            </a:r>
            <a:endParaRPr lang="en-US" sz="1600" dirty="0"/>
          </a:p>
        </p:txBody>
      </p:sp>
      <p:sp>
        <p:nvSpPr>
          <p:cNvPr id="8" name="Shape 4"/>
          <p:cNvSpPr/>
          <p:nvPr/>
        </p:nvSpPr>
        <p:spPr>
          <a:xfrm>
            <a:off x="815975" y="2533015"/>
            <a:ext cx="3380264" cy="1233170"/>
          </a:xfrm>
          <a:prstGeom prst="roundRect">
            <a:avLst>
              <a:gd name="adj" fmla="val 7981"/>
            </a:avLst>
          </a:prstGeom>
          <a:solidFill>
            <a:srgbClr val="0B5FB0"/>
          </a:solidFill>
          <a:ln w="6350">
            <a:solidFill>
              <a:srgbClr val="0B5FB0"/>
            </a:solidFill>
            <a:prstDash val="solid"/>
          </a:ln>
        </p:spPr>
      </p:sp>
      <p:pic>
        <p:nvPicPr>
          <p:cNvPr id="9" name="Image 2" descr="Tool">    </p:cNvPr>
          <p:cNvPicPr>
            <a:picLocks noChangeAspect="1"/>
          </p:cNvPicPr>
          <p:nvPr/>
        </p:nvPicPr>
        <p:blipFill>
          <a:blip r:embed="rId3"/>
          <a:srcRect l="0" r="0" t="0" b="0"/>
          <a:stretch/>
        </p:blipFill>
        <p:spPr>
          <a:xfrm>
            <a:off x="1071880" y="2971800"/>
            <a:ext cx="355600" cy="355600"/>
          </a:xfrm>
          <a:prstGeom prst="rect">
            <a:avLst/>
          </a:prstGeom>
        </p:spPr>
      </p:pic>
      <p:sp>
        <p:nvSpPr>
          <p:cNvPr id="10" name="Text 5"/>
          <p:cNvSpPr/>
          <p:nvPr/>
        </p:nvSpPr>
        <p:spPr>
          <a:xfrm>
            <a:off x="1579880" y="2895600"/>
            <a:ext cx="2431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PC Maintenance</a:t>
            </a:r>
            <a:endParaRPr lang="en-US" sz="1600" dirty="0"/>
          </a:p>
        </p:txBody>
      </p:sp>
      <p:sp>
        <p:nvSpPr>
          <p:cNvPr id="11" name="Text 6"/>
          <p:cNvSpPr/>
          <p:nvPr/>
        </p:nvSpPr>
        <p:spPr>
          <a:xfrm>
            <a:off x="1579880" y="3190240"/>
            <a:ext cx="2431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Hardware and software support</a:t>
            </a:r>
            <a:endParaRPr lang="en-US" sz="1200" dirty="0"/>
          </a:p>
        </p:txBody>
      </p:sp>
      <p:sp>
        <p:nvSpPr>
          <p:cNvPr id="12" name="Shape 7"/>
          <p:cNvSpPr/>
          <p:nvPr/>
        </p:nvSpPr>
        <p:spPr>
          <a:xfrm>
            <a:off x="4405789" y="2533015"/>
            <a:ext cx="3380343" cy="1233170"/>
          </a:xfrm>
          <a:prstGeom prst="roundRect">
            <a:avLst>
              <a:gd name="adj" fmla="val 7981"/>
            </a:avLst>
          </a:prstGeom>
          <a:solidFill>
            <a:srgbClr val="F7FBFE"/>
          </a:solidFill>
          <a:ln w="6350">
            <a:solidFill>
              <a:srgbClr val="B9D9F0"/>
            </a:solidFill>
            <a:prstDash val="solid"/>
          </a:ln>
        </p:spPr>
      </p:sp>
      <p:pic>
        <p:nvPicPr>
          <p:cNvPr id="13" name="Image 3" descr="Globe">    </p:cNvPr>
          <p:cNvPicPr>
            <a:picLocks noChangeAspect="1"/>
          </p:cNvPicPr>
          <p:nvPr/>
        </p:nvPicPr>
        <p:blipFill>
          <a:blip r:embed="rId4"/>
          <a:srcRect l="0" r="0" t="0" b="0"/>
          <a:stretch/>
        </p:blipFill>
        <p:spPr>
          <a:xfrm>
            <a:off x="4661694" y="2971800"/>
            <a:ext cx="355600" cy="355600"/>
          </a:xfrm>
          <a:prstGeom prst="rect">
            <a:avLst/>
          </a:prstGeom>
        </p:spPr>
      </p:pic>
      <p:sp>
        <p:nvSpPr>
          <p:cNvPr id="14" name="Text 8"/>
          <p:cNvSpPr/>
          <p:nvPr/>
        </p:nvSpPr>
        <p:spPr>
          <a:xfrm>
            <a:off x="5169694" y="289560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Network Maintenance</a:t>
            </a:r>
            <a:endParaRPr lang="en-US" sz="1600" dirty="0"/>
          </a:p>
        </p:txBody>
      </p:sp>
      <p:sp>
        <p:nvSpPr>
          <p:cNvPr id="15" name="Text 9"/>
          <p:cNvSpPr/>
          <p:nvPr/>
        </p:nvSpPr>
        <p:spPr>
          <a:xfrm>
            <a:off x="5169694" y="3190240"/>
            <a:ext cx="24313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Internet and intranet upkeep</a:t>
            </a:r>
            <a:endParaRPr lang="en-US" sz="1200" dirty="0"/>
          </a:p>
        </p:txBody>
      </p:sp>
      <p:sp>
        <p:nvSpPr>
          <p:cNvPr id="16" name="Shape 10"/>
          <p:cNvSpPr/>
          <p:nvPr/>
        </p:nvSpPr>
        <p:spPr>
          <a:xfrm>
            <a:off x="7995682" y="2533015"/>
            <a:ext cx="3380343" cy="1233170"/>
          </a:xfrm>
          <a:prstGeom prst="roundRect">
            <a:avLst>
              <a:gd name="adj" fmla="val 7981"/>
            </a:avLst>
          </a:prstGeom>
          <a:solidFill>
            <a:srgbClr val="F7FBFE"/>
          </a:solidFill>
          <a:ln w="6350">
            <a:solidFill>
              <a:srgbClr val="B9D9F0"/>
            </a:solidFill>
            <a:prstDash val="solid"/>
          </a:ln>
        </p:spPr>
      </p:sp>
      <p:pic>
        <p:nvPicPr>
          <p:cNvPr id="17" name="Image 4" descr="Users">    </p:cNvPr>
          <p:cNvPicPr>
            <a:picLocks noChangeAspect="1"/>
          </p:cNvPicPr>
          <p:nvPr/>
        </p:nvPicPr>
        <p:blipFill>
          <a:blip r:embed="rId5"/>
          <a:srcRect l="0" r="0" t="0" b="0"/>
          <a:stretch/>
        </p:blipFill>
        <p:spPr>
          <a:xfrm>
            <a:off x="8251587" y="2971800"/>
            <a:ext cx="355600" cy="355600"/>
          </a:xfrm>
          <a:prstGeom prst="rect">
            <a:avLst/>
          </a:prstGeom>
        </p:spPr>
      </p:pic>
      <p:sp>
        <p:nvSpPr>
          <p:cNvPr id="18" name="Text 11"/>
          <p:cNvSpPr/>
          <p:nvPr/>
        </p:nvSpPr>
        <p:spPr>
          <a:xfrm>
            <a:off x="8759587" y="278892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Payroll and Attendance</a:t>
            </a:r>
            <a:endParaRPr lang="en-US" sz="1600" dirty="0"/>
          </a:p>
        </p:txBody>
      </p:sp>
      <p:sp>
        <p:nvSpPr>
          <p:cNvPr id="19" name="Text 12"/>
          <p:cNvSpPr/>
          <p:nvPr/>
        </p:nvSpPr>
        <p:spPr>
          <a:xfrm>
            <a:off x="8759587" y="3083560"/>
            <a:ext cx="24313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Permanent, temporary and contract staff</a:t>
            </a:r>
            <a:endParaRPr lang="en-US" sz="1200" dirty="0"/>
          </a:p>
        </p:txBody>
      </p:sp>
      <p:sp>
        <p:nvSpPr>
          <p:cNvPr id="20" name="Shape 13"/>
          <p:cNvSpPr/>
          <p:nvPr/>
        </p:nvSpPr>
        <p:spPr>
          <a:xfrm>
            <a:off x="815975" y="3975735"/>
            <a:ext cx="3380264" cy="1263650"/>
          </a:xfrm>
          <a:prstGeom prst="roundRect">
            <a:avLst>
              <a:gd name="adj" fmla="val 7789"/>
            </a:avLst>
          </a:prstGeom>
          <a:solidFill>
            <a:srgbClr val="F7FBFE"/>
          </a:solidFill>
          <a:ln w="6350">
            <a:solidFill>
              <a:srgbClr val="B9D9F0"/>
            </a:solidFill>
            <a:prstDash val="solid"/>
          </a:ln>
        </p:spPr>
      </p:sp>
      <p:pic>
        <p:nvPicPr>
          <p:cNvPr id="21" name="Image 5" descr="Code">    </p:cNvPr>
          <p:cNvPicPr>
            <a:picLocks noChangeAspect="1"/>
          </p:cNvPicPr>
          <p:nvPr/>
        </p:nvPicPr>
        <p:blipFill>
          <a:blip r:embed="rId6"/>
          <a:srcRect l="0" r="0" t="0" b="0"/>
          <a:stretch/>
        </p:blipFill>
        <p:spPr>
          <a:xfrm>
            <a:off x="1071880" y="4429760"/>
            <a:ext cx="355600" cy="355600"/>
          </a:xfrm>
          <a:prstGeom prst="rect">
            <a:avLst/>
          </a:prstGeom>
        </p:spPr>
      </p:pic>
      <p:sp>
        <p:nvSpPr>
          <p:cNvPr id="22" name="Text 14"/>
          <p:cNvSpPr/>
          <p:nvPr/>
        </p:nvSpPr>
        <p:spPr>
          <a:xfrm>
            <a:off x="1579880" y="4353560"/>
            <a:ext cx="2431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Web Support</a:t>
            </a:r>
            <a:endParaRPr lang="en-US" sz="1600" dirty="0"/>
          </a:p>
        </p:txBody>
      </p:sp>
      <p:sp>
        <p:nvSpPr>
          <p:cNvPr id="23" name="Text 15"/>
          <p:cNvSpPr/>
          <p:nvPr/>
        </p:nvSpPr>
        <p:spPr>
          <a:xfrm>
            <a:off x="1579880" y="4648200"/>
            <a:ext cx="2431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Intranet applications</a:t>
            </a:r>
            <a:endParaRPr lang="en-US" sz="1200" dirty="0"/>
          </a:p>
        </p:txBody>
      </p:sp>
      <p:sp>
        <p:nvSpPr>
          <p:cNvPr id="24" name="Shape 16"/>
          <p:cNvSpPr/>
          <p:nvPr/>
        </p:nvSpPr>
        <p:spPr>
          <a:xfrm>
            <a:off x="4405789" y="3975735"/>
            <a:ext cx="3380343" cy="1263650"/>
          </a:xfrm>
          <a:prstGeom prst="roundRect">
            <a:avLst>
              <a:gd name="adj" fmla="val 7789"/>
            </a:avLst>
          </a:prstGeom>
          <a:solidFill>
            <a:srgbClr val="F7FBFE"/>
          </a:solidFill>
          <a:ln w="6350">
            <a:solidFill>
              <a:srgbClr val="B9D9F0"/>
            </a:solidFill>
            <a:prstDash val="solid"/>
          </a:ln>
        </p:spPr>
      </p:sp>
      <p:pic>
        <p:nvPicPr>
          <p:cNvPr id="25" name="Image 6" descr="Verified">    </p:cNvPr>
          <p:cNvPicPr>
            <a:picLocks noChangeAspect="1"/>
          </p:cNvPicPr>
          <p:nvPr/>
        </p:nvPicPr>
        <p:blipFill>
          <a:blip r:embed="rId7"/>
          <a:srcRect l="0" r="0" t="0" b="0"/>
          <a:stretch/>
        </p:blipFill>
        <p:spPr>
          <a:xfrm>
            <a:off x="4661694" y="4429760"/>
            <a:ext cx="355600" cy="355600"/>
          </a:xfrm>
          <a:prstGeom prst="rect">
            <a:avLst/>
          </a:prstGeom>
        </p:spPr>
      </p:pic>
      <p:sp>
        <p:nvSpPr>
          <p:cNvPr id="26" name="Text 17"/>
          <p:cNvSpPr/>
          <p:nvPr/>
        </p:nvSpPr>
        <p:spPr>
          <a:xfrm>
            <a:off x="5169694" y="4231640"/>
            <a:ext cx="2431349"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Face Recognition Attendance</a:t>
            </a:r>
            <a:endParaRPr lang="en-US" sz="1600" dirty="0"/>
          </a:p>
        </p:txBody>
      </p:sp>
      <p:sp>
        <p:nvSpPr>
          <p:cNvPr id="27" name="Text 18"/>
          <p:cNvSpPr/>
          <p:nvPr/>
        </p:nvSpPr>
        <p:spPr>
          <a:xfrm>
            <a:off x="5169694" y="4770120"/>
            <a:ext cx="24313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Flap barriers and biometrics</a:t>
            </a:r>
            <a:endParaRPr lang="en-US" sz="1200" dirty="0"/>
          </a:p>
        </p:txBody>
      </p:sp>
      <p:sp>
        <p:nvSpPr>
          <p:cNvPr id="28" name="Shape 19"/>
          <p:cNvSpPr/>
          <p:nvPr/>
        </p:nvSpPr>
        <p:spPr>
          <a:xfrm>
            <a:off x="7995682" y="3975735"/>
            <a:ext cx="3380343" cy="1263650"/>
          </a:xfrm>
          <a:prstGeom prst="roundRect">
            <a:avLst>
              <a:gd name="adj" fmla="val 7789"/>
            </a:avLst>
          </a:prstGeom>
          <a:solidFill>
            <a:srgbClr val="F7FBFE"/>
          </a:solidFill>
          <a:ln w="6350">
            <a:solidFill>
              <a:srgbClr val="B9D9F0"/>
            </a:solidFill>
            <a:prstDash val="solid"/>
          </a:ln>
        </p:spPr>
      </p:sp>
      <p:pic>
        <p:nvPicPr>
          <p:cNvPr id="29" name="Image 7" descr="Database">    </p:cNvPr>
          <p:cNvPicPr>
            <a:picLocks noChangeAspect="1"/>
          </p:cNvPicPr>
          <p:nvPr/>
        </p:nvPicPr>
        <p:blipFill>
          <a:blip r:embed="rId8"/>
          <a:srcRect l="0" r="0" t="0" b="0"/>
          <a:stretch/>
        </p:blipFill>
        <p:spPr>
          <a:xfrm>
            <a:off x="8251587" y="4429760"/>
            <a:ext cx="355600" cy="355600"/>
          </a:xfrm>
          <a:prstGeom prst="rect">
            <a:avLst/>
          </a:prstGeom>
        </p:spPr>
      </p:pic>
      <p:sp>
        <p:nvSpPr>
          <p:cNvPr id="30" name="Text 20"/>
          <p:cNvSpPr/>
          <p:nvPr/>
        </p:nvSpPr>
        <p:spPr>
          <a:xfrm>
            <a:off x="8759587" y="435356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SAP / ERP Support</a:t>
            </a:r>
            <a:endParaRPr lang="en-US" sz="1600" dirty="0"/>
          </a:p>
        </p:txBody>
      </p:sp>
      <p:sp>
        <p:nvSpPr>
          <p:cNvPr id="31" name="Text 21"/>
          <p:cNvSpPr/>
          <p:nvPr/>
        </p:nvSpPr>
        <p:spPr>
          <a:xfrm>
            <a:off x="8759587" y="4648200"/>
            <a:ext cx="26132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Help for end users at the complex</a:t>
            </a:r>
            <a:endParaRPr lang="en-US" sz="1200" dirty="0"/>
          </a:p>
        </p:txBody>
      </p:sp>
      <p:sp>
        <p:nvSpPr>
          <p:cNvPr id="32" name="Text 22"/>
          <p:cNvSpPr/>
          <p:nvPr/>
        </p:nvSpPr>
        <p:spPr>
          <a:xfrm>
            <a:off x="812800" y="63398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3" name="Text 23"/>
          <p:cNvSpPr/>
          <p:nvPr/>
        </p:nvSpPr>
        <p:spPr>
          <a:xfrm>
            <a:off x="10058400" y="63398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Vision, values and information security</a:t>
            </a:r>
            <a:endParaRPr lang="en-US" sz="3200" dirty="0"/>
          </a:p>
        </p:txBody>
      </p:sp>
      <p:sp>
        <p:nvSpPr>
          <p:cNvPr id="7" name="Shape 3"/>
          <p:cNvSpPr/>
          <p:nvPr/>
        </p:nvSpPr>
        <p:spPr>
          <a:xfrm>
            <a:off x="812800" y="1889761"/>
            <a:ext cx="6110208" cy="2509520"/>
          </a:xfrm>
          <a:prstGeom prst="roundRect">
            <a:avLst>
              <a:gd name="adj" fmla="val 4049"/>
            </a:avLst>
          </a:prstGeom>
          <a:solidFill>
            <a:srgbClr val="0B2E5C"/>
          </a:solidFill>
          <a:ln/>
        </p:spPr>
      </p:sp>
      <p:sp>
        <p:nvSpPr>
          <p:cNvPr id="8" name="Text 4"/>
          <p:cNvSpPr/>
          <p:nvPr/>
        </p:nvSpPr>
        <p:spPr>
          <a:xfrm>
            <a:off x="1066800" y="2092961"/>
            <a:ext cx="5770274"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VISION</a:t>
            </a:r>
            <a:endParaRPr lang="en-US" sz="1200" dirty="0"/>
          </a:p>
        </p:txBody>
      </p:sp>
      <p:sp>
        <p:nvSpPr>
          <p:cNvPr id="9" name="Text 5"/>
          <p:cNvSpPr/>
          <p:nvPr/>
        </p:nvSpPr>
        <p:spPr>
          <a:xfrm>
            <a:off x="1066800" y="2357120"/>
            <a:ext cx="577027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BFE"/>
                </a:solidFill>
                <a:latin typeface="IBM Plex Sans" pitchFamily="34" charset="0"/>
                <a:ea typeface="IBM Plex Sans" pitchFamily="34" charset="-122"/>
                <a:cs typeface="IBM Plex Sans" pitchFamily="34" charset="-120"/>
              </a:rPr>
              <a:t>Be the leader in IT infrastructure support and maintenance for internal customers, through dedicated service, self-discipline and teamwork.</a:t>
            </a:r>
            <a:endParaRPr lang="en-US" sz="1600" dirty="0"/>
          </a:p>
        </p:txBody>
      </p:sp>
      <p:sp>
        <p:nvSpPr>
          <p:cNvPr id="10" name="Text 6"/>
          <p:cNvSpPr/>
          <p:nvPr/>
        </p:nvSpPr>
        <p:spPr>
          <a:xfrm>
            <a:off x="1066800" y="3362961"/>
            <a:ext cx="5770274"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MISSION</a:t>
            </a:r>
            <a:endParaRPr lang="en-US" sz="1200" dirty="0"/>
          </a:p>
        </p:txBody>
      </p:sp>
      <p:sp>
        <p:nvSpPr>
          <p:cNvPr id="11" name="Text 7"/>
          <p:cNvSpPr/>
          <p:nvPr/>
        </p:nvSpPr>
        <p:spPr>
          <a:xfrm>
            <a:off x="1066800" y="3627120"/>
            <a:ext cx="577027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BFE"/>
                </a:solidFill>
                <a:latin typeface="IBM Plex Sans" pitchFamily="34" charset="0"/>
                <a:ea typeface="IBM Plex Sans" pitchFamily="34" charset="-122"/>
                <a:cs typeface="IBM Plex Sans" pitchFamily="34" charset="-120"/>
              </a:rPr>
              <a:t>Be customer focused and deliver excellent IT infrastructure support for customer delight.</a:t>
            </a:r>
            <a:endParaRPr lang="en-US" sz="1600" dirty="0"/>
          </a:p>
        </p:txBody>
      </p:sp>
      <p:sp>
        <p:nvSpPr>
          <p:cNvPr id="12" name="Shape 8"/>
          <p:cNvSpPr/>
          <p:nvPr/>
        </p:nvSpPr>
        <p:spPr>
          <a:xfrm>
            <a:off x="7129383" y="1892936"/>
            <a:ext cx="4246642" cy="2503170"/>
          </a:xfrm>
          <a:prstGeom prst="roundRect">
            <a:avLst>
              <a:gd name="adj" fmla="val 3932"/>
            </a:avLst>
          </a:prstGeom>
          <a:solidFill>
            <a:srgbClr val="F7FBFE"/>
          </a:solidFill>
          <a:ln w="6350">
            <a:solidFill>
              <a:srgbClr val="B9D9F0"/>
            </a:solidFill>
            <a:prstDash val="solid"/>
          </a:ln>
        </p:spPr>
      </p:sp>
      <p:sp>
        <p:nvSpPr>
          <p:cNvPr id="13" name="Text 9"/>
          <p:cNvSpPr/>
          <p:nvPr/>
        </p:nvSpPr>
        <p:spPr>
          <a:xfrm>
            <a:off x="7385288" y="2098041"/>
            <a:ext cx="3846877"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VALUES</a:t>
            </a:r>
            <a:endParaRPr lang="en-US" sz="1200" dirty="0"/>
          </a:p>
        </p:txBody>
      </p:sp>
      <p:sp>
        <p:nvSpPr>
          <p:cNvPr id="14" name="Text 10"/>
          <p:cNvSpPr/>
          <p:nvPr/>
        </p:nvSpPr>
        <p:spPr>
          <a:xfrm>
            <a:off x="7442946" y="2362200"/>
            <a:ext cx="3781599" cy="173228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Customers first</a:t>
            </a:r>
            <a:endParaRPr lang="en-US" sz="1600" dirty="0"/>
          </a:p>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Transparency, honesty and integrity</a:t>
            </a:r>
            <a:endParaRPr lang="en-US" sz="1600" dirty="0"/>
          </a:p>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Ethical business practices</a:t>
            </a:r>
            <a:endParaRPr lang="en-US" sz="1600" dirty="0"/>
          </a:p>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Striving for excellence</a:t>
            </a:r>
            <a:endParaRPr lang="en-US" sz="1600" dirty="0"/>
          </a:p>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Trust and respect for individuals</a:t>
            </a:r>
            <a:endParaRPr lang="en-US" sz="1600" dirty="0"/>
          </a:p>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Teamwork</a:t>
            </a:r>
            <a:endParaRPr lang="en-US" sz="1600" dirty="0"/>
          </a:p>
        </p:txBody>
      </p:sp>
      <p:sp>
        <p:nvSpPr>
          <p:cNvPr id="15" name="Shape 11"/>
          <p:cNvSpPr/>
          <p:nvPr/>
        </p:nvSpPr>
        <p:spPr>
          <a:xfrm>
            <a:off x="815975" y="4554855"/>
            <a:ext cx="3380264" cy="1029970"/>
          </a:xfrm>
          <a:prstGeom prst="roundRect">
            <a:avLst>
              <a:gd name="adj" fmla="val 9556"/>
            </a:avLst>
          </a:prstGeom>
          <a:solidFill>
            <a:srgbClr val="F7FBFE"/>
          </a:solidFill>
          <a:ln w="6350">
            <a:solidFill>
              <a:srgbClr val="B9D9F0"/>
            </a:solidFill>
            <a:prstDash val="solid"/>
          </a:ln>
        </p:spPr>
      </p:sp>
      <p:sp>
        <p:nvSpPr>
          <p:cNvPr id="16" name="Text 12"/>
          <p:cNvSpPr/>
          <p:nvPr/>
        </p:nvSpPr>
        <p:spPr>
          <a:xfrm>
            <a:off x="995680" y="4709161"/>
            <a:ext cx="311147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ISO/IEC 27001:2022</a:t>
            </a:r>
            <a:endParaRPr lang="en-US" sz="1600" dirty="0"/>
          </a:p>
        </p:txBody>
      </p:sp>
      <p:sp>
        <p:nvSpPr>
          <p:cNvPr id="17" name="Text 13"/>
          <p:cNvSpPr/>
          <p:nvPr/>
        </p:nvSpPr>
        <p:spPr>
          <a:xfrm>
            <a:off x="995680" y="5003800"/>
            <a:ext cx="31114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Ver 2.0, dated 16 May 2025. Valid from 16/12/2025 till 15/12/2028</a:t>
            </a:r>
            <a:endParaRPr lang="en-US" sz="1200" dirty="0"/>
          </a:p>
        </p:txBody>
      </p:sp>
      <p:sp>
        <p:nvSpPr>
          <p:cNvPr id="18" name="Shape 14"/>
          <p:cNvSpPr/>
          <p:nvPr/>
        </p:nvSpPr>
        <p:spPr>
          <a:xfrm>
            <a:off x="4405789" y="4554855"/>
            <a:ext cx="3380343" cy="1029970"/>
          </a:xfrm>
          <a:prstGeom prst="roundRect">
            <a:avLst>
              <a:gd name="adj" fmla="val 9556"/>
            </a:avLst>
          </a:prstGeom>
          <a:solidFill>
            <a:srgbClr val="F7FBFE"/>
          </a:solidFill>
          <a:ln w="6350">
            <a:solidFill>
              <a:srgbClr val="B9D9F0"/>
            </a:solidFill>
            <a:prstDash val="solid"/>
          </a:ln>
        </p:spPr>
      </p:sp>
      <p:sp>
        <p:nvSpPr>
          <p:cNvPr id="19" name="Text 15"/>
          <p:cNvSpPr/>
          <p:nvPr/>
        </p:nvSpPr>
        <p:spPr>
          <a:xfrm>
            <a:off x="4585494" y="4709161"/>
            <a:ext cx="31115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Protects information</a:t>
            </a:r>
            <a:endParaRPr lang="en-US" sz="1600" dirty="0"/>
          </a:p>
        </p:txBody>
      </p:sp>
      <p:sp>
        <p:nvSpPr>
          <p:cNvPr id="20" name="Text 16"/>
          <p:cNvSpPr/>
          <p:nvPr/>
        </p:nvSpPr>
        <p:spPr>
          <a:xfrm>
            <a:off x="4585494" y="5003800"/>
            <a:ext cx="3111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Confidentiality, integrity and availability</a:t>
            </a:r>
            <a:endParaRPr lang="en-US" sz="1200" dirty="0"/>
          </a:p>
        </p:txBody>
      </p:sp>
      <p:sp>
        <p:nvSpPr>
          <p:cNvPr id="21" name="Shape 17"/>
          <p:cNvSpPr/>
          <p:nvPr/>
        </p:nvSpPr>
        <p:spPr>
          <a:xfrm>
            <a:off x="7995682" y="4554855"/>
            <a:ext cx="3380343" cy="1029970"/>
          </a:xfrm>
          <a:prstGeom prst="roundRect">
            <a:avLst>
              <a:gd name="adj" fmla="val 9556"/>
            </a:avLst>
          </a:prstGeom>
          <a:solidFill>
            <a:srgbClr val="F7FBFE"/>
          </a:solidFill>
          <a:ln w="6350">
            <a:solidFill>
              <a:srgbClr val="B9D9F0"/>
            </a:solidFill>
            <a:prstDash val="solid"/>
          </a:ln>
        </p:spPr>
      </p:sp>
      <p:sp>
        <p:nvSpPr>
          <p:cNvPr id="22" name="Text 18"/>
          <p:cNvSpPr/>
          <p:nvPr/>
        </p:nvSpPr>
        <p:spPr>
          <a:xfrm>
            <a:off x="8175387" y="4709161"/>
            <a:ext cx="31115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Serves every SBU</a:t>
            </a:r>
            <a:endParaRPr lang="en-US" sz="1600" dirty="0"/>
          </a:p>
        </p:txBody>
      </p:sp>
      <p:sp>
        <p:nvSpPr>
          <p:cNvPr id="23" name="Text 19"/>
          <p:cNvSpPr/>
          <p:nvPr/>
        </p:nvSpPr>
        <p:spPr>
          <a:xfrm>
            <a:off x="8175387" y="5003800"/>
            <a:ext cx="31115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ERP support, IT assets and network for the Bangalore Complex</a:t>
            </a:r>
            <a:endParaRPr lang="en-US" sz="1200" dirty="0"/>
          </a:p>
        </p:txBody>
      </p:sp>
      <p:sp>
        <p:nvSpPr>
          <p:cNvPr id="24" name="Text 20"/>
          <p:cNvSpPr/>
          <p:nvPr/>
        </p:nvSpPr>
        <p:spPr>
          <a:xfrm>
            <a:off x="812800" y="63398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5" name="Text 21"/>
          <p:cNvSpPr/>
          <p:nvPr/>
        </p:nvSpPr>
        <p:spPr>
          <a:xfrm>
            <a:off x="10058400" y="63398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PC Maintenance: handling a complaint</a:t>
            </a:r>
            <a:endParaRPr lang="en-US" sz="3200" dirty="0"/>
          </a:p>
        </p:txBody>
      </p:sp>
      <p:sp>
        <p:nvSpPr>
          <p:cNvPr id="7" name="Text 3"/>
          <p:cNvSpPr/>
          <p:nvPr/>
        </p:nvSpPr>
        <p:spPr>
          <a:xfrm>
            <a:off x="812800" y="1838961"/>
            <a:ext cx="10566400" cy="629920"/>
          </a:xfrm>
          <a:prstGeom prst="roundRect">
            <a:avLst>
              <a:gd name="adj" fmla="val 12097"/>
            </a:avLst>
          </a:prstGeom>
          <a:solidFill>
            <a:srgbClr val="CFE6F7"/>
          </a:solidFill>
          <a:ln/>
        </p:spPr>
        <p:txBody>
          <a:bodyPr wrap="square" lIns="130082" tIns="79282" rIns="0" bIns="53882" rtlCol="0" anchor="t">
            <a:normAutofit/>
          </a:bodyPr>
          <a:lstStyle/>
          <a:p>
            <a:pPr algn="l" indent="0" marL="0">
              <a:lnSpc>
                <a:spcPts val="1680"/>
              </a:lnSpc>
              <a:buNone/>
            </a:pPr>
            <a:r>
              <a:rPr lang="en-US" sz="1200" b="1" dirty="0">
                <a:solidFill>
                  <a:srgbClr val="26384D"/>
                </a:solidFill>
                <a:latin typeface="IBM Plex Sans" pitchFamily="34" charset="0"/>
                <a:ea typeface="IBM Plex Sans" pitchFamily="34" charset="-122"/>
                <a:cs typeface="IBM Plex Sans" pitchFamily="34" charset="-120"/>
              </a:rPr>
              <a:t>PCM covers:</a:t>
            </a:r>
            <a:r>
              <a:rPr lang="en-US" sz="1200" dirty="0">
                <a:solidFill>
                  <a:srgbClr val="26384D"/>
                </a:solidFill>
                <a:latin typeface="IBM Plex Sans" pitchFamily="34" charset="0"/>
                <a:ea typeface="IBM Plex Sans" pitchFamily="34" charset="-122"/>
                <a:cs typeface="IBM Plex Sans" pitchFamily="34" charset="-120"/>
              </a:rPr>
              <a:t> help desk and field support, server maintenance, antivirus support, printers, workstations, thin clients, and hardware and software issues.</a:t>
            </a:r>
            <a:endParaRPr lang="en-US" sz="1200" dirty="0"/>
          </a:p>
        </p:txBody>
      </p:sp>
      <p:sp>
        <p:nvSpPr>
          <p:cNvPr id="8" name="Text 4"/>
          <p:cNvSpPr/>
          <p:nvPr/>
        </p:nvSpPr>
        <p:spPr>
          <a:xfrm>
            <a:off x="812800" y="2570480"/>
            <a:ext cx="304800" cy="3048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1</a:t>
            </a:r>
            <a:endParaRPr lang="en-US" sz="1200" dirty="0"/>
          </a:p>
        </p:txBody>
      </p:sp>
      <p:sp>
        <p:nvSpPr>
          <p:cNvPr id="9" name="Text 5"/>
          <p:cNvSpPr/>
          <p:nvPr/>
        </p:nvSpPr>
        <p:spPr>
          <a:xfrm>
            <a:off x="812800" y="2926080"/>
            <a:ext cx="1557814"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Call received</a:t>
            </a:r>
            <a:endParaRPr lang="en-US" sz="1200" dirty="0"/>
          </a:p>
        </p:txBody>
      </p:sp>
      <p:sp>
        <p:nvSpPr>
          <p:cNvPr id="10" name="Text 6"/>
          <p:cNvSpPr/>
          <p:nvPr/>
        </p:nvSpPr>
        <p:spPr>
          <a:xfrm>
            <a:off x="812800" y="3159761"/>
            <a:ext cx="155781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User calls the help desk</a:t>
            </a:r>
            <a:endParaRPr lang="en-US" sz="1200" dirty="0"/>
          </a:p>
        </p:txBody>
      </p:sp>
      <p:pic>
        <p:nvPicPr>
          <p:cNvPr id="11" name="Image 2" descr="arrow-right">    </p:cNvPr>
          <p:cNvPicPr>
            <a:picLocks noChangeAspect="1"/>
          </p:cNvPicPr>
          <p:nvPr/>
        </p:nvPicPr>
        <p:blipFill>
          <a:blip r:embed="rId3"/>
          <a:srcRect l="0" r="0" t="0" b="0"/>
          <a:stretch/>
        </p:blipFill>
        <p:spPr>
          <a:xfrm>
            <a:off x="2370614" y="2621280"/>
            <a:ext cx="203200" cy="152400"/>
          </a:xfrm>
          <a:prstGeom prst="rect">
            <a:avLst/>
          </a:prstGeom>
        </p:spPr>
      </p:pic>
      <p:sp>
        <p:nvSpPr>
          <p:cNvPr id="12" name="Text 7"/>
          <p:cNvSpPr/>
          <p:nvPr/>
        </p:nvSpPr>
        <p:spPr>
          <a:xfrm>
            <a:off x="2624614" y="2570480"/>
            <a:ext cx="304800" cy="3048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2</a:t>
            </a:r>
            <a:endParaRPr lang="en-US" sz="1200" dirty="0"/>
          </a:p>
        </p:txBody>
      </p:sp>
      <p:sp>
        <p:nvSpPr>
          <p:cNvPr id="13" name="Text 8"/>
          <p:cNvSpPr/>
          <p:nvPr/>
        </p:nvSpPr>
        <p:spPr>
          <a:xfrm>
            <a:off x="2624614" y="2926080"/>
            <a:ext cx="1557893"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Ticket raised</a:t>
            </a:r>
            <a:endParaRPr lang="en-US" sz="1200" dirty="0"/>
          </a:p>
        </p:txBody>
      </p:sp>
      <p:sp>
        <p:nvSpPr>
          <p:cNvPr id="14" name="Text 9"/>
          <p:cNvSpPr/>
          <p:nvPr/>
        </p:nvSpPr>
        <p:spPr>
          <a:xfrm>
            <a:off x="2624614" y="3159761"/>
            <a:ext cx="155789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Staff no., name and department noted</a:t>
            </a:r>
            <a:endParaRPr lang="en-US" sz="1200" dirty="0"/>
          </a:p>
        </p:txBody>
      </p:sp>
      <p:pic>
        <p:nvPicPr>
          <p:cNvPr id="15" name="Image 3" descr="arrow-right">    </p:cNvPr>
          <p:cNvPicPr>
            <a:picLocks noChangeAspect="1"/>
          </p:cNvPicPr>
          <p:nvPr/>
        </p:nvPicPr>
        <p:blipFill>
          <a:blip r:embed="rId4"/>
          <a:srcRect l="0" r="0" t="0" b="0"/>
          <a:stretch/>
        </p:blipFill>
        <p:spPr>
          <a:xfrm>
            <a:off x="4182507" y="2621280"/>
            <a:ext cx="203200" cy="152400"/>
          </a:xfrm>
          <a:prstGeom prst="rect">
            <a:avLst/>
          </a:prstGeom>
        </p:spPr>
      </p:pic>
      <p:sp>
        <p:nvSpPr>
          <p:cNvPr id="16" name="Text 10"/>
          <p:cNvSpPr/>
          <p:nvPr/>
        </p:nvSpPr>
        <p:spPr>
          <a:xfrm>
            <a:off x="4436507" y="2570480"/>
            <a:ext cx="304800" cy="3048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3</a:t>
            </a:r>
            <a:endParaRPr lang="en-US" sz="1200" dirty="0"/>
          </a:p>
        </p:txBody>
      </p:sp>
      <p:sp>
        <p:nvSpPr>
          <p:cNvPr id="17" name="Text 11"/>
          <p:cNvSpPr/>
          <p:nvPr/>
        </p:nvSpPr>
        <p:spPr>
          <a:xfrm>
            <a:off x="4436507" y="2926080"/>
            <a:ext cx="1557814"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Remote fix</a:t>
            </a:r>
            <a:endParaRPr lang="en-US" sz="1200" dirty="0"/>
          </a:p>
        </p:txBody>
      </p:sp>
      <p:sp>
        <p:nvSpPr>
          <p:cNvPr id="18" name="Text 12"/>
          <p:cNvSpPr/>
          <p:nvPr/>
        </p:nvSpPr>
        <p:spPr>
          <a:xfrm>
            <a:off x="4436507" y="3159761"/>
            <a:ext cx="155781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Remote access tried for software issues</a:t>
            </a:r>
            <a:endParaRPr lang="en-US" sz="1200" dirty="0"/>
          </a:p>
        </p:txBody>
      </p:sp>
      <p:pic>
        <p:nvPicPr>
          <p:cNvPr id="19" name="Image 4" descr="arrow-right">    </p:cNvPr>
          <p:cNvPicPr>
            <a:picLocks noChangeAspect="1"/>
          </p:cNvPicPr>
          <p:nvPr/>
        </p:nvPicPr>
        <p:blipFill>
          <a:blip r:embed="rId5"/>
          <a:srcRect l="0" r="0" t="0" b="0"/>
          <a:stretch/>
        </p:blipFill>
        <p:spPr>
          <a:xfrm>
            <a:off x="5994321" y="2621280"/>
            <a:ext cx="203200" cy="152400"/>
          </a:xfrm>
          <a:prstGeom prst="rect">
            <a:avLst/>
          </a:prstGeom>
        </p:spPr>
      </p:pic>
      <p:sp>
        <p:nvSpPr>
          <p:cNvPr id="20" name="Text 13"/>
          <p:cNvSpPr/>
          <p:nvPr/>
        </p:nvSpPr>
        <p:spPr>
          <a:xfrm>
            <a:off x="6248321" y="2570480"/>
            <a:ext cx="304800" cy="3048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4</a:t>
            </a:r>
            <a:endParaRPr lang="en-US" sz="1200" dirty="0"/>
          </a:p>
        </p:txBody>
      </p:sp>
      <p:sp>
        <p:nvSpPr>
          <p:cNvPr id="21" name="Text 14"/>
          <p:cNvSpPr/>
          <p:nvPr/>
        </p:nvSpPr>
        <p:spPr>
          <a:xfrm>
            <a:off x="6248321" y="2926080"/>
            <a:ext cx="1557893"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Experts</a:t>
            </a:r>
            <a:endParaRPr lang="en-US" sz="1200" dirty="0"/>
          </a:p>
        </p:txBody>
      </p:sp>
      <p:sp>
        <p:nvSpPr>
          <p:cNvPr id="22" name="Text 15"/>
          <p:cNvSpPr/>
          <p:nvPr/>
        </p:nvSpPr>
        <p:spPr>
          <a:xfrm>
            <a:off x="6248321" y="3159761"/>
            <a:ext cx="155789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Escalated if not resolved</a:t>
            </a:r>
            <a:endParaRPr lang="en-US" sz="1200" dirty="0"/>
          </a:p>
        </p:txBody>
      </p:sp>
      <p:pic>
        <p:nvPicPr>
          <p:cNvPr id="23" name="Image 5" descr="arrow-right">    </p:cNvPr>
          <p:cNvPicPr>
            <a:picLocks noChangeAspect="1"/>
          </p:cNvPicPr>
          <p:nvPr/>
        </p:nvPicPr>
        <p:blipFill>
          <a:blip r:embed="rId6"/>
          <a:srcRect l="0" r="0" t="0" b="0"/>
          <a:stretch/>
        </p:blipFill>
        <p:spPr>
          <a:xfrm>
            <a:off x="7806214" y="2621280"/>
            <a:ext cx="203200" cy="152400"/>
          </a:xfrm>
          <a:prstGeom prst="rect">
            <a:avLst/>
          </a:prstGeom>
        </p:spPr>
      </p:pic>
      <p:sp>
        <p:nvSpPr>
          <p:cNvPr id="24" name="Text 16"/>
          <p:cNvSpPr/>
          <p:nvPr/>
        </p:nvSpPr>
        <p:spPr>
          <a:xfrm>
            <a:off x="8060214" y="2570480"/>
            <a:ext cx="304800" cy="3048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5</a:t>
            </a:r>
            <a:endParaRPr lang="en-US" sz="1200" dirty="0"/>
          </a:p>
        </p:txBody>
      </p:sp>
      <p:sp>
        <p:nvSpPr>
          <p:cNvPr id="25" name="Text 17"/>
          <p:cNvSpPr/>
          <p:nvPr/>
        </p:nvSpPr>
        <p:spPr>
          <a:xfrm>
            <a:off x="8060214" y="2926080"/>
            <a:ext cx="1557893"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Zone engineer</a:t>
            </a:r>
            <a:endParaRPr lang="en-US" sz="1200" dirty="0"/>
          </a:p>
        </p:txBody>
      </p:sp>
      <p:sp>
        <p:nvSpPr>
          <p:cNvPr id="26" name="Text 18"/>
          <p:cNvSpPr/>
          <p:nvPr/>
        </p:nvSpPr>
        <p:spPr>
          <a:xfrm>
            <a:off x="8060214" y="3159761"/>
            <a:ext cx="155789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On-site visit for physical or hardware issues</a:t>
            </a:r>
            <a:endParaRPr lang="en-US" sz="1200" dirty="0"/>
          </a:p>
        </p:txBody>
      </p:sp>
      <p:pic>
        <p:nvPicPr>
          <p:cNvPr id="27" name="Image 6" descr="arrow-right">    </p:cNvPr>
          <p:cNvPicPr>
            <a:picLocks noChangeAspect="1"/>
          </p:cNvPicPr>
          <p:nvPr/>
        </p:nvPicPr>
        <p:blipFill>
          <a:blip r:embed="rId7"/>
          <a:srcRect l="0" r="0" t="0" b="0"/>
          <a:stretch/>
        </p:blipFill>
        <p:spPr>
          <a:xfrm>
            <a:off x="9618107" y="2621280"/>
            <a:ext cx="203200" cy="152400"/>
          </a:xfrm>
          <a:prstGeom prst="rect">
            <a:avLst/>
          </a:prstGeom>
        </p:spPr>
      </p:pic>
      <p:sp>
        <p:nvSpPr>
          <p:cNvPr id="28" name="Text 19"/>
          <p:cNvSpPr/>
          <p:nvPr/>
        </p:nvSpPr>
        <p:spPr>
          <a:xfrm>
            <a:off x="9872107" y="2570480"/>
            <a:ext cx="304800" cy="304800"/>
          </a:xfrm>
          <a:prstGeom prst="roundRect">
            <a:avLst>
              <a:gd name="adj" fmla="val 50000"/>
            </a:avLst>
          </a:prstGeom>
          <a:solidFill>
            <a:srgbClr val="0B2E5C"/>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6</a:t>
            </a:r>
            <a:endParaRPr lang="en-US" sz="1200" dirty="0"/>
          </a:p>
        </p:txBody>
      </p:sp>
      <p:sp>
        <p:nvSpPr>
          <p:cNvPr id="29" name="Text 20"/>
          <p:cNvSpPr/>
          <p:nvPr/>
        </p:nvSpPr>
        <p:spPr>
          <a:xfrm>
            <a:off x="9872107" y="2926080"/>
            <a:ext cx="1557893"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Ticket closed</a:t>
            </a:r>
            <a:endParaRPr lang="en-US" sz="1200" dirty="0"/>
          </a:p>
        </p:txBody>
      </p:sp>
      <p:sp>
        <p:nvSpPr>
          <p:cNvPr id="30" name="Text 21"/>
          <p:cNvSpPr/>
          <p:nvPr/>
        </p:nvSpPr>
        <p:spPr>
          <a:xfrm>
            <a:off x="9872107" y="3159761"/>
            <a:ext cx="155789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Issue resolved and recorded</a:t>
            </a:r>
            <a:endParaRPr lang="en-US" sz="1200" dirty="0"/>
          </a:p>
        </p:txBody>
      </p:sp>
      <p:sp>
        <p:nvSpPr>
          <p:cNvPr id="31" name="Shape 22"/>
          <p:cNvSpPr/>
          <p:nvPr/>
        </p:nvSpPr>
        <p:spPr>
          <a:xfrm>
            <a:off x="812800" y="3901441"/>
            <a:ext cx="10566400" cy="772160"/>
          </a:xfrm>
          <a:prstGeom prst="roundRect">
            <a:avLst>
              <a:gd name="adj" fmla="val 13158"/>
            </a:avLst>
          </a:prstGeom>
          <a:solidFill>
            <a:srgbClr val="CFE6F7"/>
          </a:solidFill>
          <a:ln/>
        </p:spPr>
      </p:sp>
      <p:sp>
        <p:nvSpPr>
          <p:cNvPr id="32" name="Text 23"/>
          <p:cNvSpPr/>
          <p:nvPr/>
        </p:nvSpPr>
        <p:spPr>
          <a:xfrm>
            <a:off x="1066800" y="4064000"/>
            <a:ext cx="58521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B5FB0"/>
                </a:solidFill>
                <a:latin typeface="IBM Plex Sans" pitchFamily="34" charset="0"/>
                <a:ea typeface="IBM Plex Sans" pitchFamily="34" charset="-122"/>
                <a:cs typeface="IBM Plex Sans" pitchFamily="34" charset="-120"/>
              </a:rPr>
              <a:t>12</a:t>
            </a:r>
            <a:endParaRPr lang="en-US" sz="3200" dirty="0"/>
          </a:p>
        </p:txBody>
      </p:sp>
      <p:sp>
        <p:nvSpPr>
          <p:cNvPr id="33" name="Text 24"/>
          <p:cNvSpPr/>
          <p:nvPr/>
        </p:nvSpPr>
        <p:spPr>
          <a:xfrm>
            <a:off x="1757680" y="4003041"/>
            <a:ext cx="964854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zone engineers, each covering 5 to 10 departments (one zone). Hardware issues go straight to the zone engineer.</a:t>
            </a:r>
            <a:endParaRPr lang="en-US" sz="1600" dirty="0"/>
          </a:p>
        </p:txBody>
      </p:sp>
      <p:sp>
        <p:nvSpPr>
          <p:cNvPr id="34" name="Text 25"/>
          <p:cNvSpPr/>
          <p:nvPr/>
        </p:nvSpPr>
        <p:spPr>
          <a:xfrm>
            <a:off x="812800" y="4775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16 SBUS ACROSS THE 12 ZONES (SAMPLE DATA)</a:t>
            </a:r>
            <a:endParaRPr lang="en-US" sz="1200" dirty="0"/>
          </a:p>
        </p:txBody>
      </p:sp>
      <p:sp>
        <p:nvSpPr>
          <p:cNvPr id="35" name="Shape 26"/>
          <p:cNvSpPr/>
          <p:nvPr/>
        </p:nvSpPr>
        <p:spPr>
          <a:xfrm>
            <a:off x="815975" y="5042536"/>
            <a:ext cx="827564" cy="745490"/>
          </a:xfrm>
          <a:prstGeom prst="roundRect">
            <a:avLst>
              <a:gd name="adj" fmla="val 8092"/>
            </a:avLst>
          </a:prstGeom>
          <a:solidFill>
            <a:srgbClr val="F7FBFE"/>
          </a:solidFill>
          <a:ln w="6350">
            <a:solidFill>
              <a:srgbClr val="B9D9F0"/>
            </a:solidFill>
            <a:prstDash val="solid"/>
          </a:ln>
        </p:spPr>
      </p:sp>
      <p:sp>
        <p:nvSpPr>
          <p:cNvPr id="36" name="Text 27"/>
          <p:cNvSpPr/>
          <p:nvPr/>
        </p:nvSpPr>
        <p:spPr>
          <a:xfrm>
            <a:off x="942681"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1</a:t>
            </a:r>
            <a:endParaRPr lang="en-US" sz="1200" dirty="0"/>
          </a:p>
        </p:txBody>
      </p:sp>
      <p:sp>
        <p:nvSpPr>
          <p:cNvPr id="37" name="Text 28"/>
          <p:cNvSpPr/>
          <p:nvPr/>
        </p:nvSpPr>
        <p:spPr>
          <a:xfrm>
            <a:off x="867148" y="5308600"/>
            <a:ext cx="7251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A, B</a:t>
            </a:r>
            <a:endParaRPr lang="en-US" sz="1200" dirty="0"/>
          </a:p>
        </p:txBody>
      </p:sp>
      <p:sp>
        <p:nvSpPr>
          <p:cNvPr id="38" name="Text 29"/>
          <p:cNvSpPr/>
          <p:nvPr/>
        </p:nvSpPr>
        <p:spPr>
          <a:xfrm>
            <a:off x="920956"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8 depts</a:t>
            </a:r>
            <a:endParaRPr lang="en-US" sz="1200" dirty="0"/>
          </a:p>
        </p:txBody>
      </p:sp>
      <p:sp>
        <p:nvSpPr>
          <p:cNvPr id="39" name="Shape 30"/>
          <p:cNvSpPr/>
          <p:nvPr/>
        </p:nvSpPr>
        <p:spPr>
          <a:xfrm>
            <a:off x="1700689" y="5042536"/>
            <a:ext cx="827643" cy="745490"/>
          </a:xfrm>
          <a:prstGeom prst="roundRect">
            <a:avLst>
              <a:gd name="adj" fmla="val 8092"/>
            </a:avLst>
          </a:prstGeom>
          <a:solidFill>
            <a:srgbClr val="F7FBFE"/>
          </a:solidFill>
          <a:ln w="6350">
            <a:solidFill>
              <a:srgbClr val="B9D9F0"/>
            </a:solidFill>
            <a:prstDash val="solid"/>
          </a:ln>
        </p:spPr>
      </p:sp>
      <p:sp>
        <p:nvSpPr>
          <p:cNvPr id="40" name="Text 31"/>
          <p:cNvSpPr/>
          <p:nvPr/>
        </p:nvSpPr>
        <p:spPr>
          <a:xfrm>
            <a:off x="1827475"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2</a:t>
            </a:r>
            <a:endParaRPr lang="en-US" sz="1200" dirty="0"/>
          </a:p>
        </p:txBody>
      </p:sp>
      <p:sp>
        <p:nvSpPr>
          <p:cNvPr id="41" name="Text 32"/>
          <p:cNvSpPr/>
          <p:nvPr/>
        </p:nvSpPr>
        <p:spPr>
          <a:xfrm>
            <a:off x="1753465" y="5308600"/>
            <a:ext cx="72209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C, D</a:t>
            </a:r>
            <a:endParaRPr lang="en-US" sz="1200" dirty="0"/>
          </a:p>
        </p:txBody>
      </p:sp>
      <p:sp>
        <p:nvSpPr>
          <p:cNvPr id="42" name="Text 33"/>
          <p:cNvSpPr/>
          <p:nvPr/>
        </p:nvSpPr>
        <p:spPr>
          <a:xfrm>
            <a:off x="1805670"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7 depts</a:t>
            </a:r>
            <a:endParaRPr lang="en-US" sz="1200" dirty="0"/>
          </a:p>
        </p:txBody>
      </p:sp>
      <p:sp>
        <p:nvSpPr>
          <p:cNvPr id="43" name="Shape 34"/>
          <p:cNvSpPr/>
          <p:nvPr/>
        </p:nvSpPr>
        <p:spPr>
          <a:xfrm>
            <a:off x="2585482" y="5042536"/>
            <a:ext cx="827564" cy="745490"/>
          </a:xfrm>
          <a:prstGeom prst="roundRect">
            <a:avLst>
              <a:gd name="adj" fmla="val 8092"/>
            </a:avLst>
          </a:prstGeom>
          <a:solidFill>
            <a:srgbClr val="F7FBFE"/>
          </a:solidFill>
          <a:ln w="6350">
            <a:solidFill>
              <a:srgbClr val="B9D9F0"/>
            </a:solidFill>
            <a:prstDash val="solid"/>
          </a:ln>
        </p:spPr>
      </p:sp>
      <p:sp>
        <p:nvSpPr>
          <p:cNvPr id="44" name="Text 35"/>
          <p:cNvSpPr/>
          <p:nvPr/>
        </p:nvSpPr>
        <p:spPr>
          <a:xfrm>
            <a:off x="2712188"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3</a:t>
            </a:r>
            <a:endParaRPr lang="en-US" sz="1200" dirty="0"/>
          </a:p>
        </p:txBody>
      </p:sp>
      <p:sp>
        <p:nvSpPr>
          <p:cNvPr id="45" name="Text 36"/>
          <p:cNvSpPr/>
          <p:nvPr/>
        </p:nvSpPr>
        <p:spPr>
          <a:xfrm>
            <a:off x="2651895" y="5308600"/>
            <a:ext cx="69465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E, F</a:t>
            </a:r>
            <a:endParaRPr lang="en-US" sz="1200" dirty="0"/>
          </a:p>
        </p:txBody>
      </p:sp>
      <p:sp>
        <p:nvSpPr>
          <p:cNvPr id="46" name="Text 37"/>
          <p:cNvSpPr/>
          <p:nvPr/>
        </p:nvSpPr>
        <p:spPr>
          <a:xfrm>
            <a:off x="2690463"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6 depts</a:t>
            </a:r>
            <a:endParaRPr lang="en-US" sz="1200" dirty="0"/>
          </a:p>
        </p:txBody>
      </p:sp>
      <p:sp>
        <p:nvSpPr>
          <p:cNvPr id="47" name="Shape 38"/>
          <p:cNvSpPr/>
          <p:nvPr/>
        </p:nvSpPr>
        <p:spPr>
          <a:xfrm>
            <a:off x="3470196" y="5042536"/>
            <a:ext cx="827643" cy="745490"/>
          </a:xfrm>
          <a:prstGeom prst="roundRect">
            <a:avLst>
              <a:gd name="adj" fmla="val 8092"/>
            </a:avLst>
          </a:prstGeom>
          <a:solidFill>
            <a:srgbClr val="F7FBFE"/>
          </a:solidFill>
          <a:ln w="6350">
            <a:solidFill>
              <a:srgbClr val="B9D9F0"/>
            </a:solidFill>
            <a:prstDash val="solid"/>
          </a:ln>
        </p:spPr>
      </p:sp>
      <p:sp>
        <p:nvSpPr>
          <p:cNvPr id="48" name="Text 39"/>
          <p:cNvSpPr/>
          <p:nvPr/>
        </p:nvSpPr>
        <p:spPr>
          <a:xfrm>
            <a:off x="3596981"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4</a:t>
            </a:r>
            <a:endParaRPr lang="en-US" sz="1200" dirty="0"/>
          </a:p>
        </p:txBody>
      </p:sp>
      <p:sp>
        <p:nvSpPr>
          <p:cNvPr id="49" name="Text 40"/>
          <p:cNvSpPr/>
          <p:nvPr/>
        </p:nvSpPr>
        <p:spPr>
          <a:xfrm>
            <a:off x="3512884" y="5308600"/>
            <a:ext cx="74218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G, H</a:t>
            </a:r>
            <a:endParaRPr lang="en-US" sz="1200" dirty="0"/>
          </a:p>
        </p:txBody>
      </p:sp>
      <p:sp>
        <p:nvSpPr>
          <p:cNvPr id="50" name="Text 41"/>
          <p:cNvSpPr/>
          <p:nvPr/>
        </p:nvSpPr>
        <p:spPr>
          <a:xfrm>
            <a:off x="3575177"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9 depts</a:t>
            </a:r>
            <a:endParaRPr lang="en-US" sz="1200" dirty="0"/>
          </a:p>
        </p:txBody>
      </p:sp>
      <p:sp>
        <p:nvSpPr>
          <p:cNvPr id="51" name="Shape 42"/>
          <p:cNvSpPr/>
          <p:nvPr/>
        </p:nvSpPr>
        <p:spPr>
          <a:xfrm>
            <a:off x="4354989" y="5042536"/>
            <a:ext cx="827564" cy="745490"/>
          </a:xfrm>
          <a:prstGeom prst="roundRect">
            <a:avLst>
              <a:gd name="adj" fmla="val 8092"/>
            </a:avLst>
          </a:prstGeom>
          <a:solidFill>
            <a:srgbClr val="F7FBFE"/>
          </a:solidFill>
          <a:ln w="6350">
            <a:solidFill>
              <a:srgbClr val="B9D9F0"/>
            </a:solidFill>
            <a:prstDash val="solid"/>
          </a:ln>
        </p:spPr>
      </p:sp>
      <p:sp>
        <p:nvSpPr>
          <p:cNvPr id="52" name="Text 43"/>
          <p:cNvSpPr/>
          <p:nvPr/>
        </p:nvSpPr>
        <p:spPr>
          <a:xfrm>
            <a:off x="4481695"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5</a:t>
            </a:r>
            <a:endParaRPr lang="en-US" sz="1200" dirty="0"/>
          </a:p>
        </p:txBody>
      </p:sp>
      <p:sp>
        <p:nvSpPr>
          <p:cNvPr id="53" name="Text 44"/>
          <p:cNvSpPr/>
          <p:nvPr/>
        </p:nvSpPr>
        <p:spPr>
          <a:xfrm>
            <a:off x="4535702" y="5308600"/>
            <a:ext cx="46605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I</a:t>
            </a:r>
            <a:endParaRPr lang="en-US" sz="1200" dirty="0"/>
          </a:p>
        </p:txBody>
      </p:sp>
      <p:sp>
        <p:nvSpPr>
          <p:cNvPr id="54" name="Text 45"/>
          <p:cNvSpPr/>
          <p:nvPr/>
        </p:nvSpPr>
        <p:spPr>
          <a:xfrm>
            <a:off x="4459970"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7 depts</a:t>
            </a:r>
            <a:endParaRPr lang="en-US" sz="1200" dirty="0"/>
          </a:p>
        </p:txBody>
      </p:sp>
      <p:sp>
        <p:nvSpPr>
          <p:cNvPr id="55" name="Shape 46"/>
          <p:cNvSpPr/>
          <p:nvPr/>
        </p:nvSpPr>
        <p:spPr>
          <a:xfrm>
            <a:off x="5239703" y="5042536"/>
            <a:ext cx="827643" cy="745490"/>
          </a:xfrm>
          <a:prstGeom prst="roundRect">
            <a:avLst>
              <a:gd name="adj" fmla="val 8092"/>
            </a:avLst>
          </a:prstGeom>
          <a:solidFill>
            <a:srgbClr val="F7FBFE"/>
          </a:solidFill>
          <a:ln w="6350">
            <a:solidFill>
              <a:srgbClr val="B9D9F0"/>
            </a:solidFill>
            <a:prstDash val="solid"/>
          </a:ln>
        </p:spPr>
      </p:sp>
      <p:sp>
        <p:nvSpPr>
          <p:cNvPr id="56" name="Text 47"/>
          <p:cNvSpPr/>
          <p:nvPr/>
        </p:nvSpPr>
        <p:spPr>
          <a:xfrm>
            <a:off x="5366488"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6</a:t>
            </a:r>
            <a:endParaRPr lang="en-US" sz="1200" dirty="0"/>
          </a:p>
        </p:txBody>
      </p:sp>
      <p:sp>
        <p:nvSpPr>
          <p:cNvPr id="57" name="Text 48"/>
          <p:cNvSpPr/>
          <p:nvPr/>
        </p:nvSpPr>
        <p:spPr>
          <a:xfrm>
            <a:off x="5410407" y="5308600"/>
            <a:ext cx="48615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J</a:t>
            </a:r>
            <a:endParaRPr lang="en-US" sz="1200" dirty="0"/>
          </a:p>
        </p:txBody>
      </p:sp>
      <p:sp>
        <p:nvSpPr>
          <p:cNvPr id="58" name="Text 49"/>
          <p:cNvSpPr/>
          <p:nvPr/>
        </p:nvSpPr>
        <p:spPr>
          <a:xfrm>
            <a:off x="5344684"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5 depts</a:t>
            </a:r>
            <a:endParaRPr lang="en-US" sz="1200" dirty="0"/>
          </a:p>
        </p:txBody>
      </p:sp>
      <p:sp>
        <p:nvSpPr>
          <p:cNvPr id="59" name="Shape 50"/>
          <p:cNvSpPr/>
          <p:nvPr/>
        </p:nvSpPr>
        <p:spPr>
          <a:xfrm>
            <a:off x="6124496" y="5042536"/>
            <a:ext cx="827564" cy="745490"/>
          </a:xfrm>
          <a:prstGeom prst="roundRect">
            <a:avLst>
              <a:gd name="adj" fmla="val 8092"/>
            </a:avLst>
          </a:prstGeom>
          <a:solidFill>
            <a:srgbClr val="F7FBFE"/>
          </a:solidFill>
          <a:ln w="6350">
            <a:solidFill>
              <a:srgbClr val="B9D9F0"/>
            </a:solidFill>
            <a:prstDash val="solid"/>
          </a:ln>
        </p:spPr>
      </p:sp>
      <p:sp>
        <p:nvSpPr>
          <p:cNvPr id="60" name="Text 51"/>
          <p:cNvSpPr/>
          <p:nvPr/>
        </p:nvSpPr>
        <p:spPr>
          <a:xfrm>
            <a:off x="6251202"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7</a:t>
            </a:r>
            <a:endParaRPr lang="en-US" sz="1200" dirty="0"/>
          </a:p>
        </p:txBody>
      </p:sp>
      <p:sp>
        <p:nvSpPr>
          <p:cNvPr id="61" name="Text 52"/>
          <p:cNvSpPr/>
          <p:nvPr/>
        </p:nvSpPr>
        <p:spPr>
          <a:xfrm>
            <a:off x="6283865" y="5308600"/>
            <a:ext cx="50882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K</a:t>
            </a:r>
            <a:endParaRPr lang="en-US" sz="1200" dirty="0"/>
          </a:p>
        </p:txBody>
      </p:sp>
      <p:sp>
        <p:nvSpPr>
          <p:cNvPr id="62" name="Text 53"/>
          <p:cNvSpPr/>
          <p:nvPr/>
        </p:nvSpPr>
        <p:spPr>
          <a:xfrm>
            <a:off x="6229477"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8 depts</a:t>
            </a:r>
            <a:endParaRPr lang="en-US" sz="1200" dirty="0"/>
          </a:p>
        </p:txBody>
      </p:sp>
      <p:sp>
        <p:nvSpPr>
          <p:cNvPr id="63" name="Shape 54"/>
          <p:cNvSpPr/>
          <p:nvPr/>
        </p:nvSpPr>
        <p:spPr>
          <a:xfrm>
            <a:off x="7009209" y="5042536"/>
            <a:ext cx="827643" cy="745490"/>
          </a:xfrm>
          <a:prstGeom prst="roundRect">
            <a:avLst>
              <a:gd name="adj" fmla="val 8092"/>
            </a:avLst>
          </a:prstGeom>
          <a:solidFill>
            <a:srgbClr val="F7FBFE"/>
          </a:solidFill>
          <a:ln w="6350">
            <a:solidFill>
              <a:srgbClr val="B9D9F0"/>
            </a:solidFill>
            <a:prstDash val="solid"/>
          </a:ln>
        </p:spPr>
      </p:sp>
      <p:sp>
        <p:nvSpPr>
          <p:cNvPr id="64" name="Text 55"/>
          <p:cNvSpPr/>
          <p:nvPr/>
        </p:nvSpPr>
        <p:spPr>
          <a:xfrm>
            <a:off x="7135995"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8</a:t>
            </a:r>
            <a:endParaRPr lang="en-US" sz="1200" dirty="0"/>
          </a:p>
        </p:txBody>
      </p:sp>
      <p:sp>
        <p:nvSpPr>
          <p:cNvPr id="65" name="Text 56"/>
          <p:cNvSpPr/>
          <p:nvPr/>
        </p:nvSpPr>
        <p:spPr>
          <a:xfrm>
            <a:off x="7180763" y="5308600"/>
            <a:ext cx="48453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L</a:t>
            </a:r>
            <a:endParaRPr lang="en-US" sz="1200" dirty="0"/>
          </a:p>
        </p:txBody>
      </p:sp>
      <p:sp>
        <p:nvSpPr>
          <p:cNvPr id="66" name="Text 57"/>
          <p:cNvSpPr/>
          <p:nvPr/>
        </p:nvSpPr>
        <p:spPr>
          <a:xfrm>
            <a:off x="7059327" y="5521961"/>
            <a:ext cx="727329"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10 depts</a:t>
            </a:r>
            <a:endParaRPr lang="en-US" sz="1200" dirty="0"/>
          </a:p>
        </p:txBody>
      </p:sp>
      <p:sp>
        <p:nvSpPr>
          <p:cNvPr id="67" name="Shape 58"/>
          <p:cNvSpPr/>
          <p:nvPr/>
        </p:nvSpPr>
        <p:spPr>
          <a:xfrm>
            <a:off x="7894003" y="5042536"/>
            <a:ext cx="827643" cy="745490"/>
          </a:xfrm>
          <a:prstGeom prst="roundRect">
            <a:avLst>
              <a:gd name="adj" fmla="val 8092"/>
            </a:avLst>
          </a:prstGeom>
          <a:solidFill>
            <a:srgbClr val="F7FBFE"/>
          </a:solidFill>
          <a:ln w="6350">
            <a:solidFill>
              <a:srgbClr val="B9D9F0"/>
            </a:solidFill>
            <a:prstDash val="solid"/>
          </a:ln>
        </p:spPr>
      </p:sp>
      <p:sp>
        <p:nvSpPr>
          <p:cNvPr id="68" name="Text 59"/>
          <p:cNvSpPr/>
          <p:nvPr/>
        </p:nvSpPr>
        <p:spPr>
          <a:xfrm>
            <a:off x="8020788"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9</a:t>
            </a:r>
            <a:endParaRPr lang="en-US" sz="1200" dirty="0"/>
          </a:p>
        </p:txBody>
      </p:sp>
      <p:sp>
        <p:nvSpPr>
          <p:cNvPr id="69" name="Text 60"/>
          <p:cNvSpPr/>
          <p:nvPr/>
        </p:nvSpPr>
        <p:spPr>
          <a:xfrm>
            <a:off x="8037084" y="5308600"/>
            <a:ext cx="5414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M</a:t>
            </a:r>
            <a:endParaRPr lang="en-US" sz="1200" dirty="0"/>
          </a:p>
        </p:txBody>
      </p:sp>
      <p:sp>
        <p:nvSpPr>
          <p:cNvPr id="70" name="Text 61"/>
          <p:cNvSpPr/>
          <p:nvPr/>
        </p:nvSpPr>
        <p:spPr>
          <a:xfrm>
            <a:off x="7998984"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6 depts</a:t>
            </a:r>
            <a:endParaRPr lang="en-US" sz="1200" dirty="0"/>
          </a:p>
        </p:txBody>
      </p:sp>
      <p:sp>
        <p:nvSpPr>
          <p:cNvPr id="71" name="Shape 62"/>
          <p:cNvSpPr/>
          <p:nvPr/>
        </p:nvSpPr>
        <p:spPr>
          <a:xfrm>
            <a:off x="8778796" y="5042536"/>
            <a:ext cx="827643" cy="745490"/>
          </a:xfrm>
          <a:prstGeom prst="roundRect">
            <a:avLst>
              <a:gd name="adj" fmla="val 8092"/>
            </a:avLst>
          </a:prstGeom>
          <a:solidFill>
            <a:srgbClr val="F7FBFE"/>
          </a:solidFill>
          <a:ln w="6350">
            <a:solidFill>
              <a:srgbClr val="B9D9F0"/>
            </a:solidFill>
            <a:prstDash val="solid"/>
          </a:ln>
        </p:spPr>
      </p:sp>
      <p:sp>
        <p:nvSpPr>
          <p:cNvPr id="72" name="Text 63"/>
          <p:cNvSpPr/>
          <p:nvPr/>
        </p:nvSpPr>
        <p:spPr>
          <a:xfrm>
            <a:off x="8850717" y="5095241"/>
            <a:ext cx="683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10</a:t>
            </a:r>
            <a:endParaRPr lang="en-US" sz="1200" dirty="0"/>
          </a:p>
        </p:txBody>
      </p:sp>
      <p:sp>
        <p:nvSpPr>
          <p:cNvPr id="73" name="Text 64"/>
          <p:cNvSpPr/>
          <p:nvPr/>
        </p:nvSpPr>
        <p:spPr>
          <a:xfrm>
            <a:off x="8931498" y="5308600"/>
            <a:ext cx="52216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N</a:t>
            </a:r>
            <a:endParaRPr lang="en-US" sz="1200" dirty="0"/>
          </a:p>
        </p:txBody>
      </p:sp>
      <p:sp>
        <p:nvSpPr>
          <p:cNvPr id="74" name="Text 65"/>
          <p:cNvSpPr/>
          <p:nvPr/>
        </p:nvSpPr>
        <p:spPr>
          <a:xfrm>
            <a:off x="8883777"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7 depts</a:t>
            </a:r>
            <a:endParaRPr lang="en-US" sz="1200" dirty="0"/>
          </a:p>
        </p:txBody>
      </p:sp>
      <p:sp>
        <p:nvSpPr>
          <p:cNvPr id="75" name="Shape 66"/>
          <p:cNvSpPr/>
          <p:nvPr/>
        </p:nvSpPr>
        <p:spPr>
          <a:xfrm>
            <a:off x="9663589" y="5042536"/>
            <a:ext cx="827643" cy="745490"/>
          </a:xfrm>
          <a:prstGeom prst="roundRect">
            <a:avLst>
              <a:gd name="adj" fmla="val 8092"/>
            </a:avLst>
          </a:prstGeom>
          <a:solidFill>
            <a:srgbClr val="F7FBFE"/>
          </a:solidFill>
          <a:ln w="6350">
            <a:solidFill>
              <a:srgbClr val="B9D9F0"/>
            </a:solidFill>
            <a:prstDash val="solid"/>
          </a:ln>
        </p:spPr>
      </p:sp>
      <p:sp>
        <p:nvSpPr>
          <p:cNvPr id="76" name="Text 67"/>
          <p:cNvSpPr/>
          <p:nvPr/>
        </p:nvSpPr>
        <p:spPr>
          <a:xfrm>
            <a:off x="9735510" y="5095241"/>
            <a:ext cx="683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11</a:t>
            </a:r>
            <a:endParaRPr lang="en-US" sz="1200" dirty="0"/>
          </a:p>
        </p:txBody>
      </p:sp>
      <p:sp>
        <p:nvSpPr>
          <p:cNvPr id="77" name="Text 68"/>
          <p:cNvSpPr/>
          <p:nvPr/>
        </p:nvSpPr>
        <p:spPr>
          <a:xfrm>
            <a:off x="9816195" y="5308600"/>
            <a:ext cx="52235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O</a:t>
            </a:r>
            <a:endParaRPr lang="en-US" sz="1200" dirty="0"/>
          </a:p>
        </p:txBody>
      </p:sp>
      <p:sp>
        <p:nvSpPr>
          <p:cNvPr id="78" name="Text 69"/>
          <p:cNvSpPr/>
          <p:nvPr/>
        </p:nvSpPr>
        <p:spPr>
          <a:xfrm>
            <a:off x="9768570"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8 depts</a:t>
            </a:r>
            <a:endParaRPr lang="en-US" sz="1200" dirty="0"/>
          </a:p>
        </p:txBody>
      </p:sp>
      <p:sp>
        <p:nvSpPr>
          <p:cNvPr id="79" name="Shape 70"/>
          <p:cNvSpPr/>
          <p:nvPr/>
        </p:nvSpPr>
        <p:spPr>
          <a:xfrm>
            <a:off x="10548382" y="5042536"/>
            <a:ext cx="827643" cy="745490"/>
          </a:xfrm>
          <a:prstGeom prst="roundRect">
            <a:avLst>
              <a:gd name="adj" fmla="val 8092"/>
            </a:avLst>
          </a:prstGeom>
          <a:solidFill>
            <a:srgbClr val="F7FBFE"/>
          </a:solidFill>
          <a:ln w="6350">
            <a:solidFill>
              <a:srgbClr val="B9D9F0"/>
            </a:solidFill>
            <a:prstDash val="solid"/>
          </a:ln>
        </p:spPr>
      </p:sp>
      <p:sp>
        <p:nvSpPr>
          <p:cNvPr id="80" name="Text 71"/>
          <p:cNvSpPr/>
          <p:nvPr/>
        </p:nvSpPr>
        <p:spPr>
          <a:xfrm>
            <a:off x="10620304" y="5095241"/>
            <a:ext cx="683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12</a:t>
            </a:r>
            <a:endParaRPr lang="en-US" sz="1200" dirty="0"/>
          </a:p>
        </p:txBody>
      </p:sp>
      <p:sp>
        <p:nvSpPr>
          <p:cNvPr id="81" name="Text 72"/>
          <p:cNvSpPr/>
          <p:nvPr/>
        </p:nvSpPr>
        <p:spPr>
          <a:xfrm>
            <a:off x="10710323" y="5308600"/>
            <a:ext cx="50368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P</a:t>
            </a:r>
            <a:endParaRPr lang="en-US" sz="1200" dirty="0"/>
          </a:p>
        </p:txBody>
      </p:sp>
      <p:sp>
        <p:nvSpPr>
          <p:cNvPr id="82" name="Text 73"/>
          <p:cNvSpPr/>
          <p:nvPr/>
        </p:nvSpPr>
        <p:spPr>
          <a:xfrm>
            <a:off x="10653364"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9 depts</a:t>
            </a:r>
            <a:endParaRPr lang="en-US" sz="1200" dirty="0"/>
          </a:p>
        </p:txBody>
      </p:sp>
      <p:sp>
        <p:nvSpPr>
          <p:cNvPr id="83" name="Text 74"/>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84" name="Text 75"/>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Server maintenance</a:t>
            </a:r>
            <a:endParaRPr lang="en-US" sz="3200" dirty="0"/>
          </a:p>
        </p:txBody>
      </p:sp>
      <p:sp>
        <p:nvSpPr>
          <p:cNvPr id="7" name="Shape 3"/>
          <p:cNvSpPr/>
          <p:nvPr/>
        </p:nvSpPr>
        <p:spPr>
          <a:xfrm>
            <a:off x="812800" y="2042161"/>
            <a:ext cx="3379867" cy="2164080"/>
          </a:xfrm>
          <a:prstGeom prst="roundRect">
            <a:avLst>
              <a:gd name="adj" fmla="val 4695"/>
            </a:avLst>
          </a:prstGeom>
          <a:solidFill>
            <a:srgbClr val="0B5FB0"/>
          </a:solidFill>
          <a:ln/>
        </p:spPr>
      </p:sp>
      <p:sp>
        <p:nvSpPr>
          <p:cNvPr id="8" name="Text 4"/>
          <p:cNvSpPr/>
          <p:nvPr/>
        </p:nvSpPr>
        <p:spPr>
          <a:xfrm>
            <a:off x="1066800" y="2296161"/>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6EAFA"/>
                </a:solidFill>
                <a:latin typeface="IBM Plex Sans" pitchFamily="34" charset="0"/>
                <a:ea typeface="IBM Plex Sans" pitchFamily="34" charset="-122"/>
                <a:cs typeface="IBM Plex Sans" pitchFamily="34" charset="-120"/>
              </a:rPr>
              <a:t>FLEET</a:t>
            </a:r>
            <a:endParaRPr lang="en-US" sz="1200" dirty="0"/>
          </a:p>
        </p:txBody>
      </p:sp>
      <p:sp>
        <p:nvSpPr>
          <p:cNvPr id="9" name="Text 5"/>
          <p:cNvSpPr/>
          <p:nvPr/>
        </p:nvSpPr>
        <p:spPr>
          <a:xfrm>
            <a:off x="1066800" y="2585721"/>
            <a:ext cx="2958023"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7FBFE"/>
                </a:solidFill>
                <a:latin typeface="IBM Plex Sans" pitchFamily="34" charset="0"/>
                <a:ea typeface="IBM Plex Sans" pitchFamily="34" charset="-122"/>
                <a:cs typeface="IBM Plex Sans" pitchFamily="34" charset="-120"/>
              </a:rPr>
              <a:t>85</a:t>
            </a:r>
            <a:endParaRPr lang="en-US" sz="4800" dirty="0"/>
          </a:p>
        </p:txBody>
      </p:sp>
      <p:sp>
        <p:nvSpPr>
          <p:cNvPr id="10" name="Text 6"/>
          <p:cNvSpPr/>
          <p:nvPr/>
        </p:nvSpPr>
        <p:spPr>
          <a:xfrm>
            <a:off x="1066800" y="3332482"/>
            <a:ext cx="295802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EAFA"/>
                </a:solidFill>
                <a:latin typeface="IBM Plex Sans" pitchFamily="34" charset="0"/>
                <a:ea typeface="IBM Plex Sans" pitchFamily="34" charset="-122"/>
                <a:cs typeface="IBM Plex Sans" pitchFamily="34" charset="-120"/>
              </a:rPr>
              <a:t>physical servers under PCM, ISBG</a:t>
            </a:r>
            <a:endParaRPr lang="en-US" sz="1600" dirty="0"/>
          </a:p>
        </p:txBody>
      </p:sp>
      <p:sp>
        <p:nvSpPr>
          <p:cNvPr id="11" name="Shape 7"/>
          <p:cNvSpPr/>
          <p:nvPr/>
        </p:nvSpPr>
        <p:spPr>
          <a:xfrm>
            <a:off x="4399042" y="2045336"/>
            <a:ext cx="3383756" cy="2157730"/>
          </a:xfrm>
          <a:prstGeom prst="roundRect">
            <a:avLst>
              <a:gd name="adj" fmla="val 4562"/>
            </a:avLst>
          </a:prstGeom>
          <a:solidFill>
            <a:srgbClr val="F7FBFE"/>
          </a:solidFill>
          <a:ln w="6350">
            <a:solidFill>
              <a:srgbClr val="B9D9F0"/>
            </a:solidFill>
            <a:prstDash val="solid"/>
          </a:ln>
        </p:spPr>
      </p:sp>
      <p:sp>
        <p:nvSpPr>
          <p:cNvPr id="12" name="Text 8"/>
          <p:cNvSpPr/>
          <p:nvPr/>
        </p:nvSpPr>
        <p:spPr>
          <a:xfrm>
            <a:off x="4654947" y="2301239"/>
            <a:ext cx="2958105"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SERVER TYPES</a:t>
            </a:r>
            <a:endParaRPr lang="en-US" sz="1200" dirty="0"/>
          </a:p>
        </p:txBody>
      </p:sp>
      <p:sp>
        <p:nvSpPr>
          <p:cNvPr id="13" name="Text 9"/>
          <p:cNvSpPr/>
          <p:nvPr/>
        </p:nvSpPr>
        <p:spPr>
          <a:xfrm>
            <a:off x="4677807" y="2590800"/>
            <a:ext cx="2927625" cy="1244600"/>
          </a:xfrm>
          <a:prstGeom prst="rect">
            <a:avLst/>
          </a:prstGeom>
          <a:noFill/>
          <a:ln/>
        </p:spPr>
        <p:txBody>
          <a:bodyPr wrap="square" lIns="0" tIns="0" rIns="0" bIns="0" rtlCol="0" anchor="t">
            <a:normAutofit/>
          </a:bodyPr>
          <a:lstStyle/>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Flat</a:t>
            </a:r>
            <a:endParaRPr lang="en-US" sz="2000" dirty="0"/>
          </a:p>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Mount</a:t>
            </a:r>
            <a:endParaRPr lang="en-US" sz="2000" dirty="0"/>
          </a:p>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Blade</a:t>
            </a:r>
            <a:endParaRPr lang="en-US" sz="2000" dirty="0"/>
          </a:p>
        </p:txBody>
      </p:sp>
      <p:sp>
        <p:nvSpPr>
          <p:cNvPr id="14" name="Shape 10"/>
          <p:cNvSpPr/>
          <p:nvPr/>
        </p:nvSpPr>
        <p:spPr>
          <a:xfrm>
            <a:off x="7992349" y="2045336"/>
            <a:ext cx="3383677" cy="2157730"/>
          </a:xfrm>
          <a:prstGeom prst="roundRect">
            <a:avLst>
              <a:gd name="adj" fmla="val 4562"/>
            </a:avLst>
          </a:prstGeom>
          <a:solidFill>
            <a:srgbClr val="F7FBFE"/>
          </a:solidFill>
          <a:ln w="6350">
            <a:solidFill>
              <a:srgbClr val="B9D9F0"/>
            </a:solidFill>
            <a:prstDash val="solid"/>
          </a:ln>
        </p:spPr>
      </p:sp>
      <p:sp>
        <p:nvSpPr>
          <p:cNvPr id="15" name="Text 11"/>
          <p:cNvSpPr/>
          <p:nvPr/>
        </p:nvSpPr>
        <p:spPr>
          <a:xfrm>
            <a:off x="8248253" y="2301239"/>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DISK PROTECTION (RAID)</a:t>
            </a:r>
            <a:endParaRPr lang="en-US" sz="1200" dirty="0"/>
          </a:p>
        </p:txBody>
      </p:sp>
      <p:sp>
        <p:nvSpPr>
          <p:cNvPr id="16" name="Text 12"/>
          <p:cNvSpPr/>
          <p:nvPr/>
        </p:nvSpPr>
        <p:spPr>
          <a:xfrm>
            <a:off x="8248253" y="2616200"/>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RAID 1</a:t>
            </a:r>
            <a:endParaRPr lang="en-US" sz="2000" dirty="0"/>
          </a:p>
        </p:txBody>
      </p:sp>
      <p:sp>
        <p:nvSpPr>
          <p:cNvPr id="17" name="Text 13"/>
          <p:cNvSpPr/>
          <p:nvPr/>
        </p:nvSpPr>
        <p:spPr>
          <a:xfrm>
            <a:off x="8248253" y="2946400"/>
            <a:ext cx="29580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Mirroring · 2 disks</a:t>
            </a:r>
            <a:endParaRPr lang="en-US" sz="1600" dirty="0"/>
          </a:p>
        </p:txBody>
      </p:sp>
      <p:sp>
        <p:nvSpPr>
          <p:cNvPr id="18" name="Text 14"/>
          <p:cNvSpPr/>
          <p:nvPr/>
        </p:nvSpPr>
        <p:spPr>
          <a:xfrm>
            <a:off x="8248253" y="3332482"/>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RAID 5</a:t>
            </a:r>
            <a:endParaRPr lang="en-US" sz="2000" dirty="0"/>
          </a:p>
        </p:txBody>
      </p:sp>
      <p:sp>
        <p:nvSpPr>
          <p:cNvPr id="19" name="Text 15"/>
          <p:cNvSpPr/>
          <p:nvPr/>
        </p:nvSpPr>
        <p:spPr>
          <a:xfrm>
            <a:off x="8248253" y="3662682"/>
            <a:ext cx="29580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Striping · 3+ disks</a:t>
            </a:r>
            <a:endParaRPr lang="en-US" sz="1600" dirty="0"/>
          </a:p>
        </p:txBody>
      </p:sp>
      <p:sp>
        <p:nvSpPr>
          <p:cNvPr id="20" name="Shape 16"/>
          <p:cNvSpPr/>
          <p:nvPr/>
        </p:nvSpPr>
        <p:spPr>
          <a:xfrm>
            <a:off x="812800" y="4511039"/>
            <a:ext cx="10566400" cy="762000"/>
          </a:xfrm>
          <a:prstGeom prst="roundRect">
            <a:avLst>
              <a:gd name="adj" fmla="val 13333"/>
            </a:avLst>
          </a:prstGeom>
          <a:solidFill>
            <a:srgbClr val="CFE6F7"/>
          </a:solidFill>
          <a:ln/>
        </p:spPr>
      </p:sp>
      <p:pic>
        <p:nvPicPr>
          <p:cNvPr id="21" name="Image 2" descr="Wrench">    </p:cNvPr>
          <p:cNvPicPr>
            <a:picLocks noChangeAspect="1"/>
          </p:cNvPicPr>
          <p:nvPr/>
        </p:nvPicPr>
        <p:blipFill>
          <a:blip r:embed="rId3"/>
          <a:srcRect l="0" r="0" t="0" b="0"/>
          <a:stretch/>
        </p:blipFill>
        <p:spPr>
          <a:xfrm>
            <a:off x="1066800" y="4714239"/>
            <a:ext cx="355600" cy="355600"/>
          </a:xfrm>
          <a:prstGeom prst="rect">
            <a:avLst/>
          </a:prstGeom>
        </p:spPr>
      </p:pic>
      <p:sp>
        <p:nvSpPr>
          <p:cNvPr id="22" name="Text 17"/>
          <p:cNvSpPr/>
          <p:nvPr/>
        </p:nvSpPr>
        <p:spPr>
          <a:xfrm>
            <a:off x="1574800" y="4749800"/>
            <a:ext cx="983691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Hot-swappable disks: a failed drive can be replaced without shutting the server down.</a:t>
            </a:r>
            <a:endParaRPr lang="en-US" sz="1600" dirty="0"/>
          </a:p>
        </p:txBody>
      </p:sp>
      <p:sp>
        <p:nvSpPr>
          <p:cNvPr id="23" name="Text 18"/>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4" name="Text 19"/>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Server roles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99921"/>
          <a:ext cx="10556240" cy="3317240"/>
        </p:xfrm>
        <a:graphic>
          <a:graphicData uri="http://schemas.openxmlformats.org/drawingml/2006/table">
            <a:tbl>
              <a:tblPr/>
              <a:tblGrid>
                <a:gridCol w="2744622"/>
                <a:gridCol w="7811618"/>
              </a:tblGrid>
              <a:tr h="356870">
                <a:tc>
                  <a:txBody>
                    <a:bodyPr/>
                    <a:lstStyle/>
                    <a:p>
                      <a:pPr indent="0" marL="0">
                        <a:lnSpc>
                          <a:spcPts val="1820"/>
                        </a:lnSpc>
                        <a:buNone/>
                      </a:pPr>
                      <a:r>
                        <a:rPr lang="en-US" sz="1300" b="1" dirty="0">
                          <a:solidFill>
                            <a:srgbClr val="F7FBFE"/>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0D284C"/>
                      </a:solidFill>
                      <a:prstDash val="solid"/>
                      <a:round/>
                      <a:headEnd type="none" w="med" len="med"/>
                      <a:tailEnd type="none" w="med" len="med"/>
                    </a:lnR>
                    <a:lnT w="12700" cap="flat" cmpd="sng" algn="ctr">
                      <a:solidFill>
                        <a:srgbClr val="B5C0C8"/>
                      </a:solidFill>
                      <a:prstDash val="solid"/>
                      <a:round/>
                      <a:headEnd type="none" w="med" len="med"/>
                      <a:tailEnd type="none" w="med" len="med"/>
                    </a:lnT>
                    <a:lnB w="12700" cap="flat" cmpd="sng" algn="ctr">
                      <a:solidFill>
                        <a:srgbClr val="0D284C"/>
                      </a:solidFill>
                      <a:prstDash val="solid"/>
                      <a:round/>
                      <a:headEnd type="none" w="med" len="med"/>
                      <a:tailEnd type="none" w="med" len="med"/>
                    </a:lnB>
                    <a:solidFill>
                      <a:srgbClr val="0B2E5C"/>
                    </a:solidFill>
                  </a:tcPr>
                </a:tc>
                <a:tc>
                  <a:txBody>
                    <a:bodyPr/>
                    <a:lstStyle/>
                    <a:p>
                      <a:pPr indent="0" marL="0">
                        <a:lnSpc>
                          <a:spcPts val="1820"/>
                        </a:lnSpc>
                        <a:buNone/>
                      </a:pPr>
                      <a:r>
                        <a:rPr lang="en-US" sz="1300" b="1" dirty="0">
                          <a:solidFill>
                            <a:srgbClr val="F7FBFE"/>
                          </a:solidFill>
                          <a:latin typeface="IBM Plex Sans" pitchFamily="34" charset="0"/>
                          <a:ea typeface="IBM Plex Sans" pitchFamily="34" charset="-122"/>
                          <a:cs typeface="IBM Plex Sans" pitchFamily="34" charset="-120"/>
                        </a:rPr>
                        <a:t>What it 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284C"/>
                      </a:solidFill>
                      <a:prstDash val="solid"/>
                      <a:round/>
                      <a:headEnd type="none" w="med" len="med"/>
                      <a:tailEnd type="none" w="med" len="med"/>
                    </a:lnL>
                    <a:lnR w="12700" cap="flat" cmpd="sng" algn="ctr">
                      <a:solidFill>
                        <a:srgbClr val="0D284C"/>
                      </a:solidFill>
                      <a:prstDash val="solid"/>
                      <a:round/>
                      <a:headEnd type="none" w="med" len="med"/>
                      <a:tailEnd type="none" w="med" len="med"/>
                    </a:lnR>
                    <a:lnT w="12700" cap="flat" cmpd="sng" algn="ctr">
                      <a:solidFill>
                        <a:srgbClr val="B5C0C8"/>
                      </a:solidFill>
                      <a:prstDash val="solid"/>
                      <a:round/>
                      <a:headEnd type="none" w="med" len="med"/>
                      <a:tailEnd type="none" w="med" len="med"/>
                    </a:lnT>
                    <a:lnB w="12700" cap="flat" cmpd="sng" algn="ctr">
                      <a:solidFill>
                        <a:srgbClr val="0D284C"/>
                      </a:solidFill>
                      <a:prstDash val="solid"/>
                      <a:round/>
                      <a:headEnd type="none" w="med" len="med"/>
                      <a:tailEnd type="none" w="med" len="med"/>
                    </a:lnB>
                    <a:solidFill>
                      <a:srgbClr val="0B2E5C"/>
                    </a:solidFill>
                  </a:tcPr>
                </a:tc>
              </a:tr>
              <a:tr h="58801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Active Directory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0D284C"/>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Stores users, computers and shared folders. Adding or removing a user needs the PCM head's permission; senior officials have no policy restrictions.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0D284C"/>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58801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DHCP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Assigns IP addresses to client PCs on a 30-day lease, so an idle PC's IP can go to a different PC. Static IPs are set manually, for servers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35687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DNS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Resolves host names to IP addresses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35687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Hyper-V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Runs several operating systems on one server, for example a virtual server for Active Directory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35687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Windows Update 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Delivers Windows updates to PCs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35687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Windows Deployment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Installs the OS on PCs over the network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35687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Web server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Hosts web applications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bl>
          </a:graphicData>
        </a:graphic>
      </p:graphicFrame>
      <p:sp>
        <p:nvSpPr>
          <p:cNvPr id="8" name="Text 3"/>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9" name="Text 4"/>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Antivirus support with Trend Micro</a:t>
            </a:r>
            <a:endParaRPr lang="en-US" sz="3200" dirty="0"/>
          </a:p>
        </p:txBody>
      </p:sp>
      <p:sp>
        <p:nvSpPr>
          <p:cNvPr id="7" name="Shape 3"/>
          <p:cNvSpPr/>
          <p:nvPr/>
        </p:nvSpPr>
        <p:spPr>
          <a:xfrm>
            <a:off x="812800" y="1889761"/>
            <a:ext cx="2519680" cy="1249680"/>
          </a:xfrm>
          <a:prstGeom prst="roundRect">
            <a:avLst>
              <a:gd name="adj" fmla="val 8130"/>
            </a:avLst>
          </a:prstGeom>
          <a:solidFill>
            <a:srgbClr val="0B5FB0"/>
          </a:solidFill>
          <a:ln/>
        </p:spPr>
      </p:sp>
      <p:sp>
        <p:nvSpPr>
          <p:cNvPr id="8" name="Text 4"/>
          <p:cNvSpPr/>
          <p:nvPr/>
        </p:nvSpPr>
        <p:spPr>
          <a:xfrm>
            <a:off x="965200" y="2042161"/>
            <a:ext cx="2281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Apex One server</a:t>
            </a:r>
            <a:endParaRPr lang="en-US" sz="1600" dirty="0"/>
          </a:p>
        </p:txBody>
      </p:sp>
      <p:sp>
        <p:nvSpPr>
          <p:cNvPr id="9" name="Text 5"/>
          <p:cNvSpPr/>
          <p:nvPr/>
        </p:nvSpPr>
        <p:spPr>
          <a:xfrm>
            <a:off x="965200" y="2336800"/>
            <a:ext cx="22813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Primary endpoint protection for about 4,800 PCs</a:t>
            </a:r>
            <a:endParaRPr lang="en-US" sz="1200" dirty="0"/>
          </a:p>
        </p:txBody>
      </p:sp>
      <p:sp>
        <p:nvSpPr>
          <p:cNvPr id="10" name="Shape 6"/>
          <p:cNvSpPr/>
          <p:nvPr/>
        </p:nvSpPr>
        <p:spPr>
          <a:xfrm>
            <a:off x="3488055" y="1892936"/>
            <a:ext cx="2523490" cy="1243330"/>
          </a:xfrm>
          <a:prstGeom prst="roundRect">
            <a:avLst>
              <a:gd name="adj" fmla="val 7916"/>
            </a:avLst>
          </a:prstGeom>
          <a:solidFill>
            <a:srgbClr val="F7FBFE"/>
          </a:solidFill>
          <a:ln w="6350">
            <a:solidFill>
              <a:srgbClr val="B9D9F0"/>
            </a:solidFill>
            <a:prstDash val="solid"/>
          </a:ln>
        </p:spPr>
      </p:sp>
      <p:sp>
        <p:nvSpPr>
          <p:cNvPr id="11" name="Text 7"/>
          <p:cNvSpPr/>
          <p:nvPr/>
        </p:nvSpPr>
        <p:spPr>
          <a:xfrm>
            <a:off x="3642360" y="2047239"/>
            <a:ext cx="2281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Apex Central server</a:t>
            </a:r>
            <a:endParaRPr lang="en-US" sz="1600" dirty="0"/>
          </a:p>
        </p:txBody>
      </p:sp>
      <p:sp>
        <p:nvSpPr>
          <p:cNvPr id="12" name="Text 8"/>
          <p:cNvSpPr/>
          <p:nvPr/>
        </p:nvSpPr>
        <p:spPr>
          <a:xfrm>
            <a:off x="3642360" y="2341882"/>
            <a:ext cx="22813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Centralized management of the antivirus setup</a:t>
            </a:r>
            <a:endParaRPr lang="en-US" sz="1200" dirty="0"/>
          </a:p>
        </p:txBody>
      </p:sp>
      <p:sp>
        <p:nvSpPr>
          <p:cNvPr id="13" name="Shape 9"/>
          <p:cNvSpPr/>
          <p:nvPr/>
        </p:nvSpPr>
        <p:spPr>
          <a:xfrm>
            <a:off x="6170295" y="1892936"/>
            <a:ext cx="2523490" cy="1243330"/>
          </a:xfrm>
          <a:prstGeom prst="roundRect">
            <a:avLst>
              <a:gd name="adj" fmla="val 7916"/>
            </a:avLst>
          </a:prstGeom>
          <a:solidFill>
            <a:srgbClr val="F7FBFE"/>
          </a:solidFill>
          <a:ln w="6350">
            <a:solidFill>
              <a:srgbClr val="B9D9F0"/>
            </a:solidFill>
            <a:prstDash val="solid"/>
          </a:ln>
        </p:spPr>
      </p:sp>
      <p:sp>
        <p:nvSpPr>
          <p:cNvPr id="14" name="Text 10"/>
          <p:cNvSpPr/>
          <p:nvPr/>
        </p:nvSpPr>
        <p:spPr>
          <a:xfrm>
            <a:off x="6324600" y="2047239"/>
            <a:ext cx="2281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SQL database server</a:t>
            </a:r>
            <a:endParaRPr lang="en-US" sz="1600" dirty="0"/>
          </a:p>
        </p:txBody>
      </p:sp>
      <p:sp>
        <p:nvSpPr>
          <p:cNvPr id="15" name="Text 11"/>
          <p:cNvSpPr/>
          <p:nvPr/>
        </p:nvSpPr>
        <p:spPr>
          <a:xfrm>
            <a:off x="6324600" y="2341882"/>
            <a:ext cx="22813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Microsoft SQL Server on a VM; stores Apex One data</a:t>
            </a:r>
            <a:endParaRPr lang="en-US" sz="1200" dirty="0"/>
          </a:p>
        </p:txBody>
      </p:sp>
      <p:sp>
        <p:nvSpPr>
          <p:cNvPr id="16" name="Shape 12"/>
          <p:cNvSpPr/>
          <p:nvPr/>
        </p:nvSpPr>
        <p:spPr>
          <a:xfrm>
            <a:off x="8852535" y="1892936"/>
            <a:ext cx="2523490" cy="1243330"/>
          </a:xfrm>
          <a:prstGeom prst="roundRect">
            <a:avLst>
              <a:gd name="adj" fmla="val 7916"/>
            </a:avLst>
          </a:prstGeom>
          <a:solidFill>
            <a:srgbClr val="F7FBFE"/>
          </a:solidFill>
          <a:ln w="6350">
            <a:solidFill>
              <a:srgbClr val="B9D9F0"/>
            </a:solidFill>
            <a:prstDash val="solid"/>
          </a:ln>
        </p:spPr>
      </p:sp>
      <p:sp>
        <p:nvSpPr>
          <p:cNvPr id="17" name="Text 13"/>
          <p:cNvSpPr/>
          <p:nvPr/>
        </p:nvSpPr>
        <p:spPr>
          <a:xfrm>
            <a:off x="9006840" y="2047239"/>
            <a:ext cx="2281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Backup server</a:t>
            </a:r>
            <a:endParaRPr lang="en-US" sz="1600" dirty="0"/>
          </a:p>
        </p:txBody>
      </p:sp>
      <p:sp>
        <p:nvSpPr>
          <p:cNvPr id="18" name="Text 14"/>
          <p:cNvSpPr/>
          <p:nvPr/>
        </p:nvSpPr>
        <p:spPr>
          <a:xfrm>
            <a:off x="9006840" y="2341882"/>
            <a:ext cx="22813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Powered on once a month to back up the antivirus, then shut down</a:t>
            </a:r>
            <a:endParaRPr lang="en-US" sz="1200" dirty="0"/>
          </a:p>
        </p:txBody>
      </p:sp>
      <p:sp>
        <p:nvSpPr>
          <p:cNvPr id="19" name="Text 15"/>
          <p:cNvSpPr/>
          <p:nvPr/>
        </p:nvSpPr>
        <p:spPr>
          <a:xfrm>
            <a:off x="812800" y="32918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WHAT THE ANTIVIRUS TEAM DOES</a:t>
            </a:r>
            <a:endParaRPr lang="en-US" sz="1200" dirty="0"/>
          </a:p>
        </p:txBody>
      </p:sp>
      <p:sp>
        <p:nvSpPr>
          <p:cNvPr id="20" name="Shape 16"/>
          <p:cNvSpPr/>
          <p:nvPr/>
        </p:nvSpPr>
        <p:spPr>
          <a:xfrm>
            <a:off x="815975" y="3660775"/>
            <a:ext cx="5200650" cy="735330"/>
          </a:xfrm>
          <a:prstGeom prst="roundRect">
            <a:avLst>
              <a:gd name="adj" fmla="val 13385"/>
            </a:avLst>
          </a:prstGeom>
          <a:solidFill>
            <a:srgbClr val="F7FBFE"/>
          </a:solidFill>
          <a:ln w="6350">
            <a:solidFill>
              <a:srgbClr val="B9D9F0"/>
            </a:solidFill>
            <a:prstDash val="solid"/>
          </a:ln>
        </p:spPr>
      </p:sp>
      <p:pic>
        <p:nvPicPr>
          <p:cNvPr id="21" name="Image 2" descr="Settings">    </p:cNvPr>
          <p:cNvPicPr>
            <a:picLocks noChangeAspect="1"/>
          </p:cNvPicPr>
          <p:nvPr/>
        </p:nvPicPr>
        <p:blipFill>
          <a:blip r:embed="rId3"/>
          <a:srcRect l="0" r="0" t="0" b="0"/>
          <a:stretch/>
        </p:blipFill>
        <p:spPr>
          <a:xfrm>
            <a:off x="1021080" y="3850639"/>
            <a:ext cx="355600" cy="355600"/>
          </a:xfrm>
          <a:prstGeom prst="rect">
            <a:avLst/>
          </a:prstGeom>
        </p:spPr>
      </p:pic>
      <p:sp>
        <p:nvSpPr>
          <p:cNvPr id="22" name="Text 17"/>
          <p:cNvSpPr/>
          <p:nvPr/>
        </p:nvSpPr>
        <p:spPr>
          <a:xfrm>
            <a:off x="1529080" y="3815082"/>
            <a:ext cx="441091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Disable antivirus temporarily when a user installs software or transfers data</a:t>
            </a:r>
            <a:endParaRPr lang="en-US" sz="1200" dirty="0"/>
          </a:p>
        </p:txBody>
      </p:sp>
      <p:sp>
        <p:nvSpPr>
          <p:cNvPr id="23" name="Shape 18"/>
          <p:cNvSpPr/>
          <p:nvPr/>
        </p:nvSpPr>
        <p:spPr>
          <a:xfrm>
            <a:off x="6175375" y="3660775"/>
            <a:ext cx="5200650" cy="735330"/>
          </a:xfrm>
          <a:prstGeom prst="roundRect">
            <a:avLst>
              <a:gd name="adj" fmla="val 13385"/>
            </a:avLst>
          </a:prstGeom>
          <a:solidFill>
            <a:srgbClr val="F7FBFE"/>
          </a:solidFill>
          <a:ln w="6350">
            <a:solidFill>
              <a:srgbClr val="B9D9F0"/>
            </a:solidFill>
            <a:prstDash val="solid"/>
          </a:ln>
        </p:spPr>
      </p:sp>
      <p:pic>
        <p:nvPicPr>
          <p:cNvPr id="24" name="Image 3" descr="Users">    </p:cNvPr>
          <p:cNvPicPr>
            <a:picLocks noChangeAspect="1"/>
          </p:cNvPicPr>
          <p:nvPr/>
        </p:nvPicPr>
        <p:blipFill>
          <a:blip r:embed="rId4"/>
          <a:srcRect l="0" r="0" t="0" b="0"/>
          <a:stretch/>
        </p:blipFill>
        <p:spPr>
          <a:xfrm>
            <a:off x="6380480" y="3850639"/>
            <a:ext cx="355600" cy="355600"/>
          </a:xfrm>
          <a:prstGeom prst="rect">
            <a:avLst/>
          </a:prstGeom>
        </p:spPr>
      </p:pic>
      <p:sp>
        <p:nvSpPr>
          <p:cNvPr id="25" name="Text 19"/>
          <p:cNvSpPr/>
          <p:nvPr/>
        </p:nvSpPr>
        <p:spPr>
          <a:xfrm>
            <a:off x="6888480" y="3921761"/>
            <a:ext cx="44109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Push the agent to users and apply the policy</a:t>
            </a:r>
            <a:endParaRPr lang="en-US" sz="1200" dirty="0"/>
          </a:p>
        </p:txBody>
      </p:sp>
      <p:sp>
        <p:nvSpPr>
          <p:cNvPr id="26" name="Shape 20"/>
          <p:cNvSpPr/>
          <p:nvPr/>
        </p:nvSpPr>
        <p:spPr>
          <a:xfrm>
            <a:off x="815975" y="4554857"/>
            <a:ext cx="5200650" cy="664210"/>
          </a:xfrm>
          <a:prstGeom prst="roundRect">
            <a:avLst>
              <a:gd name="adj" fmla="val 14818"/>
            </a:avLst>
          </a:prstGeom>
          <a:solidFill>
            <a:srgbClr val="F7FBFE"/>
          </a:solidFill>
          <a:ln w="6350">
            <a:solidFill>
              <a:srgbClr val="B9D9F0"/>
            </a:solidFill>
            <a:prstDash val="solid"/>
          </a:ln>
        </p:spPr>
      </p:sp>
      <p:pic>
        <p:nvPicPr>
          <p:cNvPr id="27" name="Image 4" descr="Lock">    </p:cNvPr>
          <p:cNvPicPr>
            <a:picLocks noChangeAspect="1"/>
          </p:cNvPicPr>
          <p:nvPr/>
        </p:nvPicPr>
        <p:blipFill>
          <a:blip r:embed="rId5"/>
          <a:srcRect l="0" r="0" t="0" b="0"/>
          <a:stretch/>
        </p:blipFill>
        <p:spPr>
          <a:xfrm>
            <a:off x="1021080" y="4709161"/>
            <a:ext cx="355600" cy="355600"/>
          </a:xfrm>
          <a:prstGeom prst="rect">
            <a:avLst/>
          </a:prstGeom>
        </p:spPr>
      </p:pic>
      <p:sp>
        <p:nvSpPr>
          <p:cNvPr id="28" name="Text 21"/>
          <p:cNvSpPr/>
          <p:nvPr/>
        </p:nvSpPr>
        <p:spPr>
          <a:xfrm>
            <a:off x="1529080" y="4780282"/>
            <a:ext cx="44109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Enable or disable USB ports for users</a:t>
            </a:r>
            <a:endParaRPr lang="en-US" sz="1200" dirty="0"/>
          </a:p>
        </p:txBody>
      </p:sp>
      <p:sp>
        <p:nvSpPr>
          <p:cNvPr id="29" name="Shape 22"/>
          <p:cNvSpPr/>
          <p:nvPr/>
        </p:nvSpPr>
        <p:spPr>
          <a:xfrm>
            <a:off x="6175375" y="4554857"/>
            <a:ext cx="5200650" cy="664210"/>
          </a:xfrm>
          <a:prstGeom prst="roundRect">
            <a:avLst>
              <a:gd name="adj" fmla="val 14818"/>
            </a:avLst>
          </a:prstGeom>
          <a:solidFill>
            <a:srgbClr val="F7FBFE"/>
          </a:solidFill>
          <a:ln w="6350">
            <a:solidFill>
              <a:srgbClr val="B9D9F0"/>
            </a:solidFill>
            <a:prstDash val="solid"/>
          </a:ln>
        </p:spPr>
      </p:sp>
      <p:pic>
        <p:nvPicPr>
          <p:cNvPr id="30" name="Image 5" descr="Key">    </p:cNvPr>
          <p:cNvPicPr>
            <a:picLocks noChangeAspect="1"/>
          </p:cNvPicPr>
          <p:nvPr/>
        </p:nvPicPr>
        <p:blipFill>
          <a:blip r:embed="rId6"/>
          <a:srcRect l="0" r="0" t="0" b="0"/>
          <a:stretch/>
        </p:blipFill>
        <p:spPr>
          <a:xfrm>
            <a:off x="6380480" y="4709161"/>
            <a:ext cx="355600" cy="355600"/>
          </a:xfrm>
          <a:prstGeom prst="rect">
            <a:avLst/>
          </a:prstGeom>
        </p:spPr>
      </p:pic>
      <p:sp>
        <p:nvSpPr>
          <p:cNvPr id="31" name="Text 23"/>
          <p:cNvSpPr/>
          <p:nvPr/>
        </p:nvSpPr>
        <p:spPr>
          <a:xfrm>
            <a:off x="6888480" y="4780282"/>
            <a:ext cx="44109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Set CD/DVD permissions</a:t>
            </a:r>
            <a:endParaRPr lang="en-US" sz="1200" dirty="0"/>
          </a:p>
        </p:txBody>
      </p:sp>
      <p:sp>
        <p:nvSpPr>
          <p:cNvPr id="32" name="Text 24"/>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3" name="Text 25"/>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Network Monitoring Center (NMC)</a:t>
            </a:r>
            <a:endParaRPr lang="en-US" sz="3200" dirty="0"/>
          </a:p>
        </p:txBody>
      </p:sp>
      <p:sp>
        <p:nvSpPr>
          <p:cNvPr id="7" name="Text 3"/>
          <p:cNvSpPr/>
          <p:nvPr/>
        </p:nvSpPr>
        <p:spPr>
          <a:xfrm>
            <a:off x="812800" y="194056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The NMC watches over BEL's network and acts on faults, new connections and hardware problems.</a:t>
            </a:r>
            <a:endParaRPr lang="en-US" sz="1600" dirty="0"/>
          </a:p>
        </p:txBody>
      </p:sp>
      <p:sp>
        <p:nvSpPr>
          <p:cNvPr id="8" name="Shape 4"/>
          <p:cNvSpPr/>
          <p:nvPr/>
        </p:nvSpPr>
        <p:spPr>
          <a:xfrm>
            <a:off x="815975" y="2431414"/>
            <a:ext cx="3380264" cy="1639570"/>
          </a:xfrm>
          <a:prstGeom prst="roundRect">
            <a:avLst>
              <a:gd name="adj" fmla="val 6003"/>
            </a:avLst>
          </a:prstGeom>
          <a:solidFill>
            <a:srgbClr val="F7FBFE"/>
          </a:solidFill>
          <a:ln w="6350">
            <a:solidFill>
              <a:srgbClr val="B9D9F0"/>
            </a:solidFill>
            <a:prstDash val="solid"/>
          </a:ln>
        </p:spPr>
      </p:sp>
      <p:pic>
        <p:nvPicPr>
          <p:cNvPr id="9" name="Image 2" descr="Link">    </p:cNvPr>
          <p:cNvPicPr>
            <a:picLocks noChangeAspect="1"/>
          </p:cNvPicPr>
          <p:nvPr/>
        </p:nvPicPr>
        <p:blipFill>
          <a:blip r:embed="rId3"/>
          <a:srcRect l="0" r="0" t="0" b="0"/>
          <a:stretch/>
        </p:blipFill>
        <p:spPr>
          <a:xfrm>
            <a:off x="1021080" y="2636521"/>
            <a:ext cx="355600" cy="355600"/>
          </a:xfrm>
          <a:prstGeom prst="rect">
            <a:avLst/>
          </a:prstGeom>
        </p:spPr>
      </p:pic>
      <p:sp>
        <p:nvSpPr>
          <p:cNvPr id="10" name="Text 5"/>
          <p:cNvSpPr/>
          <p:nvPr/>
        </p:nvSpPr>
        <p:spPr>
          <a:xfrm>
            <a:off x="1021080" y="3093721"/>
            <a:ext cx="305915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New connections</a:t>
            </a:r>
            <a:endParaRPr lang="en-US" sz="1600" dirty="0"/>
          </a:p>
        </p:txBody>
      </p:sp>
      <p:sp>
        <p:nvSpPr>
          <p:cNvPr id="11" name="Text 6"/>
          <p:cNvSpPr/>
          <p:nvPr/>
        </p:nvSpPr>
        <p:spPr>
          <a:xfrm>
            <a:off x="1021080" y="3439161"/>
            <a:ext cx="305915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Providing network connections to users and departments</a:t>
            </a:r>
            <a:endParaRPr lang="en-US" sz="1200" dirty="0"/>
          </a:p>
        </p:txBody>
      </p:sp>
      <p:sp>
        <p:nvSpPr>
          <p:cNvPr id="12" name="Shape 7"/>
          <p:cNvSpPr/>
          <p:nvPr/>
        </p:nvSpPr>
        <p:spPr>
          <a:xfrm>
            <a:off x="4405789" y="2431414"/>
            <a:ext cx="3380343" cy="1639570"/>
          </a:xfrm>
          <a:prstGeom prst="roundRect">
            <a:avLst>
              <a:gd name="adj" fmla="val 6003"/>
            </a:avLst>
          </a:prstGeom>
          <a:solidFill>
            <a:srgbClr val="F7FBFE"/>
          </a:solidFill>
          <a:ln w="6350">
            <a:solidFill>
              <a:srgbClr val="B9D9F0"/>
            </a:solidFill>
            <a:prstDash val="solid"/>
          </a:ln>
        </p:spPr>
      </p:sp>
      <p:pic>
        <p:nvPicPr>
          <p:cNvPr id="13" name="Image 3" descr="Activity">    </p:cNvPr>
          <p:cNvPicPr>
            <a:picLocks noChangeAspect="1"/>
          </p:cNvPicPr>
          <p:nvPr/>
        </p:nvPicPr>
        <p:blipFill>
          <a:blip r:embed="rId4"/>
          <a:srcRect l="0" r="0" t="0" b="0"/>
          <a:stretch/>
        </p:blipFill>
        <p:spPr>
          <a:xfrm>
            <a:off x="4610894" y="2636521"/>
            <a:ext cx="355600" cy="355600"/>
          </a:xfrm>
          <a:prstGeom prst="rect">
            <a:avLst/>
          </a:prstGeom>
        </p:spPr>
      </p:pic>
      <p:sp>
        <p:nvSpPr>
          <p:cNvPr id="14" name="Text 8"/>
          <p:cNvSpPr/>
          <p:nvPr/>
        </p:nvSpPr>
        <p:spPr>
          <a:xfrm>
            <a:off x="4610894" y="3093721"/>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Network issue resolution</a:t>
            </a:r>
            <a:endParaRPr lang="en-US" sz="1600" dirty="0"/>
          </a:p>
        </p:txBody>
      </p:sp>
      <p:sp>
        <p:nvSpPr>
          <p:cNvPr id="15" name="Text 9"/>
          <p:cNvSpPr/>
          <p:nvPr/>
        </p:nvSpPr>
        <p:spPr>
          <a:xfrm>
            <a:off x="4610894" y="3439161"/>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Finding and fixing faults reported by users or raised by monitoring</a:t>
            </a:r>
            <a:endParaRPr lang="en-US" sz="1200" dirty="0"/>
          </a:p>
        </p:txBody>
      </p:sp>
      <p:sp>
        <p:nvSpPr>
          <p:cNvPr id="16" name="Shape 10"/>
          <p:cNvSpPr/>
          <p:nvPr/>
        </p:nvSpPr>
        <p:spPr>
          <a:xfrm>
            <a:off x="7995682" y="2431414"/>
            <a:ext cx="3380343" cy="1639570"/>
          </a:xfrm>
          <a:prstGeom prst="roundRect">
            <a:avLst>
              <a:gd name="adj" fmla="val 6003"/>
            </a:avLst>
          </a:prstGeom>
          <a:solidFill>
            <a:srgbClr val="F7FBFE"/>
          </a:solidFill>
          <a:ln w="6350">
            <a:solidFill>
              <a:srgbClr val="B9D9F0"/>
            </a:solidFill>
            <a:prstDash val="solid"/>
          </a:ln>
        </p:spPr>
      </p:sp>
      <p:pic>
        <p:nvPicPr>
          <p:cNvPr id="17" name="Image 4" descr="Wrench">    </p:cNvPr>
          <p:cNvPicPr>
            <a:picLocks noChangeAspect="1"/>
          </p:cNvPicPr>
          <p:nvPr/>
        </p:nvPicPr>
        <p:blipFill>
          <a:blip r:embed="rId5"/>
          <a:srcRect l="0" r="0" t="0" b="0"/>
          <a:stretch/>
        </p:blipFill>
        <p:spPr>
          <a:xfrm>
            <a:off x="8200787" y="2636521"/>
            <a:ext cx="355600" cy="355600"/>
          </a:xfrm>
          <a:prstGeom prst="rect">
            <a:avLst/>
          </a:prstGeom>
        </p:spPr>
      </p:pic>
      <p:sp>
        <p:nvSpPr>
          <p:cNvPr id="18" name="Text 11"/>
          <p:cNvSpPr/>
          <p:nvPr/>
        </p:nvSpPr>
        <p:spPr>
          <a:xfrm>
            <a:off x="8200787" y="3093721"/>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Network hardware issues</a:t>
            </a:r>
            <a:endParaRPr lang="en-US" sz="1600" dirty="0"/>
          </a:p>
        </p:txBody>
      </p:sp>
      <p:sp>
        <p:nvSpPr>
          <p:cNvPr id="19" name="Text 12"/>
          <p:cNvSpPr/>
          <p:nvPr/>
        </p:nvSpPr>
        <p:spPr>
          <a:xfrm>
            <a:off x="8200787" y="3439161"/>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Switches, routers and other network equipment</a:t>
            </a:r>
            <a:endParaRPr lang="en-US" sz="1200" dirty="0"/>
          </a:p>
        </p:txBody>
      </p:sp>
      <p:sp>
        <p:nvSpPr>
          <p:cNvPr id="20" name="Text 13"/>
          <p:cNvSpPr/>
          <p:nvPr/>
        </p:nvSpPr>
        <p:spPr>
          <a:xfrm>
            <a:off x="812800" y="4277364"/>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ALSO PART OF NMC WORK</a:t>
            </a:r>
            <a:endParaRPr lang="en-US" sz="1200" dirty="0"/>
          </a:p>
        </p:txBody>
      </p:sp>
      <p:sp>
        <p:nvSpPr>
          <p:cNvPr id="21" name="Text 14"/>
          <p:cNvSpPr/>
          <p:nvPr/>
        </p:nvSpPr>
        <p:spPr>
          <a:xfrm>
            <a:off x="812800" y="4566921"/>
            <a:ext cx="2165826"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Device and link monitoring</a:t>
            </a:r>
            <a:endParaRPr lang="en-US" sz="1200" dirty="0"/>
          </a:p>
        </p:txBody>
      </p:sp>
      <p:sp>
        <p:nvSpPr>
          <p:cNvPr id="22" name="Text 15"/>
          <p:cNvSpPr/>
          <p:nvPr/>
        </p:nvSpPr>
        <p:spPr>
          <a:xfrm>
            <a:off x="3080226" y="4566921"/>
            <a:ext cx="2256552"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Fault logging and escalation</a:t>
            </a:r>
            <a:endParaRPr lang="en-US" sz="1200" dirty="0"/>
          </a:p>
        </p:txBody>
      </p:sp>
      <p:sp>
        <p:nvSpPr>
          <p:cNvPr id="23" name="Text 16"/>
          <p:cNvSpPr/>
          <p:nvPr/>
        </p:nvSpPr>
        <p:spPr>
          <a:xfrm>
            <a:off x="5438378" y="4566921"/>
            <a:ext cx="1885553"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Configuration backups</a:t>
            </a:r>
            <a:endParaRPr lang="en-US" sz="1200" dirty="0"/>
          </a:p>
        </p:txBody>
      </p:sp>
      <p:sp>
        <p:nvSpPr>
          <p:cNvPr id="24" name="Text 17"/>
          <p:cNvSpPr/>
          <p:nvPr/>
        </p:nvSpPr>
        <p:spPr>
          <a:xfrm>
            <a:off x="7425531" y="4566921"/>
            <a:ext cx="1387554"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Uptime reports</a:t>
            </a:r>
            <a:endParaRPr lang="en-US" sz="1200" dirty="0"/>
          </a:p>
        </p:txBody>
      </p:sp>
      <p:sp>
        <p:nvSpPr>
          <p:cNvPr id="25" name="Text 18"/>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6" name="Text 19"/>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The network in BEL</a:t>
            </a:r>
            <a:endParaRPr lang="en-US" sz="3200" dirty="0"/>
          </a:p>
        </p:txBody>
      </p:sp>
      <p:sp>
        <p:nvSpPr>
          <p:cNvPr id="7" name="Shape 3"/>
          <p:cNvSpPr/>
          <p:nvPr/>
        </p:nvSpPr>
        <p:spPr>
          <a:xfrm>
            <a:off x="812800" y="1889764"/>
            <a:ext cx="5176520" cy="934720"/>
          </a:xfrm>
          <a:prstGeom prst="roundRect">
            <a:avLst>
              <a:gd name="adj" fmla="val 10870"/>
            </a:avLst>
          </a:prstGeom>
          <a:solidFill>
            <a:srgbClr val="0B5FB0"/>
          </a:solidFill>
          <a:ln/>
        </p:spPr>
      </p:sp>
      <p:sp>
        <p:nvSpPr>
          <p:cNvPr id="8" name="Text 4"/>
          <p:cNvSpPr/>
          <p:nvPr/>
        </p:nvSpPr>
        <p:spPr>
          <a:xfrm>
            <a:off x="1066800" y="2067564"/>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Intranet</a:t>
            </a:r>
            <a:endParaRPr lang="en-US" sz="2000" dirty="0"/>
          </a:p>
        </p:txBody>
      </p:sp>
      <p:sp>
        <p:nvSpPr>
          <p:cNvPr id="9" name="Text 5"/>
          <p:cNvSpPr/>
          <p:nvPr/>
        </p:nvSpPr>
        <p:spPr>
          <a:xfrm>
            <a:off x="1066800" y="2423164"/>
            <a:ext cx="48085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ERP, internal mail, IP telephony and video conferencing</a:t>
            </a:r>
            <a:endParaRPr lang="en-US" sz="1200" dirty="0"/>
          </a:p>
        </p:txBody>
      </p:sp>
      <p:sp>
        <p:nvSpPr>
          <p:cNvPr id="10" name="Shape 6"/>
          <p:cNvSpPr/>
          <p:nvPr/>
        </p:nvSpPr>
        <p:spPr>
          <a:xfrm>
            <a:off x="6195695" y="1892939"/>
            <a:ext cx="5180330" cy="928370"/>
          </a:xfrm>
          <a:prstGeom prst="roundRect">
            <a:avLst>
              <a:gd name="adj" fmla="val 10602"/>
            </a:avLst>
          </a:prstGeom>
          <a:solidFill>
            <a:srgbClr val="F7FBFE"/>
          </a:solidFill>
          <a:ln w="6350">
            <a:solidFill>
              <a:srgbClr val="B9D9F0"/>
            </a:solidFill>
            <a:prstDash val="solid"/>
          </a:ln>
        </p:spPr>
      </p:sp>
      <p:sp>
        <p:nvSpPr>
          <p:cNvPr id="11" name="Text 7"/>
          <p:cNvSpPr/>
          <p:nvPr/>
        </p:nvSpPr>
        <p:spPr>
          <a:xfrm>
            <a:off x="6451600" y="2072642"/>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Internet</a:t>
            </a:r>
            <a:endParaRPr lang="en-US" sz="2000" dirty="0"/>
          </a:p>
        </p:txBody>
      </p:sp>
      <p:sp>
        <p:nvSpPr>
          <p:cNvPr id="12" name="Text 8"/>
          <p:cNvSpPr/>
          <p:nvPr/>
        </p:nvSpPr>
        <p:spPr>
          <a:xfrm>
            <a:off x="6451600" y="2428242"/>
            <a:ext cx="48085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External mail, web browsing and e-procurement</a:t>
            </a:r>
            <a:endParaRPr lang="en-US" sz="1200" dirty="0"/>
          </a:p>
        </p:txBody>
      </p:sp>
      <p:sp>
        <p:nvSpPr>
          <p:cNvPr id="13" name="Text 9"/>
          <p:cNvSpPr/>
          <p:nvPr/>
        </p:nvSpPr>
        <p:spPr>
          <a:xfrm>
            <a:off x="812800" y="29768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THE INTRANET IS DIVIDED INTO 3 ZONES</a:t>
            </a:r>
            <a:endParaRPr lang="en-US" sz="1200" dirty="0"/>
          </a:p>
        </p:txBody>
      </p:sp>
      <p:sp>
        <p:nvSpPr>
          <p:cNvPr id="14" name="Shape 10"/>
          <p:cNvSpPr/>
          <p:nvPr/>
        </p:nvSpPr>
        <p:spPr>
          <a:xfrm>
            <a:off x="812800" y="3342642"/>
            <a:ext cx="3379867" cy="1229360"/>
          </a:xfrm>
          <a:prstGeom prst="roundRect">
            <a:avLst>
              <a:gd name="adj" fmla="val 8264"/>
            </a:avLst>
          </a:prstGeom>
          <a:solidFill>
            <a:srgbClr val="0B2E5C"/>
          </a:solidFill>
          <a:ln/>
        </p:spPr>
      </p:sp>
      <p:sp>
        <p:nvSpPr>
          <p:cNvPr id="15" name="Text 11"/>
          <p:cNvSpPr/>
          <p:nvPr/>
        </p:nvSpPr>
        <p:spPr>
          <a:xfrm>
            <a:off x="1066800" y="3520442"/>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MCE zone</a:t>
            </a:r>
            <a:endParaRPr lang="en-US" sz="2000" dirty="0"/>
          </a:p>
        </p:txBody>
      </p:sp>
      <p:sp>
        <p:nvSpPr>
          <p:cNvPr id="16" name="Text 12"/>
          <p:cNvSpPr/>
          <p:nvPr/>
        </p:nvSpPr>
        <p:spPr>
          <a:xfrm>
            <a:off x="1066800" y="3876042"/>
            <a:ext cx="29580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14A"/>
                </a:solidFill>
                <a:latin typeface="IBM Plex Sans" pitchFamily="34" charset="0"/>
                <a:ea typeface="IBM Plex Sans" pitchFamily="34" charset="-122"/>
                <a:cs typeface="IBM Plex Sans" pitchFamily="34" charset="-120"/>
              </a:rPr>
              <a:t>172.193.x.x</a:t>
            </a:r>
            <a:endParaRPr lang="en-US" sz="1600" dirty="0"/>
          </a:p>
        </p:txBody>
      </p:sp>
      <p:sp>
        <p:nvSpPr>
          <p:cNvPr id="17" name="Text 13"/>
          <p:cNvSpPr/>
          <p:nvPr/>
        </p:nvSpPr>
        <p:spPr>
          <a:xfrm>
            <a:off x="1066800" y="4170679"/>
            <a:ext cx="2958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Main zone: connects all the other zones</a:t>
            </a:r>
            <a:endParaRPr lang="en-US" sz="1200" dirty="0"/>
          </a:p>
        </p:txBody>
      </p:sp>
      <p:sp>
        <p:nvSpPr>
          <p:cNvPr id="18" name="Shape 14"/>
          <p:cNvSpPr/>
          <p:nvPr/>
        </p:nvSpPr>
        <p:spPr>
          <a:xfrm>
            <a:off x="4399042" y="3345817"/>
            <a:ext cx="3383756" cy="1223010"/>
          </a:xfrm>
          <a:prstGeom prst="roundRect">
            <a:avLst>
              <a:gd name="adj" fmla="val 8048"/>
            </a:avLst>
          </a:prstGeom>
          <a:solidFill>
            <a:srgbClr val="F7FBFE"/>
          </a:solidFill>
          <a:ln w="6350">
            <a:solidFill>
              <a:srgbClr val="B9D9F0"/>
            </a:solidFill>
            <a:prstDash val="solid"/>
          </a:ln>
        </p:spPr>
      </p:sp>
      <p:sp>
        <p:nvSpPr>
          <p:cNvPr id="19" name="Text 15"/>
          <p:cNvSpPr/>
          <p:nvPr/>
        </p:nvSpPr>
        <p:spPr>
          <a:xfrm>
            <a:off x="4654947" y="3525521"/>
            <a:ext cx="295810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MS-DC zone</a:t>
            </a:r>
            <a:endParaRPr lang="en-US" sz="2000" dirty="0"/>
          </a:p>
        </p:txBody>
      </p:sp>
      <p:sp>
        <p:nvSpPr>
          <p:cNvPr id="20" name="Text 16"/>
          <p:cNvSpPr/>
          <p:nvPr/>
        </p:nvSpPr>
        <p:spPr>
          <a:xfrm>
            <a:off x="4654947" y="3881121"/>
            <a:ext cx="29581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172.195.x.x</a:t>
            </a:r>
            <a:endParaRPr lang="en-US" sz="1600" dirty="0"/>
          </a:p>
        </p:txBody>
      </p:sp>
      <p:sp>
        <p:nvSpPr>
          <p:cNvPr id="21" name="Text 17"/>
          <p:cNvSpPr/>
          <p:nvPr/>
        </p:nvSpPr>
        <p:spPr>
          <a:xfrm>
            <a:off x="4654947" y="4175764"/>
            <a:ext cx="2958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Connects its own departments</a:t>
            </a:r>
            <a:endParaRPr lang="en-US" sz="1200" dirty="0"/>
          </a:p>
        </p:txBody>
      </p:sp>
      <p:sp>
        <p:nvSpPr>
          <p:cNvPr id="22" name="Shape 18"/>
          <p:cNvSpPr/>
          <p:nvPr/>
        </p:nvSpPr>
        <p:spPr>
          <a:xfrm>
            <a:off x="7992349" y="3345817"/>
            <a:ext cx="3383677" cy="1223010"/>
          </a:xfrm>
          <a:prstGeom prst="roundRect">
            <a:avLst>
              <a:gd name="adj" fmla="val 8048"/>
            </a:avLst>
          </a:prstGeom>
          <a:solidFill>
            <a:srgbClr val="F7FBFE"/>
          </a:solidFill>
          <a:ln w="6350">
            <a:solidFill>
              <a:srgbClr val="B9D9F0"/>
            </a:solidFill>
            <a:prstDash val="solid"/>
          </a:ln>
        </p:spPr>
      </p:sp>
      <p:sp>
        <p:nvSpPr>
          <p:cNvPr id="23" name="Text 19"/>
          <p:cNvSpPr/>
          <p:nvPr/>
        </p:nvSpPr>
        <p:spPr>
          <a:xfrm>
            <a:off x="8248253" y="3525521"/>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EW&amp;A-DC zone</a:t>
            </a:r>
            <a:endParaRPr lang="en-US" sz="2000" dirty="0"/>
          </a:p>
        </p:txBody>
      </p:sp>
      <p:sp>
        <p:nvSpPr>
          <p:cNvPr id="24" name="Text 20"/>
          <p:cNvSpPr/>
          <p:nvPr/>
        </p:nvSpPr>
        <p:spPr>
          <a:xfrm>
            <a:off x="8248253" y="3881121"/>
            <a:ext cx="29580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172.194.x.x</a:t>
            </a:r>
            <a:endParaRPr lang="en-US" sz="1600" dirty="0"/>
          </a:p>
        </p:txBody>
      </p:sp>
      <p:sp>
        <p:nvSpPr>
          <p:cNvPr id="25" name="Text 21"/>
          <p:cNvSpPr/>
          <p:nvPr/>
        </p:nvSpPr>
        <p:spPr>
          <a:xfrm>
            <a:off x="8248253" y="4175764"/>
            <a:ext cx="2958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Connects its own departments</a:t>
            </a:r>
            <a:endParaRPr lang="en-US" sz="1200" dirty="0"/>
          </a:p>
        </p:txBody>
      </p:sp>
      <p:sp>
        <p:nvSpPr>
          <p:cNvPr id="26" name="Text 22"/>
          <p:cNvSpPr/>
          <p:nvPr/>
        </p:nvSpPr>
        <p:spPr>
          <a:xfrm>
            <a:off x="812800" y="4724400"/>
            <a:ext cx="10566400" cy="629920"/>
          </a:xfrm>
          <a:prstGeom prst="roundRect">
            <a:avLst>
              <a:gd name="adj" fmla="val 12097"/>
            </a:avLst>
          </a:prstGeom>
          <a:solidFill>
            <a:srgbClr val="CFE6F7"/>
          </a:solidFill>
          <a:ln/>
        </p:spPr>
        <p:txBody>
          <a:bodyPr wrap="square" lIns="130082" tIns="79282" rIns="0" bIns="53882" rtlCol="0" anchor="t">
            <a:normAutofit/>
          </a:bodyPr>
          <a:lstStyle/>
          <a:p>
            <a:pPr algn="l" indent="0" marL="0">
              <a:lnSpc>
                <a:spcPts val="1680"/>
              </a:lnSpc>
              <a:buNone/>
            </a:pPr>
            <a:r>
              <a:rPr lang="en-US" sz="1200" b="1" dirty="0">
                <a:solidFill>
                  <a:srgbClr val="26384D"/>
                </a:solidFill>
                <a:latin typeface="IBM Plex Sans" pitchFamily="34" charset="0"/>
                <a:ea typeface="IBM Plex Sans" pitchFamily="34" charset="-122"/>
                <a:cs typeface="IBM Plex Sans" pitchFamily="34" charset="-120"/>
              </a:rPr>
              <a:t>Ring topology:</a:t>
            </a:r>
            <a:r>
              <a:rPr lang="en-US" sz="1200" dirty="0">
                <a:solidFill>
                  <a:srgbClr val="26384D"/>
                </a:solidFill>
                <a:latin typeface="IBM Plex Sans" pitchFamily="34" charset="0"/>
                <a:ea typeface="IBM Plex Sans" pitchFamily="34" charset="-122"/>
                <a:cs typeface="IBM Plex Sans" pitchFamily="34" charset="-120"/>
              </a:rPr>
              <a:t> the zones are connected in a closed loop, each linked to two neighbours. If one link fails, traffic goes the other way round. Departments connect to their own zone; MCE serves many.</a:t>
            </a:r>
            <a:endParaRPr lang="en-US" sz="1200" dirty="0"/>
          </a:p>
        </p:txBody>
      </p:sp>
      <p:sp>
        <p:nvSpPr>
          <p:cNvPr id="27" name="Text 23"/>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8" name="Text 24"/>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Intranet network architecture</a:t>
            </a:r>
            <a:endParaRPr lang="en-US" sz="3200" dirty="0"/>
          </a:p>
        </p:txBody>
      </p:sp>
      <p:sp>
        <p:nvSpPr>
          <p:cNvPr id="7" name="Text 3"/>
          <p:cNvSpPr/>
          <p:nvPr/>
        </p:nvSpPr>
        <p:spPr>
          <a:xfrm>
            <a:off x="815975" y="1892939"/>
            <a:ext cx="3380264" cy="369570"/>
          </a:xfrm>
          <a:prstGeom prst="roundRect">
            <a:avLst>
              <a:gd name="adj" fmla="val 19759"/>
            </a:avLst>
          </a:prstGeom>
          <a:solidFill>
            <a:srgbClr val="F7FBFE"/>
          </a:solidFill>
          <a:ln w="6350">
            <a:solidFill>
              <a:srgbClr val="B9D9F0"/>
            </a:solidFill>
            <a:prstDash val="solid"/>
          </a:ln>
        </p:spPr>
        <p:txBody>
          <a:bodyPr wrap="square" lIns="60680" tIns="56717" rIns="60680" bIns="31317" rtlCol="0" anchor="t">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SAP server and VC (data centre)</a:t>
            </a:r>
            <a:endParaRPr lang="en-US" sz="1200" dirty="0"/>
          </a:p>
        </p:txBody>
      </p:sp>
      <p:sp>
        <p:nvSpPr>
          <p:cNvPr id="8" name="Text 4"/>
          <p:cNvSpPr/>
          <p:nvPr/>
        </p:nvSpPr>
        <p:spPr>
          <a:xfrm>
            <a:off x="4405789" y="1892939"/>
            <a:ext cx="3380343" cy="369570"/>
          </a:xfrm>
          <a:prstGeom prst="roundRect">
            <a:avLst>
              <a:gd name="adj" fmla="val 19759"/>
            </a:avLst>
          </a:prstGeom>
          <a:solidFill>
            <a:srgbClr val="F7FBFE"/>
          </a:solidFill>
          <a:ln w="6350">
            <a:solidFill>
              <a:srgbClr val="B9D9F0"/>
            </a:solidFill>
            <a:prstDash val="solid"/>
          </a:ln>
        </p:spPr>
        <p:txBody>
          <a:bodyPr wrap="square" lIns="60679" tIns="56717" rIns="60679" bIns="31317" rtlCol="0" anchor="t">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SIP server (voice)</a:t>
            </a:r>
            <a:endParaRPr lang="en-US" sz="1200" dirty="0"/>
          </a:p>
        </p:txBody>
      </p:sp>
      <p:sp>
        <p:nvSpPr>
          <p:cNvPr id="9" name="Text 5"/>
          <p:cNvSpPr/>
          <p:nvPr/>
        </p:nvSpPr>
        <p:spPr>
          <a:xfrm>
            <a:off x="7995682" y="1892939"/>
            <a:ext cx="3380343" cy="369570"/>
          </a:xfrm>
          <a:prstGeom prst="roundRect">
            <a:avLst>
              <a:gd name="adj" fmla="val 19759"/>
            </a:avLst>
          </a:prstGeom>
          <a:solidFill>
            <a:srgbClr val="F7FBFE"/>
          </a:solidFill>
          <a:ln w="6350">
            <a:solidFill>
              <a:srgbClr val="B9D9F0"/>
            </a:solidFill>
            <a:prstDash val="solid"/>
          </a:ln>
        </p:spPr>
        <p:txBody>
          <a:bodyPr wrap="square" lIns="60679" tIns="56717" rIns="60679" bIns="31317" rtlCol="0" anchor="t">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VDI-DC (virtual desktops)</a:t>
            </a:r>
            <a:endParaRPr lang="en-US" sz="1200" dirty="0"/>
          </a:p>
        </p:txBody>
      </p:sp>
      <p:pic>
        <p:nvPicPr>
          <p:cNvPr id="10" name="Image 2" descr="connector">    </p:cNvPr>
          <p:cNvPicPr>
            <a:picLocks noChangeAspect="1"/>
          </p:cNvPicPr>
          <p:nvPr/>
        </p:nvPicPr>
        <p:blipFill>
          <a:blip r:embed="rId3"/>
          <a:srcRect l="0" r="0" t="0" b="0"/>
          <a:stretch/>
        </p:blipFill>
        <p:spPr>
          <a:xfrm>
            <a:off x="6032500" y="2418079"/>
            <a:ext cx="127000" cy="381000"/>
          </a:xfrm>
          <a:prstGeom prst="rect">
            <a:avLst/>
          </a:prstGeom>
        </p:spPr>
      </p:pic>
      <p:pic>
        <p:nvPicPr>
          <p:cNvPr id="11" name="Image 3" descr="connector">    </p:cNvPr>
          <p:cNvPicPr>
            <a:picLocks noChangeAspect="1"/>
          </p:cNvPicPr>
          <p:nvPr/>
        </p:nvPicPr>
        <p:blipFill>
          <a:blip r:embed="rId4"/>
          <a:srcRect l="0" r="0" t="0" b="0"/>
          <a:stretch/>
        </p:blipFill>
        <p:spPr>
          <a:xfrm>
            <a:off x="2622550" y="2926079"/>
            <a:ext cx="3568700" cy="2032000"/>
          </a:xfrm>
          <a:prstGeom prst="rect">
            <a:avLst/>
          </a:prstGeom>
        </p:spPr>
      </p:pic>
      <p:pic>
        <p:nvPicPr>
          <p:cNvPr id="12" name="Image 4" descr="connector">    </p:cNvPr>
          <p:cNvPicPr>
            <a:picLocks noChangeAspect="1"/>
          </p:cNvPicPr>
          <p:nvPr/>
        </p:nvPicPr>
        <p:blipFill>
          <a:blip r:embed="rId5"/>
          <a:srcRect l="0" r="0" t="0" b="0"/>
          <a:stretch/>
        </p:blipFill>
        <p:spPr>
          <a:xfrm>
            <a:off x="6000750" y="2926079"/>
            <a:ext cx="3568700" cy="2032000"/>
          </a:xfrm>
          <a:prstGeom prst="rect">
            <a:avLst/>
          </a:prstGeom>
        </p:spPr>
      </p:pic>
      <p:pic>
        <p:nvPicPr>
          <p:cNvPr id="13" name="Image 5" descr="connector">    </p:cNvPr>
          <p:cNvPicPr>
            <a:picLocks noChangeAspect="1"/>
          </p:cNvPicPr>
          <p:nvPr/>
        </p:nvPicPr>
        <p:blipFill>
          <a:blip r:embed="rId6"/>
          <a:srcRect l="0" r="0" t="0" b="0"/>
          <a:stretch/>
        </p:blipFill>
        <p:spPr>
          <a:xfrm>
            <a:off x="2622550" y="4767579"/>
            <a:ext cx="6946900" cy="190500"/>
          </a:xfrm>
          <a:prstGeom prst="rect">
            <a:avLst/>
          </a:prstGeom>
        </p:spPr>
      </p:pic>
      <p:pic>
        <p:nvPicPr>
          <p:cNvPr id="14" name="Image 6" descr="connector">    </p:cNvPr>
          <p:cNvPicPr>
            <a:picLocks noChangeAspect="1"/>
          </p:cNvPicPr>
          <p:nvPr/>
        </p:nvPicPr>
        <p:blipFill>
          <a:blip r:embed="rId7"/>
          <a:srcRect l="0" r="0" t="0" b="0"/>
          <a:stretch/>
        </p:blipFill>
        <p:spPr>
          <a:xfrm>
            <a:off x="2711450" y="3059429"/>
            <a:ext cx="3505200" cy="1968500"/>
          </a:xfrm>
          <a:prstGeom prst="rect">
            <a:avLst/>
          </a:prstGeom>
        </p:spPr>
      </p:pic>
      <p:pic>
        <p:nvPicPr>
          <p:cNvPr id="15" name="Image 7" descr="connector">    </p:cNvPr>
          <p:cNvPicPr>
            <a:picLocks noChangeAspect="1"/>
          </p:cNvPicPr>
          <p:nvPr/>
        </p:nvPicPr>
        <p:blipFill>
          <a:blip r:embed="rId8"/>
          <a:srcRect l="0" r="0" t="0" b="0"/>
          <a:stretch/>
        </p:blipFill>
        <p:spPr>
          <a:xfrm>
            <a:off x="5975350" y="3059429"/>
            <a:ext cx="3505200" cy="1968500"/>
          </a:xfrm>
          <a:prstGeom prst="rect">
            <a:avLst/>
          </a:prstGeom>
        </p:spPr>
      </p:pic>
      <p:pic>
        <p:nvPicPr>
          <p:cNvPr id="16" name="Image 8" descr="connector">    </p:cNvPr>
          <p:cNvPicPr>
            <a:picLocks noChangeAspect="1"/>
          </p:cNvPicPr>
          <p:nvPr/>
        </p:nvPicPr>
        <p:blipFill>
          <a:blip r:embed="rId9"/>
          <a:srcRect l="0" r="0" t="0" b="0"/>
          <a:stretch/>
        </p:blipFill>
        <p:spPr>
          <a:xfrm>
            <a:off x="2654300" y="4913629"/>
            <a:ext cx="6883400" cy="127000"/>
          </a:xfrm>
          <a:prstGeom prst="rect">
            <a:avLst/>
          </a:prstGeom>
        </p:spPr>
      </p:pic>
      <p:pic>
        <p:nvPicPr>
          <p:cNvPr id="17" name="Image 9" descr="connector">    </p:cNvPr>
          <p:cNvPicPr>
            <a:picLocks noChangeAspect="1"/>
          </p:cNvPicPr>
          <p:nvPr/>
        </p:nvPicPr>
        <p:blipFill>
          <a:blip r:embed="rId10"/>
          <a:srcRect l="0" r="0" t="0" b="0"/>
          <a:stretch/>
        </p:blipFill>
        <p:spPr>
          <a:xfrm>
            <a:off x="7810500" y="2957829"/>
            <a:ext cx="558800" cy="127000"/>
          </a:xfrm>
          <a:prstGeom prst="rect">
            <a:avLst/>
          </a:prstGeom>
        </p:spPr>
      </p:pic>
      <p:pic>
        <p:nvPicPr>
          <p:cNvPr id="18" name="Image 10" descr="connector">    </p:cNvPr>
          <p:cNvPicPr>
            <a:picLocks noChangeAspect="1"/>
          </p:cNvPicPr>
          <p:nvPr/>
        </p:nvPicPr>
        <p:blipFill>
          <a:blip r:embed="rId11"/>
          <a:srcRect l="0" r="0" t="0" b="0"/>
          <a:stretch/>
        </p:blipFill>
        <p:spPr>
          <a:xfrm>
            <a:off x="2654300" y="5148579"/>
            <a:ext cx="127000" cy="317500"/>
          </a:xfrm>
          <a:prstGeom prst="rect">
            <a:avLst/>
          </a:prstGeom>
        </p:spPr>
      </p:pic>
      <p:pic>
        <p:nvPicPr>
          <p:cNvPr id="19" name="Image 11" descr="connector">    </p:cNvPr>
          <p:cNvPicPr>
            <a:picLocks noChangeAspect="1"/>
          </p:cNvPicPr>
          <p:nvPr/>
        </p:nvPicPr>
        <p:blipFill>
          <a:blip r:embed="rId12"/>
          <a:srcRect l="0" r="0" t="0" b="0"/>
          <a:stretch/>
        </p:blipFill>
        <p:spPr>
          <a:xfrm>
            <a:off x="9410700" y="5148579"/>
            <a:ext cx="127000" cy="317500"/>
          </a:xfrm>
          <a:prstGeom prst="rect">
            <a:avLst/>
          </a:prstGeom>
        </p:spPr>
      </p:pic>
      <p:sp>
        <p:nvSpPr>
          <p:cNvPr id="20" name="Shape 6"/>
          <p:cNvSpPr/>
          <p:nvPr/>
        </p:nvSpPr>
        <p:spPr>
          <a:xfrm>
            <a:off x="4318000" y="2672079"/>
            <a:ext cx="3556000" cy="698500"/>
          </a:xfrm>
          <a:prstGeom prst="roundRect">
            <a:avLst>
              <a:gd name="adj" fmla="val 14545"/>
            </a:avLst>
          </a:prstGeom>
          <a:solidFill>
            <a:srgbClr val="0B2E5C"/>
          </a:solidFill>
          <a:ln/>
        </p:spPr>
      </p:sp>
      <p:sp>
        <p:nvSpPr>
          <p:cNvPr id="21" name="Text 7"/>
          <p:cNvSpPr/>
          <p:nvPr/>
        </p:nvSpPr>
        <p:spPr>
          <a:xfrm>
            <a:off x="4944142" y="2792729"/>
            <a:ext cx="2303717"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MCE-DC (main zone)</a:t>
            </a:r>
            <a:endParaRPr lang="en-US" sz="1600" dirty="0"/>
          </a:p>
        </p:txBody>
      </p:sp>
      <p:sp>
        <p:nvSpPr>
          <p:cNvPr id="22" name="Text 8"/>
          <p:cNvSpPr/>
          <p:nvPr/>
        </p:nvSpPr>
        <p:spPr>
          <a:xfrm>
            <a:off x="4683260" y="3036571"/>
            <a:ext cx="28254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B14A"/>
                </a:solidFill>
                <a:latin typeface="IBM Plex Sans" pitchFamily="34" charset="0"/>
                <a:ea typeface="IBM Plex Sans" pitchFamily="34" charset="-122"/>
                <a:cs typeface="IBM Plex Sans" pitchFamily="34" charset="-120"/>
              </a:rPr>
              <a:t>172.193.x.x · core switch · firewall</a:t>
            </a:r>
            <a:endParaRPr lang="en-US" sz="1200" dirty="0"/>
          </a:p>
        </p:txBody>
      </p:sp>
      <p:sp>
        <p:nvSpPr>
          <p:cNvPr id="23" name="Shape 9"/>
          <p:cNvSpPr/>
          <p:nvPr/>
        </p:nvSpPr>
        <p:spPr>
          <a:xfrm>
            <a:off x="1066800" y="4513579"/>
            <a:ext cx="3302000" cy="698500"/>
          </a:xfrm>
          <a:prstGeom prst="roundRect">
            <a:avLst>
              <a:gd name="adj" fmla="val 14545"/>
            </a:avLst>
          </a:prstGeom>
          <a:solidFill>
            <a:srgbClr val="0B5FB0"/>
          </a:solidFill>
          <a:ln/>
        </p:spPr>
      </p:sp>
      <p:sp>
        <p:nvSpPr>
          <p:cNvPr id="24" name="Text 10"/>
          <p:cNvSpPr/>
          <p:nvPr/>
        </p:nvSpPr>
        <p:spPr>
          <a:xfrm>
            <a:off x="2153730" y="4634229"/>
            <a:ext cx="1128141"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EW&amp;A-DC</a:t>
            </a:r>
            <a:endParaRPr lang="en-US" sz="1600" dirty="0"/>
          </a:p>
        </p:txBody>
      </p:sp>
      <p:sp>
        <p:nvSpPr>
          <p:cNvPr id="25" name="Text 11"/>
          <p:cNvSpPr/>
          <p:nvPr/>
        </p:nvSpPr>
        <p:spPr>
          <a:xfrm>
            <a:off x="1305060" y="4878071"/>
            <a:ext cx="28254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172.194.x.x · core switch · firewall</a:t>
            </a:r>
            <a:endParaRPr lang="en-US" sz="1200" dirty="0"/>
          </a:p>
        </p:txBody>
      </p:sp>
      <p:sp>
        <p:nvSpPr>
          <p:cNvPr id="26" name="Shape 12"/>
          <p:cNvSpPr/>
          <p:nvPr/>
        </p:nvSpPr>
        <p:spPr>
          <a:xfrm>
            <a:off x="7823200" y="4513579"/>
            <a:ext cx="3302000" cy="698500"/>
          </a:xfrm>
          <a:prstGeom prst="roundRect">
            <a:avLst>
              <a:gd name="adj" fmla="val 14545"/>
            </a:avLst>
          </a:prstGeom>
          <a:solidFill>
            <a:srgbClr val="0B5FB0"/>
          </a:solidFill>
          <a:ln/>
        </p:spPr>
      </p:sp>
      <p:sp>
        <p:nvSpPr>
          <p:cNvPr id="27" name="Text 13"/>
          <p:cNvSpPr/>
          <p:nvPr/>
        </p:nvSpPr>
        <p:spPr>
          <a:xfrm>
            <a:off x="9087112" y="4634229"/>
            <a:ext cx="774097"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MS-DC</a:t>
            </a:r>
            <a:endParaRPr lang="en-US" sz="1600" dirty="0"/>
          </a:p>
        </p:txBody>
      </p:sp>
      <p:sp>
        <p:nvSpPr>
          <p:cNvPr id="28" name="Text 14"/>
          <p:cNvSpPr/>
          <p:nvPr/>
        </p:nvSpPr>
        <p:spPr>
          <a:xfrm>
            <a:off x="8061460" y="4878071"/>
            <a:ext cx="28254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172.195.x.x · core switch · firewall</a:t>
            </a:r>
            <a:endParaRPr lang="en-US" sz="1200" dirty="0"/>
          </a:p>
        </p:txBody>
      </p:sp>
      <p:sp>
        <p:nvSpPr>
          <p:cNvPr id="29" name="Text 15"/>
          <p:cNvSpPr/>
          <p:nvPr/>
        </p:nvSpPr>
        <p:spPr>
          <a:xfrm>
            <a:off x="3914775" y="3672204"/>
            <a:ext cx="819150" cy="217170"/>
          </a:xfrm>
          <a:custGeom>
            <a:avLst/>
            <a:gdLst/>
            <a:ahLst/>
            <a:cxnLst/>
            <a:rect l="l" t="t" r="r" b="b"/>
            <a:pathLst>
              <a:path w="819150" h="217170">
                <a:moveTo>
                  <a:pt x="108585" y="0"/>
                </a:moveTo>
                <a:lnTo>
                  <a:pt x="710565" y="0"/>
                </a:lnTo>
                <a:arcTo hR="108585" wR="108585" stAng="16200000" swAng="5400000"/>
                <a:lnTo>
                  <a:pt x="819150" y="108585"/>
                </a:lnTo>
                <a:arcTo hR="108585" wR="108585" stAng="0" swAng="5400000"/>
                <a:lnTo>
                  <a:pt x="108585" y="217170"/>
                </a:lnTo>
                <a:arcTo hR="108585" wR="108585" stAng="5400000" swAng="5400000"/>
                <a:lnTo>
                  <a:pt x="0" y="108585"/>
                </a:lnTo>
                <a:arcTo hR="108585" wR="108585" stAng="10800000" swAng="5400000"/>
                <a:close/>
              </a:path>
            </a:pathLst>
          </a:custGeom>
          <a:solidFill>
            <a:srgbClr val="F7FBFE"/>
          </a:solidFill>
          <a:ln w="6350">
            <a:solidFill>
              <a:srgbClr val="0B5FB0"/>
            </a:solidFill>
            <a:prstDash val="solid"/>
          </a:ln>
        </p:spPr>
        <p:txBody>
          <a:bodyPr wrap="square" lIns="0" tIns="1905"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2 x 100G</a:t>
            </a:r>
            <a:endParaRPr lang="en-US" sz="1200" dirty="0"/>
          </a:p>
        </p:txBody>
      </p:sp>
      <p:sp>
        <p:nvSpPr>
          <p:cNvPr id="30" name="Text 16"/>
          <p:cNvSpPr/>
          <p:nvPr/>
        </p:nvSpPr>
        <p:spPr>
          <a:xfrm>
            <a:off x="7458075" y="3672204"/>
            <a:ext cx="819150" cy="217170"/>
          </a:xfrm>
          <a:custGeom>
            <a:avLst/>
            <a:gdLst/>
            <a:ahLst/>
            <a:cxnLst/>
            <a:rect l="l" t="t" r="r" b="b"/>
            <a:pathLst>
              <a:path w="819150" h="217170">
                <a:moveTo>
                  <a:pt x="108585" y="0"/>
                </a:moveTo>
                <a:lnTo>
                  <a:pt x="710565" y="0"/>
                </a:lnTo>
                <a:arcTo hR="108585" wR="108585" stAng="16200000" swAng="5400000"/>
                <a:lnTo>
                  <a:pt x="819150" y="108585"/>
                </a:lnTo>
                <a:arcTo hR="108585" wR="108585" stAng="0" swAng="5400000"/>
                <a:lnTo>
                  <a:pt x="108585" y="217170"/>
                </a:lnTo>
                <a:arcTo hR="108585" wR="108585" stAng="5400000" swAng="5400000"/>
                <a:lnTo>
                  <a:pt x="0" y="108585"/>
                </a:lnTo>
                <a:arcTo hR="108585" wR="108585" stAng="10800000" swAng="5400000"/>
                <a:close/>
              </a:path>
            </a:pathLst>
          </a:custGeom>
          <a:solidFill>
            <a:srgbClr val="F7FBFE"/>
          </a:solidFill>
          <a:ln w="6350">
            <a:solidFill>
              <a:srgbClr val="0B5FB0"/>
            </a:solidFill>
            <a:prstDash val="solid"/>
          </a:ln>
        </p:spPr>
        <p:txBody>
          <a:bodyPr wrap="square" lIns="0" tIns="1905"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2 x 100G</a:t>
            </a:r>
            <a:endParaRPr lang="en-US" sz="1200" dirty="0"/>
          </a:p>
        </p:txBody>
      </p:sp>
      <p:sp>
        <p:nvSpPr>
          <p:cNvPr id="31" name="Text 17"/>
          <p:cNvSpPr/>
          <p:nvPr/>
        </p:nvSpPr>
        <p:spPr>
          <a:xfrm>
            <a:off x="5686425" y="4554854"/>
            <a:ext cx="819150" cy="217170"/>
          </a:xfrm>
          <a:custGeom>
            <a:avLst/>
            <a:gdLst/>
            <a:ahLst/>
            <a:cxnLst/>
            <a:rect l="l" t="t" r="r" b="b"/>
            <a:pathLst>
              <a:path w="819150" h="217170">
                <a:moveTo>
                  <a:pt x="108585" y="0"/>
                </a:moveTo>
                <a:lnTo>
                  <a:pt x="710565" y="0"/>
                </a:lnTo>
                <a:arcTo hR="108585" wR="108585" stAng="16200000" swAng="5400000"/>
                <a:lnTo>
                  <a:pt x="819150" y="108585"/>
                </a:lnTo>
                <a:arcTo hR="108585" wR="108585" stAng="0" swAng="5400000"/>
                <a:lnTo>
                  <a:pt x="108585" y="217170"/>
                </a:lnTo>
                <a:arcTo hR="108585" wR="108585" stAng="5400000" swAng="5400000"/>
                <a:lnTo>
                  <a:pt x="0" y="108585"/>
                </a:lnTo>
                <a:arcTo hR="108585" wR="108585" stAng="10800000" swAng="5400000"/>
                <a:close/>
              </a:path>
            </a:pathLst>
          </a:custGeom>
          <a:solidFill>
            <a:srgbClr val="F7FBFE"/>
          </a:solidFill>
          <a:ln w="6350">
            <a:solidFill>
              <a:srgbClr val="0B5FB0"/>
            </a:solidFill>
            <a:prstDash val="solid"/>
          </a:ln>
        </p:spPr>
        <p:txBody>
          <a:bodyPr wrap="square" lIns="0" tIns="1905"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2 x 100G</a:t>
            </a:r>
            <a:endParaRPr lang="en-US" sz="1200" dirty="0"/>
          </a:p>
        </p:txBody>
      </p:sp>
      <p:sp>
        <p:nvSpPr>
          <p:cNvPr id="32" name="Text 18"/>
          <p:cNvSpPr/>
          <p:nvPr/>
        </p:nvSpPr>
        <p:spPr>
          <a:xfrm>
            <a:off x="8308975" y="2732404"/>
            <a:ext cx="2787650" cy="582930"/>
          </a:xfrm>
          <a:prstGeom prst="roundRect">
            <a:avLst>
              <a:gd name="adj" fmla="val 12527"/>
            </a:avLst>
          </a:prstGeom>
          <a:solidFill>
            <a:srgbClr val="F7FBFE"/>
          </a:solidFill>
          <a:ln w="6350">
            <a:solidFill>
              <a:srgbClr val="B9D9F0"/>
            </a:solidFill>
            <a:prstDash val="solid"/>
          </a:ln>
        </p:spPr>
        <p:txBody>
          <a:bodyPr wrap="square" lIns="107517" tIns="56717" rIns="31622" bIns="31317"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Access switches, 10G downlinks, PCs and VoIP phones</a:t>
            </a:r>
            <a:endParaRPr lang="en-US" sz="1200" dirty="0"/>
          </a:p>
        </p:txBody>
      </p:sp>
      <p:sp>
        <p:nvSpPr>
          <p:cNvPr id="33" name="Text 19"/>
          <p:cNvSpPr/>
          <p:nvPr/>
        </p:nvSpPr>
        <p:spPr>
          <a:xfrm>
            <a:off x="1069975" y="5405754"/>
            <a:ext cx="3295650" cy="582930"/>
          </a:xfrm>
          <a:prstGeom prst="roundRect">
            <a:avLst>
              <a:gd name="adj" fmla="val 12527"/>
            </a:avLst>
          </a:prstGeom>
          <a:solidFill>
            <a:srgbClr val="F7FBFE"/>
          </a:solidFill>
          <a:ln w="6350">
            <a:solidFill>
              <a:srgbClr val="B9D9F0"/>
            </a:solidFill>
            <a:prstDash val="solid"/>
          </a:ln>
        </p:spPr>
        <p:txBody>
          <a:bodyPr wrap="square" lIns="107517" tIns="56717" rIns="16382" bIns="31317"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Access switches, 10G downlinks, PCs and VoIP phones</a:t>
            </a:r>
            <a:endParaRPr lang="en-US" sz="1200" dirty="0"/>
          </a:p>
        </p:txBody>
      </p:sp>
      <p:sp>
        <p:nvSpPr>
          <p:cNvPr id="34" name="Text 20"/>
          <p:cNvSpPr/>
          <p:nvPr/>
        </p:nvSpPr>
        <p:spPr>
          <a:xfrm>
            <a:off x="7826375" y="5405754"/>
            <a:ext cx="3295650" cy="582930"/>
          </a:xfrm>
          <a:prstGeom prst="roundRect">
            <a:avLst>
              <a:gd name="adj" fmla="val 12527"/>
            </a:avLst>
          </a:prstGeom>
          <a:solidFill>
            <a:srgbClr val="F7FBFE"/>
          </a:solidFill>
          <a:ln w="6350">
            <a:solidFill>
              <a:srgbClr val="B9D9F0"/>
            </a:solidFill>
            <a:prstDash val="solid"/>
          </a:ln>
        </p:spPr>
        <p:txBody>
          <a:bodyPr wrap="square" lIns="107517" tIns="56717" rIns="16382" bIns="31317"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Access switches, 10G downlinks, PCs and VoIP phones</a:t>
            </a:r>
            <a:endParaRPr lang="en-US" sz="1200" dirty="0"/>
          </a:p>
        </p:txBody>
      </p:sp>
      <p:sp>
        <p:nvSpPr>
          <p:cNvPr id="35" name="Shape 21"/>
          <p:cNvSpPr/>
          <p:nvPr/>
        </p:nvSpPr>
        <p:spPr>
          <a:xfrm>
            <a:off x="1085850" y="2545079"/>
            <a:ext cx="0" cy="213360"/>
          </a:xfrm>
          <a:prstGeom prst="line">
            <a:avLst/>
          </a:prstGeom>
          <a:noFill/>
          <a:ln w="38100">
            <a:solidFill>
              <a:srgbClr val="0B5FB0"/>
            </a:solidFill>
            <a:prstDash val="solid"/>
          </a:ln>
        </p:spPr>
      </p:sp>
      <p:sp>
        <p:nvSpPr>
          <p:cNvPr id="36" name="Text 22"/>
          <p:cNvSpPr/>
          <p:nvPr/>
        </p:nvSpPr>
        <p:spPr>
          <a:xfrm>
            <a:off x="1203960" y="2545079"/>
            <a:ext cx="28673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Data + VC network: 2 x 100G links</a:t>
            </a:r>
            <a:endParaRPr lang="en-US" sz="1200" dirty="0"/>
          </a:p>
        </p:txBody>
      </p:sp>
      <p:sp>
        <p:nvSpPr>
          <p:cNvPr id="37" name="Shape 23"/>
          <p:cNvSpPr/>
          <p:nvPr/>
        </p:nvSpPr>
        <p:spPr>
          <a:xfrm>
            <a:off x="1085850" y="3116579"/>
            <a:ext cx="0" cy="213360"/>
          </a:xfrm>
          <a:prstGeom prst="line">
            <a:avLst/>
          </a:prstGeom>
          <a:noFill/>
          <a:ln w="38100">
            <a:solidFill>
              <a:srgbClr val="4FA3E0"/>
            </a:solidFill>
            <a:prstDash val="dash"/>
          </a:ln>
        </p:spPr>
      </p:sp>
      <p:sp>
        <p:nvSpPr>
          <p:cNvPr id="38" name="Text 24"/>
          <p:cNvSpPr/>
          <p:nvPr/>
        </p:nvSpPr>
        <p:spPr>
          <a:xfrm>
            <a:off x="1203960" y="3116579"/>
            <a:ext cx="28673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VoIP network: separate, 2 x 40G links</a:t>
            </a:r>
            <a:endParaRPr lang="en-US" sz="1200" dirty="0"/>
          </a:p>
        </p:txBody>
      </p:sp>
      <p:sp>
        <p:nvSpPr>
          <p:cNvPr id="39" name="Text 25"/>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40" name="Text 26"/>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The architecture in brief</a:t>
            </a:r>
            <a:endParaRPr lang="en-US" sz="3200" dirty="0"/>
          </a:p>
        </p:txBody>
      </p:sp>
      <p:sp>
        <p:nvSpPr>
          <p:cNvPr id="7" name="Shape 3"/>
          <p:cNvSpPr/>
          <p:nvPr/>
        </p:nvSpPr>
        <p:spPr>
          <a:xfrm>
            <a:off x="812800" y="1991364"/>
            <a:ext cx="5181600" cy="1417320"/>
          </a:xfrm>
          <a:prstGeom prst="roundRect">
            <a:avLst>
              <a:gd name="adj" fmla="val 7168"/>
            </a:avLst>
          </a:prstGeom>
          <a:solidFill>
            <a:srgbClr val="0B5FB0"/>
          </a:solidFill>
          <a:ln/>
        </p:spPr>
      </p:sp>
      <p:sp>
        <p:nvSpPr>
          <p:cNvPr id="8" name="Text 4"/>
          <p:cNvSpPr/>
          <p:nvPr/>
        </p:nvSpPr>
        <p:spPr>
          <a:xfrm>
            <a:off x="1066800" y="2219964"/>
            <a:ext cx="481380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Three zones, each with a core</a:t>
            </a:r>
            <a:endParaRPr lang="en-US" sz="1600" dirty="0"/>
          </a:p>
        </p:txBody>
      </p:sp>
      <p:sp>
        <p:nvSpPr>
          <p:cNvPr id="9" name="Text 5"/>
          <p:cNvSpPr/>
          <p:nvPr/>
        </p:nvSpPr>
        <p:spPr>
          <a:xfrm>
            <a:off x="1066800" y="2540000"/>
            <a:ext cx="481380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MCE-DC, EW&amp;A-DC and MS-DC each have a core switch and a firewall. MCE-DC is the main zone, and the data-centre servers are attached to it.</a:t>
            </a:r>
            <a:endParaRPr lang="en-US" sz="1200" dirty="0"/>
          </a:p>
        </p:txBody>
      </p:sp>
      <p:sp>
        <p:nvSpPr>
          <p:cNvPr id="10" name="Shape 6"/>
          <p:cNvSpPr/>
          <p:nvPr/>
        </p:nvSpPr>
        <p:spPr>
          <a:xfrm>
            <a:off x="6200775" y="1994539"/>
            <a:ext cx="5175250" cy="1410970"/>
          </a:xfrm>
          <a:prstGeom prst="roundRect">
            <a:avLst>
              <a:gd name="adj" fmla="val 6976"/>
            </a:avLst>
          </a:prstGeom>
          <a:solidFill>
            <a:srgbClr val="F7FBFE"/>
          </a:solidFill>
          <a:ln w="6350">
            <a:solidFill>
              <a:srgbClr val="B9D9F0"/>
            </a:solidFill>
            <a:prstDash val="solid"/>
          </a:ln>
        </p:spPr>
      </p:sp>
      <p:sp>
        <p:nvSpPr>
          <p:cNvPr id="11" name="Text 7"/>
          <p:cNvSpPr/>
          <p:nvPr/>
        </p:nvSpPr>
        <p:spPr>
          <a:xfrm>
            <a:off x="6456680" y="2225042"/>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High-speed core ring</a:t>
            </a:r>
            <a:endParaRPr lang="en-US" sz="1600" dirty="0"/>
          </a:p>
        </p:txBody>
      </p:sp>
      <p:sp>
        <p:nvSpPr>
          <p:cNvPr id="12" name="Text 8"/>
          <p:cNvSpPr/>
          <p:nvPr/>
        </p:nvSpPr>
        <p:spPr>
          <a:xfrm>
            <a:off x="6456680" y="2545079"/>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The zones are joined by 2 x 100G links in a triangle. If one link fails, traffic uses the other route.</a:t>
            </a:r>
            <a:endParaRPr lang="en-US" sz="1200" dirty="0"/>
          </a:p>
        </p:txBody>
      </p:sp>
      <p:sp>
        <p:nvSpPr>
          <p:cNvPr id="13" name="Shape 9"/>
          <p:cNvSpPr/>
          <p:nvPr/>
        </p:nvSpPr>
        <p:spPr>
          <a:xfrm>
            <a:off x="815975" y="3615054"/>
            <a:ext cx="5175250" cy="1207770"/>
          </a:xfrm>
          <a:prstGeom prst="roundRect">
            <a:avLst>
              <a:gd name="adj" fmla="val 8149"/>
            </a:avLst>
          </a:prstGeom>
          <a:solidFill>
            <a:srgbClr val="F7FBFE"/>
          </a:solidFill>
          <a:ln w="6350">
            <a:solidFill>
              <a:srgbClr val="B9D9F0"/>
            </a:solidFill>
            <a:prstDash val="solid"/>
          </a:ln>
        </p:spPr>
      </p:sp>
      <p:sp>
        <p:nvSpPr>
          <p:cNvPr id="14" name="Text 10"/>
          <p:cNvSpPr/>
          <p:nvPr/>
        </p:nvSpPr>
        <p:spPr>
          <a:xfrm>
            <a:off x="1071880" y="3845564"/>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Users reach the core through access switches</a:t>
            </a:r>
            <a:endParaRPr lang="en-US" sz="1600" dirty="0"/>
          </a:p>
        </p:txBody>
      </p:sp>
      <p:sp>
        <p:nvSpPr>
          <p:cNvPr id="15" name="Text 11"/>
          <p:cNvSpPr/>
          <p:nvPr/>
        </p:nvSpPr>
        <p:spPr>
          <a:xfrm>
            <a:off x="1071880" y="4165600"/>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PCs and VoIP phones plug into access switches, which connect to their zone's core over 10G downlinks.</a:t>
            </a:r>
            <a:endParaRPr lang="en-US" sz="1200" dirty="0"/>
          </a:p>
        </p:txBody>
      </p:sp>
      <p:sp>
        <p:nvSpPr>
          <p:cNvPr id="16" name="Shape 12"/>
          <p:cNvSpPr/>
          <p:nvPr/>
        </p:nvSpPr>
        <p:spPr>
          <a:xfrm>
            <a:off x="6200775" y="3615054"/>
            <a:ext cx="5175250" cy="1207770"/>
          </a:xfrm>
          <a:prstGeom prst="roundRect">
            <a:avLst>
              <a:gd name="adj" fmla="val 8149"/>
            </a:avLst>
          </a:prstGeom>
          <a:solidFill>
            <a:srgbClr val="F7FBFE"/>
          </a:solidFill>
          <a:ln w="6350">
            <a:solidFill>
              <a:srgbClr val="B9D9F0"/>
            </a:solidFill>
            <a:prstDash val="solid"/>
          </a:ln>
        </p:spPr>
      </p:sp>
      <p:sp>
        <p:nvSpPr>
          <p:cNvPr id="17" name="Text 13"/>
          <p:cNvSpPr/>
          <p:nvPr/>
        </p:nvSpPr>
        <p:spPr>
          <a:xfrm>
            <a:off x="6456680" y="3845564"/>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Separate VoIP network</a:t>
            </a:r>
            <a:endParaRPr lang="en-US" sz="1600" dirty="0"/>
          </a:p>
        </p:txBody>
      </p:sp>
      <p:sp>
        <p:nvSpPr>
          <p:cNvPr id="18" name="Text 14"/>
          <p:cNvSpPr/>
          <p:nvPr/>
        </p:nvSpPr>
        <p:spPr>
          <a:xfrm>
            <a:off x="6456680" y="4165600"/>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Voice has its own core switches and 2 x 40G links, so calls and data traffic do not compete.</a:t>
            </a:r>
            <a:endParaRPr lang="en-US" sz="1200" dirty="0"/>
          </a:p>
        </p:txBody>
      </p:sp>
      <p:sp>
        <p:nvSpPr>
          <p:cNvPr id="19" name="Text 15"/>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0" name="Text 16"/>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Air gap and data diode</a:t>
            </a:r>
            <a:endParaRPr lang="en-US" sz="3200" dirty="0"/>
          </a:p>
        </p:txBody>
      </p:sp>
      <p:sp>
        <p:nvSpPr>
          <p:cNvPr id="7" name="Text 3"/>
          <p:cNvSpPr/>
          <p:nvPr/>
        </p:nvSpPr>
        <p:spPr>
          <a:xfrm>
            <a:off x="812800" y="1940564"/>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BEL keeps the intranet and internet as physically separate networks (an air gap). A data diode lets data move between them in one direction only.</a:t>
            </a:r>
            <a:endParaRPr lang="en-US" sz="1600" dirty="0"/>
          </a:p>
        </p:txBody>
      </p:sp>
      <p:pic>
        <p:nvPicPr>
          <p:cNvPr id="8" name="Image 2" descr="connector">    </p:cNvPr>
          <p:cNvPicPr>
            <a:picLocks noChangeAspect="1"/>
          </p:cNvPicPr>
          <p:nvPr/>
        </p:nvPicPr>
        <p:blipFill>
          <a:blip r:embed="rId3"/>
          <a:srcRect l="0" r="0" t="0" b="0"/>
          <a:stretch/>
        </p:blipFill>
        <p:spPr>
          <a:xfrm>
            <a:off x="3257550" y="3157221"/>
            <a:ext cx="1663700" cy="190500"/>
          </a:xfrm>
          <a:prstGeom prst="rect">
            <a:avLst/>
          </a:prstGeom>
        </p:spPr>
      </p:pic>
      <p:pic>
        <p:nvPicPr>
          <p:cNvPr id="9" name="Image 3" descr="connector">    </p:cNvPr>
          <p:cNvPicPr>
            <a:picLocks noChangeAspect="1"/>
          </p:cNvPicPr>
          <p:nvPr/>
        </p:nvPicPr>
        <p:blipFill>
          <a:blip r:embed="rId4"/>
          <a:srcRect l="0" r="0" t="0" b="0"/>
          <a:stretch/>
        </p:blipFill>
        <p:spPr>
          <a:xfrm>
            <a:off x="7270750" y="3157221"/>
            <a:ext cx="1663700" cy="190500"/>
          </a:xfrm>
          <a:prstGeom prst="rect">
            <a:avLst/>
          </a:prstGeom>
        </p:spPr>
      </p:pic>
      <p:pic>
        <p:nvPicPr>
          <p:cNvPr id="10" name="Image 4" descr="connector">    </p:cNvPr>
          <p:cNvPicPr>
            <a:picLocks noChangeAspect="1"/>
          </p:cNvPicPr>
          <p:nvPr/>
        </p:nvPicPr>
        <p:blipFill>
          <a:blip r:embed="rId5"/>
          <a:srcRect l="0" r="0" t="0" b="0"/>
          <a:stretch/>
        </p:blipFill>
        <p:spPr>
          <a:xfrm>
            <a:off x="3289300" y="3792221"/>
            <a:ext cx="5613400" cy="127000"/>
          </a:xfrm>
          <a:prstGeom prst="rect">
            <a:avLst/>
          </a:prstGeom>
        </p:spPr>
      </p:pic>
      <p:sp>
        <p:nvSpPr>
          <p:cNvPr id="11" name="Shape 4"/>
          <p:cNvSpPr/>
          <p:nvPr/>
        </p:nvSpPr>
        <p:spPr>
          <a:xfrm>
            <a:off x="815975" y="2906396"/>
            <a:ext cx="2533650" cy="692150"/>
          </a:xfrm>
          <a:prstGeom prst="roundRect">
            <a:avLst>
              <a:gd name="adj" fmla="val 14220"/>
            </a:avLst>
          </a:prstGeom>
          <a:solidFill>
            <a:srgbClr val="F7FBFE"/>
          </a:solidFill>
          <a:ln w="6350">
            <a:solidFill>
              <a:srgbClr val="B9D9F0"/>
            </a:solidFill>
            <a:prstDash val="solid"/>
          </a:ln>
        </p:spPr>
      </p:sp>
      <p:sp>
        <p:nvSpPr>
          <p:cNvPr id="12" name="Text 5"/>
          <p:cNvSpPr/>
          <p:nvPr/>
        </p:nvSpPr>
        <p:spPr>
          <a:xfrm>
            <a:off x="1192697" y="3023871"/>
            <a:ext cx="1780127"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Source network</a:t>
            </a:r>
            <a:endParaRPr lang="en-US" sz="1600" dirty="0"/>
          </a:p>
        </p:txBody>
      </p:sp>
      <p:sp>
        <p:nvSpPr>
          <p:cNvPr id="13" name="Text 6"/>
          <p:cNvSpPr/>
          <p:nvPr/>
        </p:nvSpPr>
        <p:spPr>
          <a:xfrm>
            <a:off x="1625600" y="3267714"/>
            <a:ext cx="9144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Sends data</a:t>
            </a:r>
            <a:endParaRPr lang="en-US" sz="1200" dirty="0"/>
          </a:p>
        </p:txBody>
      </p:sp>
      <p:sp>
        <p:nvSpPr>
          <p:cNvPr id="14" name="Shape 7"/>
          <p:cNvSpPr/>
          <p:nvPr/>
        </p:nvSpPr>
        <p:spPr>
          <a:xfrm>
            <a:off x="4826000" y="2903221"/>
            <a:ext cx="2540000" cy="698500"/>
          </a:xfrm>
          <a:prstGeom prst="roundRect">
            <a:avLst>
              <a:gd name="adj" fmla="val 14545"/>
            </a:avLst>
          </a:prstGeom>
          <a:solidFill>
            <a:srgbClr val="0B2E5C"/>
          </a:solidFill>
          <a:ln/>
        </p:spPr>
      </p:sp>
      <p:sp>
        <p:nvSpPr>
          <p:cNvPr id="15" name="Text 8"/>
          <p:cNvSpPr/>
          <p:nvPr/>
        </p:nvSpPr>
        <p:spPr>
          <a:xfrm>
            <a:off x="5485265" y="3023871"/>
            <a:ext cx="1221391"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Data diode</a:t>
            </a:r>
            <a:endParaRPr lang="en-US" sz="1600" dirty="0"/>
          </a:p>
        </p:txBody>
      </p:sp>
      <p:sp>
        <p:nvSpPr>
          <p:cNvPr id="16" name="Text 9"/>
          <p:cNvSpPr/>
          <p:nvPr/>
        </p:nvSpPr>
        <p:spPr>
          <a:xfrm>
            <a:off x="5149310" y="3267714"/>
            <a:ext cx="18933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B14A"/>
                </a:solidFill>
                <a:latin typeface="IBM Plex Sans" pitchFamily="34" charset="0"/>
                <a:ea typeface="IBM Plex Sans" pitchFamily="34" charset="-122"/>
                <a:cs typeface="IBM Plex Sans" pitchFamily="34" charset="-120"/>
              </a:rPr>
              <a:t>One-way hardware link</a:t>
            </a:r>
            <a:endParaRPr lang="en-US" sz="1200" dirty="0"/>
          </a:p>
        </p:txBody>
      </p:sp>
      <p:sp>
        <p:nvSpPr>
          <p:cNvPr id="17" name="Shape 10"/>
          <p:cNvSpPr/>
          <p:nvPr/>
        </p:nvSpPr>
        <p:spPr>
          <a:xfrm>
            <a:off x="8842375" y="2906396"/>
            <a:ext cx="2533650" cy="692150"/>
          </a:xfrm>
          <a:prstGeom prst="roundRect">
            <a:avLst>
              <a:gd name="adj" fmla="val 14220"/>
            </a:avLst>
          </a:prstGeom>
          <a:solidFill>
            <a:srgbClr val="F7FBFE"/>
          </a:solidFill>
          <a:ln w="6350">
            <a:solidFill>
              <a:srgbClr val="B9D9F0"/>
            </a:solidFill>
            <a:prstDash val="solid"/>
          </a:ln>
        </p:spPr>
      </p:sp>
      <p:sp>
        <p:nvSpPr>
          <p:cNvPr id="18" name="Text 11"/>
          <p:cNvSpPr/>
          <p:nvPr/>
        </p:nvSpPr>
        <p:spPr>
          <a:xfrm>
            <a:off x="8961343" y="3023871"/>
            <a:ext cx="2295715"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Destination network</a:t>
            </a:r>
            <a:endParaRPr lang="en-US" sz="1600" dirty="0"/>
          </a:p>
        </p:txBody>
      </p:sp>
      <p:sp>
        <p:nvSpPr>
          <p:cNvPr id="19" name="Text 12"/>
          <p:cNvSpPr/>
          <p:nvPr/>
        </p:nvSpPr>
        <p:spPr>
          <a:xfrm>
            <a:off x="9539986" y="3267714"/>
            <a:ext cx="113842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Receives data</a:t>
            </a:r>
            <a:endParaRPr lang="en-US" sz="1200" dirty="0"/>
          </a:p>
        </p:txBody>
      </p:sp>
      <p:sp>
        <p:nvSpPr>
          <p:cNvPr id="20" name="Text 13"/>
          <p:cNvSpPr/>
          <p:nvPr/>
        </p:nvSpPr>
        <p:spPr>
          <a:xfrm>
            <a:off x="4787900" y="3931921"/>
            <a:ext cx="26162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No return path</a:t>
            </a:r>
            <a:endParaRPr lang="en-US" sz="1200" dirty="0"/>
          </a:p>
        </p:txBody>
      </p:sp>
      <p:sp>
        <p:nvSpPr>
          <p:cNvPr id="21" name="Shape 14"/>
          <p:cNvSpPr/>
          <p:nvPr/>
        </p:nvSpPr>
        <p:spPr>
          <a:xfrm>
            <a:off x="815975" y="4379596"/>
            <a:ext cx="3380264" cy="1156970"/>
          </a:xfrm>
          <a:prstGeom prst="roundRect">
            <a:avLst>
              <a:gd name="adj" fmla="val 8507"/>
            </a:avLst>
          </a:prstGeom>
          <a:solidFill>
            <a:srgbClr val="F7FBFE"/>
          </a:solidFill>
          <a:ln w="6350">
            <a:solidFill>
              <a:srgbClr val="B9D9F0"/>
            </a:solidFill>
            <a:prstDash val="solid"/>
          </a:ln>
        </p:spPr>
      </p:sp>
      <p:sp>
        <p:nvSpPr>
          <p:cNvPr id="22" name="Text 15"/>
          <p:cNvSpPr/>
          <p:nvPr/>
        </p:nvSpPr>
        <p:spPr>
          <a:xfrm>
            <a:off x="1021080" y="4584700"/>
            <a:ext cx="305915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1. Send</a:t>
            </a:r>
            <a:endParaRPr lang="en-US" sz="1600" dirty="0"/>
          </a:p>
        </p:txBody>
      </p:sp>
      <p:sp>
        <p:nvSpPr>
          <p:cNvPr id="23" name="Text 16"/>
          <p:cNvSpPr/>
          <p:nvPr/>
        </p:nvSpPr>
        <p:spPr>
          <a:xfrm>
            <a:off x="1021080" y="4904742"/>
            <a:ext cx="305915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The sender converts the data into a light signal</a:t>
            </a:r>
            <a:endParaRPr lang="en-US" sz="1200" dirty="0"/>
          </a:p>
        </p:txBody>
      </p:sp>
      <p:sp>
        <p:nvSpPr>
          <p:cNvPr id="24" name="Shape 17"/>
          <p:cNvSpPr/>
          <p:nvPr/>
        </p:nvSpPr>
        <p:spPr>
          <a:xfrm>
            <a:off x="4405789" y="4379596"/>
            <a:ext cx="3380343" cy="1156970"/>
          </a:xfrm>
          <a:prstGeom prst="roundRect">
            <a:avLst>
              <a:gd name="adj" fmla="val 8507"/>
            </a:avLst>
          </a:prstGeom>
          <a:solidFill>
            <a:srgbClr val="F7FBFE"/>
          </a:solidFill>
          <a:ln w="6350">
            <a:solidFill>
              <a:srgbClr val="B9D9F0"/>
            </a:solidFill>
            <a:prstDash val="solid"/>
          </a:ln>
        </p:spPr>
      </p:sp>
      <p:sp>
        <p:nvSpPr>
          <p:cNvPr id="25" name="Text 18"/>
          <p:cNvSpPr/>
          <p:nvPr/>
        </p:nvSpPr>
        <p:spPr>
          <a:xfrm>
            <a:off x="4610894" y="4584700"/>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2. One-way link</a:t>
            </a:r>
            <a:endParaRPr lang="en-US" sz="1600" dirty="0"/>
          </a:p>
        </p:txBody>
      </p:sp>
      <p:sp>
        <p:nvSpPr>
          <p:cNvPr id="26" name="Text 19"/>
          <p:cNvSpPr/>
          <p:nvPr/>
        </p:nvSpPr>
        <p:spPr>
          <a:xfrm>
            <a:off x="4610894" y="4904742"/>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One side can only send and the other can only receive</a:t>
            </a:r>
            <a:endParaRPr lang="en-US" sz="1200" dirty="0"/>
          </a:p>
        </p:txBody>
      </p:sp>
      <p:sp>
        <p:nvSpPr>
          <p:cNvPr id="27" name="Shape 20"/>
          <p:cNvSpPr/>
          <p:nvPr/>
        </p:nvSpPr>
        <p:spPr>
          <a:xfrm>
            <a:off x="7995682" y="4379596"/>
            <a:ext cx="3380343" cy="1156970"/>
          </a:xfrm>
          <a:prstGeom prst="roundRect">
            <a:avLst>
              <a:gd name="adj" fmla="val 8507"/>
            </a:avLst>
          </a:prstGeom>
          <a:solidFill>
            <a:srgbClr val="F7FBFE"/>
          </a:solidFill>
          <a:ln w="6350">
            <a:solidFill>
              <a:srgbClr val="B9D9F0"/>
            </a:solidFill>
            <a:prstDash val="solid"/>
          </a:ln>
        </p:spPr>
      </p:sp>
      <p:sp>
        <p:nvSpPr>
          <p:cNvPr id="28" name="Text 21"/>
          <p:cNvSpPr/>
          <p:nvPr/>
        </p:nvSpPr>
        <p:spPr>
          <a:xfrm>
            <a:off x="8200787" y="4584700"/>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3. Receive</a:t>
            </a:r>
            <a:endParaRPr lang="en-US" sz="1600" dirty="0"/>
          </a:p>
        </p:txBody>
      </p:sp>
      <p:sp>
        <p:nvSpPr>
          <p:cNvPr id="29" name="Text 22"/>
          <p:cNvSpPr/>
          <p:nvPr/>
        </p:nvSpPr>
        <p:spPr>
          <a:xfrm>
            <a:off x="8200787" y="4904742"/>
            <a:ext cx="30592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The receiver turns the light back into data</a:t>
            </a:r>
            <a:endParaRPr lang="en-US" sz="1200" dirty="0"/>
          </a:p>
        </p:txBody>
      </p:sp>
      <p:sp>
        <p:nvSpPr>
          <p:cNvPr id="30" name="Text 23"/>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1" name="Text 24"/>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NMC tools and special networks</a:t>
            </a:r>
            <a:endParaRPr lang="en-US" sz="3200" dirty="0"/>
          </a:p>
        </p:txBody>
      </p:sp>
      <p:sp>
        <p:nvSpPr>
          <p:cNvPr id="7" name="Shape 3"/>
          <p:cNvSpPr/>
          <p:nvPr/>
        </p:nvSpPr>
        <p:spPr>
          <a:xfrm>
            <a:off x="812800" y="1991364"/>
            <a:ext cx="5176520" cy="2407920"/>
          </a:xfrm>
          <a:prstGeom prst="roundRect">
            <a:avLst>
              <a:gd name="adj" fmla="val 4219"/>
            </a:avLst>
          </a:prstGeom>
          <a:solidFill>
            <a:srgbClr val="0B5FB0"/>
          </a:solidFill>
          <a:ln/>
        </p:spPr>
      </p:sp>
      <p:sp>
        <p:nvSpPr>
          <p:cNvPr id="8" name="Text 4"/>
          <p:cNvSpPr/>
          <p:nvPr/>
        </p:nvSpPr>
        <p:spPr>
          <a:xfrm>
            <a:off x="1066800" y="2245364"/>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NNMi</a:t>
            </a:r>
            <a:endParaRPr lang="en-US" sz="2000" dirty="0"/>
          </a:p>
        </p:txBody>
      </p:sp>
      <p:sp>
        <p:nvSpPr>
          <p:cNvPr id="9" name="Text 5"/>
          <p:cNvSpPr/>
          <p:nvPr/>
        </p:nvSpPr>
        <p:spPr>
          <a:xfrm>
            <a:off x="1066800" y="2575564"/>
            <a:ext cx="48085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Network Node Manager i</a:t>
            </a:r>
            <a:endParaRPr lang="en-US" sz="1200" dirty="0"/>
          </a:p>
        </p:txBody>
      </p:sp>
      <p:sp>
        <p:nvSpPr>
          <p:cNvPr id="10" name="Text 6"/>
          <p:cNvSpPr/>
          <p:nvPr/>
        </p:nvSpPr>
        <p:spPr>
          <a:xfrm>
            <a:off x="1124458" y="2915921"/>
            <a:ext cx="4743298" cy="12446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Discovers devices and maps the network</a:t>
            </a:r>
            <a:endParaRPr lang="en-US" sz="1600" dirty="0"/>
          </a:p>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Monitors the health of devices and links</a:t>
            </a:r>
            <a:endParaRPr lang="en-US" sz="1600" dirty="0"/>
          </a:p>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Alerts the team when a device or link goes down</a:t>
            </a:r>
            <a:endParaRPr lang="en-US" sz="1600" dirty="0"/>
          </a:p>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Helps find the root cause of a fault faster</a:t>
            </a:r>
            <a:endParaRPr lang="en-US" sz="1600" dirty="0"/>
          </a:p>
        </p:txBody>
      </p:sp>
      <p:sp>
        <p:nvSpPr>
          <p:cNvPr id="11" name="Shape 7"/>
          <p:cNvSpPr/>
          <p:nvPr/>
        </p:nvSpPr>
        <p:spPr>
          <a:xfrm>
            <a:off x="6195695" y="1994539"/>
            <a:ext cx="5180330" cy="2401570"/>
          </a:xfrm>
          <a:prstGeom prst="roundRect">
            <a:avLst>
              <a:gd name="adj" fmla="val 4098"/>
            </a:avLst>
          </a:prstGeom>
          <a:solidFill>
            <a:srgbClr val="F7FBFE"/>
          </a:solidFill>
          <a:ln w="6350">
            <a:solidFill>
              <a:srgbClr val="B9D9F0"/>
            </a:solidFill>
            <a:prstDash val="solid"/>
          </a:ln>
        </p:spPr>
      </p:sp>
      <p:sp>
        <p:nvSpPr>
          <p:cNvPr id="12" name="Text 8"/>
          <p:cNvSpPr/>
          <p:nvPr/>
        </p:nvSpPr>
        <p:spPr>
          <a:xfrm>
            <a:off x="6451600" y="2250442"/>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WIQAS network</a:t>
            </a:r>
            <a:endParaRPr lang="en-US" sz="2000" dirty="0"/>
          </a:p>
        </p:txBody>
      </p:sp>
      <p:sp>
        <p:nvSpPr>
          <p:cNvPr id="13" name="Text 9"/>
          <p:cNvSpPr/>
          <p:nvPr/>
        </p:nvSpPr>
        <p:spPr>
          <a:xfrm>
            <a:off x="6451600" y="2580642"/>
            <a:ext cx="48085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[Full form to be confirmed]</a:t>
            </a:r>
            <a:endParaRPr lang="en-US" sz="1200" dirty="0"/>
          </a:p>
        </p:txBody>
      </p:sp>
      <p:sp>
        <p:nvSpPr>
          <p:cNvPr id="14" name="Text 10"/>
          <p:cNvSpPr/>
          <p:nvPr/>
        </p:nvSpPr>
        <p:spPr>
          <a:xfrm>
            <a:off x="6509258" y="2921000"/>
            <a:ext cx="4743298" cy="12446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A separate, dedicated network</a:t>
            </a:r>
            <a:endParaRPr lang="en-US" sz="1600" dirty="0"/>
          </a:p>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Used by the Army, Navy and Air Force</a:t>
            </a:r>
            <a:endParaRPr lang="en-US" sz="1600" dirty="0"/>
          </a:p>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Lets each service communicate on its own network</a:t>
            </a:r>
            <a:endParaRPr lang="en-US" sz="1600" dirty="0"/>
          </a:p>
        </p:txBody>
      </p:sp>
      <p:sp>
        <p:nvSpPr>
          <p:cNvPr id="15" name="Text 11"/>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6" name="Text 12"/>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Key takeaways</a:t>
            </a:r>
            <a:endParaRPr lang="en-US" sz="3200" dirty="0"/>
          </a:p>
        </p:txBody>
      </p:sp>
      <p:sp>
        <p:nvSpPr>
          <p:cNvPr id="7" name="Text 3"/>
          <p:cNvSpPr/>
          <p:nvPr/>
        </p:nvSpPr>
        <p:spPr>
          <a:xfrm>
            <a:off x="812800" y="1991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1</a:t>
            </a:r>
            <a:endParaRPr lang="en-US" sz="1600" dirty="0"/>
          </a:p>
        </p:txBody>
      </p:sp>
      <p:sp>
        <p:nvSpPr>
          <p:cNvPr id="8" name="Text 4"/>
          <p:cNvSpPr/>
          <p:nvPr/>
        </p:nvSpPr>
        <p:spPr>
          <a:xfrm>
            <a:off x="1320800" y="2026921"/>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Every complaint is ticketed and tracked until the ticket is closed.</a:t>
            </a:r>
            <a:endParaRPr lang="en-US" sz="1600" dirty="0"/>
          </a:p>
        </p:txBody>
      </p:sp>
      <p:sp>
        <p:nvSpPr>
          <p:cNvPr id="9" name="Text 5"/>
          <p:cNvSpPr/>
          <p:nvPr/>
        </p:nvSpPr>
        <p:spPr>
          <a:xfrm>
            <a:off x="812800" y="2499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2</a:t>
            </a:r>
            <a:endParaRPr lang="en-US" sz="1600" dirty="0"/>
          </a:p>
        </p:txBody>
      </p:sp>
      <p:sp>
        <p:nvSpPr>
          <p:cNvPr id="10" name="Text 6"/>
          <p:cNvSpPr/>
          <p:nvPr/>
        </p:nvSpPr>
        <p:spPr>
          <a:xfrm>
            <a:off x="1320800" y="2534921"/>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85 servers run on RAID disks, with Hyper-V for separate services.</a:t>
            </a:r>
            <a:endParaRPr lang="en-US" sz="1600" dirty="0"/>
          </a:p>
        </p:txBody>
      </p:sp>
      <p:sp>
        <p:nvSpPr>
          <p:cNvPr id="11" name="Text 7"/>
          <p:cNvSpPr/>
          <p:nvPr/>
        </p:nvSpPr>
        <p:spPr>
          <a:xfrm>
            <a:off x="812800" y="3007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3</a:t>
            </a:r>
            <a:endParaRPr lang="en-US" sz="1600" dirty="0"/>
          </a:p>
        </p:txBody>
      </p:sp>
      <p:sp>
        <p:nvSpPr>
          <p:cNvPr id="12" name="Text 8"/>
          <p:cNvSpPr/>
          <p:nvPr/>
        </p:nvSpPr>
        <p:spPr>
          <a:xfrm>
            <a:off x="1320800" y="3042921"/>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Trend Micro Apex One protects about 4,800 PCs and controls USB and CD/DVD.</a:t>
            </a:r>
            <a:endParaRPr lang="en-US" sz="1600" dirty="0"/>
          </a:p>
        </p:txBody>
      </p:sp>
      <p:sp>
        <p:nvSpPr>
          <p:cNvPr id="13" name="Text 9"/>
          <p:cNvSpPr/>
          <p:nvPr/>
        </p:nvSpPr>
        <p:spPr>
          <a:xfrm>
            <a:off x="812800" y="3515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4</a:t>
            </a:r>
            <a:endParaRPr lang="en-US" sz="1600" dirty="0"/>
          </a:p>
        </p:txBody>
      </p:sp>
      <p:sp>
        <p:nvSpPr>
          <p:cNvPr id="14" name="Text 10"/>
          <p:cNvSpPr/>
          <p:nvPr/>
        </p:nvSpPr>
        <p:spPr>
          <a:xfrm>
            <a:off x="1320800" y="3550921"/>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NMC monitors the intranet and internet with NNMi and fixes network faults.</a:t>
            </a:r>
            <a:endParaRPr lang="en-US" sz="1600" dirty="0"/>
          </a:p>
        </p:txBody>
      </p:sp>
      <p:sp>
        <p:nvSpPr>
          <p:cNvPr id="15" name="Shape 11"/>
          <p:cNvSpPr/>
          <p:nvPr/>
        </p:nvSpPr>
        <p:spPr>
          <a:xfrm>
            <a:off x="812800" y="4124964"/>
            <a:ext cx="10566400" cy="1137920"/>
          </a:xfrm>
          <a:prstGeom prst="roundRect">
            <a:avLst>
              <a:gd name="adj" fmla="val 8929"/>
            </a:avLst>
          </a:prstGeom>
          <a:solidFill>
            <a:srgbClr val="0B2E5C"/>
          </a:solidFill>
          <a:ln/>
        </p:spPr>
      </p:sp>
      <p:sp>
        <p:nvSpPr>
          <p:cNvPr id="16" name="Text 12"/>
          <p:cNvSpPr/>
          <p:nvPr/>
        </p:nvSpPr>
        <p:spPr>
          <a:xfrm>
            <a:off x="1117600" y="4328164"/>
            <a:ext cx="10255504"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7FBFE"/>
                </a:solidFill>
                <a:latin typeface="IBM Plex Sans" pitchFamily="34" charset="0"/>
                <a:ea typeface="IBM Plex Sans" pitchFamily="34" charset="-122"/>
                <a:cs typeface="IBM Plex Sans" pitchFamily="34" charset="-120"/>
              </a:rPr>
              <a:t>Thank you. Questions?</a:t>
            </a:r>
            <a:endParaRPr lang="en-US" sz="3200" dirty="0"/>
          </a:p>
        </p:txBody>
      </p:sp>
      <p:sp>
        <p:nvSpPr>
          <p:cNvPr id="17" name="Text 13"/>
          <p:cNvSpPr/>
          <p:nvPr/>
        </p:nvSpPr>
        <p:spPr>
          <a:xfrm>
            <a:off x="1117600" y="4846321"/>
            <a:ext cx="102555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Training continues across the other ISBG sub-departments.</a:t>
            </a:r>
            <a:endParaRPr lang="en-US" sz="1200" dirty="0"/>
          </a:p>
        </p:txBody>
      </p:sp>
      <p:sp>
        <p:nvSpPr>
          <p:cNvPr id="18" name="Text 14"/>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9" name="Text 15"/>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theme/theme1.xml><?xml version="1.0" encoding="utf-8"?>
<a:theme xmlns:a="http://schemas.openxmlformats.org/drawingml/2006/main" name="ISBG Training Presentation">
  <a:themeElements>
    <a:clrScheme name="ISBG Training Presentation">
      <a:dk1>
        <a:srgbClr val="0B2E5C"/>
      </a:dk1>
      <a:lt1>
        <a:srgbClr val="E3F1FB"/>
      </a:lt1>
      <a:dk2>
        <a:srgbClr val="415F84"/>
      </a:dk2>
      <a:lt2>
        <a:srgbClr val="CDDEEB"/>
      </a:lt2>
      <a:accent1>
        <a:srgbClr val="46607A"/>
      </a:accent1>
      <a:accent2>
        <a:srgbClr val="0B5FB0"/>
      </a:accent2>
      <a:accent3>
        <a:srgbClr val="84CBF0"/>
      </a:accent3>
      <a:accent4>
        <a:srgbClr val="26384D"/>
      </a:accent4>
      <a:accent5>
        <a:srgbClr val="77C3EE"/>
      </a:accent5>
      <a:accent6>
        <a:srgbClr val="F2B14A"/>
      </a:accent6>
      <a:hlink>
        <a:srgbClr val="0563C1"/>
      </a:hlink>
      <a:folHlink>
        <a:srgbClr val="954F72"/>
      </a:folHlink>
    </a:clrScheme>
    <a:fontScheme name="ISBG Training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ISBG Training Presentation</dc:title>
  <dc:subject/>
  <dc:creator/>
  <cp:lastModifiedBy/>
  <cp:revision>1</cp:revision>
  <dcterms:created xsi:type="dcterms:W3CDTF">2026-10-26T17:18:27Z</dcterms:created>
  <dcterms:modified xsi:type="dcterms:W3CDTF">2026-10-26T17:18:27Z</dcterms:modified>
</cp:coreProperties>
</file>
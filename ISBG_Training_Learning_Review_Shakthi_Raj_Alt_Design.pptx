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5D0BE"/>
                </a:solidFill>
                <a:latin typeface="Aptos"/>
              </a:defRPr>
            </a:pPr>
            <a:r>
              <a:t>ISBG  /  BG COMPLEX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68580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F6F9FC"/>
                </a:solidFill>
                <a:latin typeface="Aptos"/>
              </a:defRPr>
            </a:pPr>
            <a:r>
              <a:t>Training &amp;</a:t>
            </a:r>
          </a:p>
          <a:p>
            <a:pPr>
              <a:spcAft>
                <a:spcPts val="700"/>
              </a:spcAft>
              <a:defRPr sz="3600" b="1">
                <a:solidFill>
                  <a:srgbClr val="F6F9FC"/>
                </a:solidFill>
                <a:latin typeface="Aptos"/>
              </a:defRPr>
            </a:pPr>
            <a:r>
              <a:t>Learning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6732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AEBECC"/>
                </a:solidFill>
                <a:latin typeface="Aptos"/>
              </a:defRPr>
            </a:pPr>
            <a:r>
              <a:t>Information Systems Division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09160"/>
            <a:ext cx="4572000" cy="8686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88289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120640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6F9FC"/>
                </a:solidFill>
                <a:latin typeface="Aptos"/>
              </a:defRPr>
            </a:pPr>
            <a:r>
              <a:t>Shakthi Raj  •  Allocated to PC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897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FFBE5C"/>
                </a:solidFill>
                <a:latin typeface="Aptos"/>
              </a:defRPr>
            </a:pPr>
            <a:r>
              <a:t>LEARNING  /  SERVICE  /  RELIABILITY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01  /  UNDERSTANDING THE DIVISION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What ISBG supports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6420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EBECC"/>
                </a:solidFill>
                <a:latin typeface="Aptos"/>
              </a:defRPr>
            </a:pPr>
            <a:r>
              <a:t>ISBG helps keep the organisation’s day-to-day IT services reliable, secure and available to employees.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23160"/>
            <a:ext cx="3520440" cy="2286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23160"/>
            <a:ext cx="64008" cy="228600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877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1" y="2587752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IT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08960"/>
            <a:ext cx="3081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Desktop systems, hardware and software support for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423160"/>
            <a:ext cx="3520440" cy="2286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423160"/>
            <a:ext cx="64008" cy="22860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5877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587752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Connectivity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108960"/>
            <a:ext cx="3081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Network and internet/intranet access support.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423160"/>
            <a:ext cx="3520440" cy="2286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2423160"/>
            <a:ext cx="64008" cy="228600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5877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5672" y="2587752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Business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108960"/>
            <a:ext cx="3081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Attendance, payroll, intranet applications and ERP end-user support.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1663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Operational focus: responsive service • teamwork • consistent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02  /  EXPOSURE DURING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A view across the support areas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83080"/>
            <a:ext cx="5212080" cy="1627632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783080"/>
            <a:ext cx="64008" cy="1627632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9476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19476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PC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468880"/>
            <a:ext cx="477316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Desktop/laptop troubleshooting, peripherals and software readiness.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1783080"/>
            <a:ext cx="5212080" cy="1627632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7" y="1783080"/>
            <a:ext cx="64008" cy="162763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19476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19476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Network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2468880"/>
            <a:ext cx="477316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Connectivity checks and escalation of network issues.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40480"/>
            <a:ext cx="5212080" cy="1627632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40480"/>
            <a:ext cx="64008" cy="1627632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0050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0050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Attendance &amp; Payroll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526280"/>
            <a:ext cx="477316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Attendance devices, employee records and payroll-related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7" y="3840480"/>
            <a:ext cx="5212080" cy="1627632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7" y="3840480"/>
            <a:ext cx="64008" cy="162763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40050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40050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Web &amp; ERP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4526280"/>
            <a:ext cx="477316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Intranet applications and ERP end-user assistance.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80644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EBECC"/>
                </a:solidFill>
                <a:latin typeface="Aptos"/>
              </a:defRPr>
            </a:pPr>
            <a:r>
              <a:t>Training helped connect individual support tasks with wider business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03  /  PRIMARY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PC Maintenance — the support workflow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2514600" cy="22402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37744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5D0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880360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355848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Listen to the user and identify the reported issue.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999232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148840"/>
            <a:ext cx="2514600" cy="22402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237744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BE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2880360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355848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Inspect the system, connections, peripherals and symptoms.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999232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148840"/>
            <a:ext cx="2514600" cy="22402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237744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5D0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880360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Resolve / 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355848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Apply approved troubleshooting steps or escalate when needed.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999232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148840"/>
            <a:ext cx="2514600" cy="22402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8048" y="237744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BE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2880360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3355848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Confirm normal operation and communicate the outcome.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16636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Key principle: follow approved procedures, protect data and keep the user informed.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65099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FBE5C"/>
                </a:solidFill>
                <a:latin typeface="Aptos"/>
              </a:defRPr>
            </a:pPr>
            <a:r>
              <a:t>Replace these general steps with the specific tasks you personally observed or performed.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04  / 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Network Maintenance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73352"/>
            <a:ext cx="8869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EBECC"/>
                </a:solidFill>
                <a:latin typeface="Aptos"/>
              </a:defRPr>
            </a:pPr>
            <a:r>
              <a:t>Reliable connectivity supports communication, internal applications and daily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43200"/>
            <a:ext cx="1783080" cy="1143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063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USER 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306324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2743200"/>
            <a:ext cx="1783080" cy="1143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8768" y="3063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ACCESS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1" y="306324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743200"/>
            <a:ext cx="1783080" cy="1143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3063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INTERNAL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306324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743200"/>
            <a:ext cx="1783080" cy="1143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5207" y="3063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INTERNET /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INTRANET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80560"/>
            <a:ext cx="4800600" cy="10515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480560"/>
            <a:ext cx="64008" cy="105156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6451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4645152"/>
            <a:ext cx="3877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What to 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66360"/>
            <a:ext cx="4361688" cy="228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Connection symptoms, affected users and basic checks.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480560"/>
            <a:ext cx="4800600" cy="10515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480560"/>
            <a:ext cx="64008" cy="105156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6451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4645152"/>
            <a:ext cx="3877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Good practice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166360"/>
            <a:ext cx="4361688" cy="228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Document findings and escalate beyond authorised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05  /  EMPLOYEE-FACING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Attendance, payroll, web and ERP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5212080" cy="15087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783080"/>
            <a:ext cx="64008" cy="150876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476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9476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Attendance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468880"/>
            <a:ext cx="477316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Biometric/face-recognition systems and related access workflows.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212080" cy="15087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783080"/>
            <a:ext cx="64008" cy="150876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476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19476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Payroll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477316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Support for systems used in employee attendance and payroll processes.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5212080" cy="15087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03320"/>
            <a:ext cx="64008" cy="150876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867911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867911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Intranet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477316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Web application availability and end-user issue handling.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03320"/>
            <a:ext cx="5212080" cy="15087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03320"/>
            <a:ext cx="64008" cy="150876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67911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867911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ERP / SAP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89120"/>
            <a:ext cx="477316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Helping users navigate enterprise workflows and report issues.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7150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Always follow access-control, confidentiality and data-handling procedures.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06  / 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What I am taking forward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" y="2130552"/>
            <a:ext cx="292608" cy="292608"/>
          </a:xfrm>
          <a:prstGeom prst="ellipse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207568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Technical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56032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Use a structured troubleshooting approach.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874519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54296" y="2130552"/>
            <a:ext cx="292608" cy="292608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8" y="207568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User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56032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Clarify the issue and explain the next step.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874519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49056" y="2130552"/>
            <a:ext cx="292608" cy="292608"/>
          </a:xfrm>
          <a:prstGeom prst="ellipse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207568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56032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Record observations and resolutions accurately.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3822191"/>
            <a:ext cx="292608" cy="292608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376732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Security awareness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25196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Respect permissions, confidentiality and procedures.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566160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4296" y="3822191"/>
            <a:ext cx="292608" cy="292608"/>
          </a:xfrm>
          <a:prstGeom prst="ellipse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376732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Team coordination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2584" y="425196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Know when and how to escalate an issue.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3566160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49056" y="3822191"/>
            <a:ext cx="292608" cy="292608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7968" y="376732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Service mindset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425196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Aim for reliable, consistent support.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7150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FBE5C"/>
                </a:solidFill>
                <a:latin typeface="Aptos"/>
              </a:defRPr>
            </a:pPr>
            <a:r>
              <a:t>Edit this slide so it reflects the tasks and lessons you actually experienced.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5D0B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6F9FC"/>
                </a:solidFill>
                <a:latin typeface="Aptos"/>
              </a:defRPr>
            </a:pPr>
            <a:r>
              <a:t>Questions &amp;</a:t>
            </a:r>
          </a:p>
          <a:p>
            <a:pPr>
              <a:spcAft>
                <a:spcPts val="700"/>
              </a:spcAft>
              <a:defRPr sz="3400" b="1">
                <a:solidFill>
                  <a:srgbClr val="F6F9FC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520440"/>
            <a:ext cx="7132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ISBG, BG Complex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72000"/>
            <a:ext cx="5669280" cy="8686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84632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Shakthi Raj  |  PC 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897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FFBE5C"/>
                </a:solidFill>
                <a:latin typeface="Aptos"/>
              </a:defRPr>
            </a:pPr>
            <a:r>
              <a:t>SERVICE • TEAMWORK •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